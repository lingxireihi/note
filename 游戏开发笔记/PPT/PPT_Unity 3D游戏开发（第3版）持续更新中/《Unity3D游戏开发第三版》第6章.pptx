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1"/>
    <p:restoredTop sz="96327"/>
  </p:normalViewPr>
  <p:slideViewPr>
    <p:cSldViewPr snapToGrid="0">
      <p:cViewPr varScale="1">
        <p:scale>
          <a:sx n="147" d="100"/>
          <a:sy n="147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1F1CC-4062-AF07-BC7C-7AFD04A24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2E6857-9599-BD11-2CA5-3D2F555B9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2941DC-1149-1642-1A4B-6682C8E1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35D3E-2484-1718-604B-88FA98BD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8AB12-E6F6-C05C-ADF2-6229B5AB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451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05EBF-4D9B-E1CA-8A34-55AC2119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412A7-4530-74C3-99B4-1AC06CFA2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B3242-7FEF-D73D-854F-55822BCD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99922-6CB3-8A2B-1718-167BB942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0E4738-81F8-A53F-2AB1-4FB4A5AF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543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7013E-D34C-55D7-FAA7-F1D79D40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9AB4AB-FBBB-E470-55A1-0EBB99400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E1B2DA-2528-A88B-19BF-A3ACBE38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51267-7676-3A88-D4CF-1445C439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677685-D51A-74F7-A983-F13C260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8876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F2456-ADD7-5DFD-29A3-8B709A1F4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4828B-26A7-C2B9-EABC-E3C43C505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2BD7B2-4485-EBB8-5419-706530DFF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26D372-BE34-42BD-03FF-2E803039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A3C105-E056-DF6C-BAD6-4C8DA1AF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D39669-1991-F8AE-57C2-A150BD74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081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3E6D1-209D-2648-75C8-DBDD76BC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A924BE-3BCC-FC4F-8BEF-5C68E4D15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D8CDBE-EF22-1932-1190-289897520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B3C1FE-99E9-2055-A8FD-AE7D7EB0A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4CEF30-B495-DD1D-9FED-7A4453935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B7C30C-B53F-2503-F59D-6A3A234D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663B67-1AE7-5EC4-5EF6-29732E75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E48B27-0918-D90F-6891-9A37AA7F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914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075C2-C7CD-5F51-96A5-91752CE1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F9DBF6-A9F0-4924-3371-A3ACFE22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C68BFF-4130-8455-5655-349F1A35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97C209-CFFF-AB48-F1D9-CA753730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976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5676EB-B8BB-3A52-A0F0-BDCB69083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E87696-6B95-411E-3F99-89E98598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C2544-62F1-26D9-703D-30D7C7CF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765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71141-D397-C033-6564-65E8D5573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55430-BEDA-2FBD-E705-85E663A1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71A6AE-10FA-DA69-DE57-C95A88BB5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A12172-2EA4-2DE2-7D7E-A8B878F7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8573E5-915E-38BC-474E-9D055792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68F998-9149-F773-003A-A08709DF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501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2F51B-2594-2679-AF53-621183EA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14675D-A4C9-74AA-8D43-5676D428B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7FF03B-D090-9929-60EE-7A9354480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C5DE34-2C9D-153A-F669-D76C3B83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DF5B42-B9FB-0142-B754-1C1DE4B1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C770ED-51F6-32D2-480A-B69D1C5B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034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170CC-FC41-6CBB-40E3-3E70C660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67276B-73E4-B90D-C62B-62242FE8C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39611E-CBDE-B4B3-CB31-247FD297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5F662-F39D-5523-8A33-63FA453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5051CE-77B6-4990-49D3-2E11766C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73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66F89A-8AFB-A984-1EC4-53467F78A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12679D-4F9F-2C84-9E75-E7327084C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E457E-3174-01FF-759A-B13B9663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20341A-63C1-A9A0-5ECD-F1424AF2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163B3-4636-A483-1B82-8B07A135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544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06E125-E524-C892-1402-7E95D147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CD4A4C-0A49-1EF1-C69C-1EEDEC356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B6DC-2413-BCA9-1A7F-4058B42B0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E1290-6DDC-A548-B595-06B2055F0928}" type="datetimeFigureOut">
              <a:rPr kumimoji="1" lang="zh-CN" altLang="en-US" smtClean="0"/>
              <a:t>2023/10/28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E2989-3379-7112-516F-5C1A60548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0426F-9D56-BE51-C337-D0A46EBCB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D9AFC-B091-FD4A-AB96-E4DA82E32C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978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DBFA5-823D-A9A9-07F0-4802E16E99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Unity3D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7EEC0A-A6D7-B03B-3FF6-3A6862FC1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第六章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188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C538D-E662-CCC3-DF47-B05A71F8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6</a:t>
            </a:r>
            <a:r>
              <a:rPr kumimoji="1" lang="zh-CN" altLang="en-US" dirty="0"/>
              <a:t>章 </a:t>
            </a:r>
            <a:r>
              <a:rPr kumimoji="1" lang="en-US" altLang="zh-CN" dirty="0"/>
              <a:t>2D</a:t>
            </a:r>
            <a:r>
              <a:rPr kumimoji="1" lang="zh-CN" altLang="en-US" dirty="0"/>
              <a:t>游戏开发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91028-3EB5-1E14-C697-49EBD237A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6.1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Sprite Renderer</a:t>
            </a:r>
            <a:r>
              <a:rPr kumimoji="1" lang="zh-CN" altLang="en-US" dirty="0"/>
              <a:t>组件</a:t>
            </a:r>
            <a:endParaRPr kumimoji="1" lang="en-US" altLang="zh-CN" dirty="0"/>
          </a:p>
          <a:p>
            <a:r>
              <a:rPr kumimoji="1" lang="en-US" altLang="zh-CN" dirty="0"/>
              <a:t>6.2 Tile</a:t>
            </a:r>
            <a:r>
              <a:rPr kumimoji="1" lang="zh-CN" altLang="en-US" dirty="0"/>
              <a:t>地图</a:t>
            </a:r>
            <a:endParaRPr kumimoji="1" lang="en-US" altLang="zh-CN" dirty="0"/>
          </a:p>
          <a:p>
            <a:r>
              <a:rPr kumimoji="1" lang="en-US" altLang="zh-CN" dirty="0"/>
              <a:t>6.3</a:t>
            </a:r>
            <a:r>
              <a:rPr kumimoji="1" lang="zh-CN" altLang="en-US" dirty="0"/>
              <a:t> </a:t>
            </a:r>
            <a:r>
              <a:rPr kumimoji="1" lang="en-US" altLang="zh-CN" dirty="0"/>
              <a:t>2D</a:t>
            </a:r>
            <a:r>
              <a:rPr kumimoji="1" lang="zh-CN" altLang="en-US" dirty="0"/>
              <a:t>物理系统</a:t>
            </a:r>
            <a:endParaRPr kumimoji="1" lang="en-US" altLang="zh-CN" dirty="0"/>
          </a:p>
          <a:p>
            <a:r>
              <a:rPr kumimoji="1" lang="en-US" altLang="zh-CN" dirty="0"/>
              <a:t>6.4</a:t>
            </a:r>
            <a:r>
              <a:rPr kumimoji="1" lang="zh-CN" altLang="en-US" dirty="0"/>
              <a:t> 像素风</a:t>
            </a:r>
            <a:endParaRPr kumimoji="1" lang="en-US" altLang="zh-CN" dirty="0"/>
          </a:p>
          <a:p>
            <a:r>
              <a:rPr kumimoji="1" lang="en-US" altLang="zh-CN" dirty="0"/>
              <a:t>6.5</a:t>
            </a:r>
            <a:r>
              <a:rPr kumimoji="1" lang="zh-CN" altLang="en-US" dirty="0"/>
              <a:t> 精灵形状</a:t>
            </a:r>
            <a:endParaRPr kumimoji="1" lang="en-US" altLang="zh-CN" dirty="0"/>
          </a:p>
          <a:p>
            <a:r>
              <a:rPr kumimoji="1" lang="en-US" altLang="zh-CN" dirty="0"/>
              <a:t>6.6</a:t>
            </a:r>
            <a:r>
              <a:rPr kumimoji="1" lang="zh-CN" altLang="en-US" dirty="0"/>
              <a:t> 精灵编辑器</a:t>
            </a:r>
          </a:p>
        </p:txBody>
      </p:sp>
    </p:spTree>
    <p:extLst>
      <p:ext uri="{BB962C8B-B14F-4D97-AF65-F5344CB8AC3E}">
        <p14:creationId xmlns:p14="http://schemas.microsoft.com/office/powerpoint/2010/main" val="148272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58820-5B60-F6D3-F662-3A02BDC9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 Sprite Renderer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36F8F3-9A8D-468E-8898-5B2DE5671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9723"/>
          </a:xfrm>
        </p:spPr>
        <p:txBody>
          <a:bodyPr/>
          <a:lstStyle/>
          <a:p>
            <a:r>
              <a:rPr kumimoji="1" lang="en-US" altLang="zh-CN" dirty="0"/>
              <a:t>Sprite</a:t>
            </a:r>
            <a:r>
              <a:rPr kumimoji="1" lang="zh-CN" altLang="en-US" dirty="0"/>
              <a:t>渲染器，将图片绘制出来</a:t>
            </a:r>
            <a:endParaRPr kumimoji="1" lang="en-US" altLang="zh-CN" dirty="0"/>
          </a:p>
          <a:p>
            <a:r>
              <a:rPr kumimoji="1" lang="en" altLang="zh-CN" dirty="0"/>
              <a:t>Circle</a:t>
            </a:r>
            <a:r>
              <a:rPr kumimoji="1" lang="zh-CN" altLang="en" dirty="0"/>
              <a:t>（</a:t>
            </a:r>
            <a:r>
              <a:rPr kumimoji="1" lang="zh-CN" altLang="en-US" dirty="0"/>
              <a:t>圆形）、</a:t>
            </a:r>
            <a:r>
              <a:rPr kumimoji="1" lang="en-US" altLang="zh-CN" dirty="0"/>
              <a:t>9-</a:t>
            </a:r>
            <a:r>
              <a:rPr kumimoji="1" lang="en" altLang="zh-CN" dirty="0"/>
              <a:t>Sliced</a:t>
            </a:r>
            <a:r>
              <a:rPr kumimoji="1" lang="zh-CN" altLang="en" dirty="0"/>
              <a:t>（</a:t>
            </a:r>
            <a:r>
              <a:rPr kumimoji="1" lang="en" altLang="zh-CN" dirty="0"/>
              <a:t>9</a:t>
            </a:r>
            <a:r>
              <a:rPr kumimoji="1" lang="zh-CN" altLang="en-US" dirty="0"/>
              <a:t>切片）、</a:t>
            </a:r>
            <a:r>
              <a:rPr kumimoji="1" lang="en" altLang="zh-CN" dirty="0"/>
              <a:t>Capsule</a:t>
            </a:r>
            <a:r>
              <a:rPr kumimoji="1" lang="zh-CN" altLang="en" dirty="0"/>
              <a:t>（</a:t>
            </a:r>
            <a:r>
              <a:rPr kumimoji="1" lang="zh-CN" altLang="en-US" dirty="0"/>
              <a:t>胶囊形）、</a:t>
            </a:r>
            <a:r>
              <a:rPr kumimoji="1" lang="en" altLang="zh-CN" dirty="0"/>
              <a:t>Hexagon Pointed-Top</a:t>
            </a:r>
            <a:r>
              <a:rPr kumimoji="1" lang="zh-CN" altLang="en" dirty="0"/>
              <a:t>（</a:t>
            </a:r>
            <a:r>
              <a:rPr kumimoji="1" lang="zh-CN" altLang="en-US" dirty="0"/>
              <a:t>六角形尖顶朝上）、</a:t>
            </a:r>
            <a:r>
              <a:rPr kumimoji="1" lang="en" altLang="zh-CN" dirty="0"/>
              <a:t>Triangle</a:t>
            </a:r>
            <a:r>
              <a:rPr kumimoji="1" lang="zh-CN" altLang="en" dirty="0"/>
              <a:t>（</a:t>
            </a:r>
            <a:r>
              <a:rPr kumimoji="1" lang="zh-CN" altLang="en-US" dirty="0"/>
              <a:t>三角形）、</a:t>
            </a:r>
            <a:r>
              <a:rPr kumimoji="1" lang="en" altLang="zh-CN" dirty="0"/>
              <a:t>Square</a:t>
            </a:r>
            <a:r>
              <a:rPr kumimoji="1" lang="zh-CN" altLang="en" dirty="0"/>
              <a:t>（</a:t>
            </a:r>
            <a:r>
              <a:rPr kumimoji="1" lang="zh-CN" altLang="en-US" dirty="0"/>
              <a:t>正方形）、</a:t>
            </a:r>
            <a:r>
              <a:rPr kumimoji="1" lang="en" altLang="zh-CN" dirty="0"/>
              <a:t>Isometric Diamond</a:t>
            </a:r>
            <a:r>
              <a:rPr kumimoji="1" lang="zh-CN" altLang="en" dirty="0"/>
              <a:t>（</a:t>
            </a:r>
            <a:r>
              <a:rPr kumimoji="1" lang="zh-CN" altLang="en-US" dirty="0"/>
              <a:t>等距钻石形）和</a:t>
            </a:r>
            <a:r>
              <a:rPr kumimoji="1" lang="en" altLang="zh-CN" dirty="0"/>
              <a:t>Hexagon Float-Top</a:t>
            </a:r>
            <a:r>
              <a:rPr kumimoji="1" lang="zh-CN" altLang="en" dirty="0"/>
              <a:t>（</a:t>
            </a:r>
            <a:r>
              <a:rPr kumimoji="1" lang="zh-CN" altLang="en-US" dirty="0"/>
              <a:t>六角形平顶朝向）。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555F35-DD15-B86E-E9F2-FEBD44C2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48" y="4160285"/>
            <a:ext cx="4720425" cy="23632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6A1586-A4C6-90A9-2D6D-D1AEC7B72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509" y="3741139"/>
            <a:ext cx="2560320" cy="286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1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DCD2C-6E18-05DA-7C31-CE140FEE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6.1.1</a:t>
            </a:r>
            <a:r>
              <a:rPr kumimoji="1" lang="zh-CN" altLang="en-US" dirty="0"/>
              <a:t> 渲染原理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74153-5AF8-3739-E81C-9D891ACEF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3688" cy="4351338"/>
          </a:xfrm>
        </p:spPr>
        <p:txBody>
          <a:bodyPr/>
          <a:lstStyle/>
          <a:p>
            <a:r>
              <a:rPr kumimoji="1" lang="zh-CN" altLang="en-US" dirty="0"/>
              <a:t>底层使用动态合并技术</a:t>
            </a:r>
            <a:endParaRPr kumimoji="1" lang="en-US" altLang="zh-CN" dirty="0"/>
          </a:p>
          <a:p>
            <a:r>
              <a:rPr kumimoji="1" lang="zh-CN" altLang="en-US" dirty="0"/>
              <a:t>相同的图集合并成一个</a:t>
            </a:r>
            <a:r>
              <a:rPr kumimoji="1" lang="en-US" altLang="zh-CN" dirty="0"/>
              <a:t>Draw call</a:t>
            </a:r>
          </a:p>
          <a:p>
            <a:r>
              <a:rPr kumimoji="1" lang="zh-CN" altLang="en-US" dirty="0"/>
              <a:t>使用每帧都频繁动的图</a:t>
            </a:r>
            <a:endParaRPr kumimoji="1" lang="en-US" altLang="zh-CN" dirty="0"/>
          </a:p>
          <a:p>
            <a:r>
              <a:rPr kumimoji="1" lang="zh-CN" altLang="en-US" dirty="0"/>
              <a:t>冒血数字、头顶血条、</a:t>
            </a:r>
            <a:r>
              <a:rPr kumimoji="1" lang="en-US" altLang="zh-CN" dirty="0"/>
              <a:t>2D</a:t>
            </a:r>
            <a:r>
              <a:rPr kumimoji="1" lang="zh-CN" altLang="en-US" dirty="0"/>
              <a:t>游戏角色等等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89F7EB-ABE6-377F-A8C5-E8D1B550F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57416"/>
            <a:ext cx="5610087" cy="38597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2848AF-AE06-032A-EA3A-8F3EBB31C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81411"/>
            <a:ext cx="5123688" cy="19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8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4228E-FED6-3E79-8D30-8E812155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6.1.2</a:t>
            </a:r>
            <a:r>
              <a:rPr kumimoji="1" lang="zh-CN" altLang="en-US" dirty="0"/>
              <a:t> 渲染排序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B045BE-D7F7-1B44-8EE2-5CF7037F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8279"/>
          </a:xfrm>
        </p:spPr>
        <p:txBody>
          <a:bodyPr/>
          <a:lstStyle/>
          <a:p>
            <a:r>
              <a:rPr kumimoji="1" lang="en-US" altLang="zh-CN" dirty="0"/>
              <a:t>Transparency Sort Mode</a:t>
            </a:r>
            <a:r>
              <a:rPr kumimoji="1" lang="zh-CN" altLang="en-US" dirty="0"/>
              <a:t> 动态排序类型</a:t>
            </a:r>
            <a:endParaRPr kumimoji="1" lang="en-US" altLang="zh-CN" dirty="0"/>
          </a:p>
          <a:p>
            <a:r>
              <a:rPr kumimoji="1" lang="en-US" altLang="zh-CN" dirty="0"/>
              <a:t>Sorting Order</a:t>
            </a:r>
            <a:r>
              <a:rPr kumimoji="1" lang="zh-CN" altLang="en-US" dirty="0"/>
              <a:t> 静态排序类型</a:t>
            </a:r>
            <a:endParaRPr kumimoji="1" lang="en-US" altLang="zh-CN" dirty="0"/>
          </a:p>
          <a:p>
            <a:r>
              <a:rPr kumimoji="1" lang="en-US" altLang="zh-CN" dirty="0"/>
              <a:t>Sorting Group</a:t>
            </a:r>
            <a:r>
              <a:rPr kumimoji="1" lang="zh-CN" altLang="en-US" dirty="0"/>
              <a:t> 排序组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4DB7D4-2DA2-5BA9-4630-C98B57BDD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4406392"/>
            <a:ext cx="6985136" cy="16012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F6B9408-E7F1-E12B-8FBF-AF7433952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055" y="3953511"/>
            <a:ext cx="3752850" cy="215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6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26C157-A418-75F4-6855-A582584B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6.1.3</a:t>
            </a:r>
            <a:r>
              <a:rPr kumimoji="1" lang="zh-CN" altLang="en-US" dirty="0"/>
              <a:t> 裁剪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16FDC7-9704-FBAB-7689-34EDBDC25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8159"/>
          </a:xfrm>
        </p:spPr>
        <p:txBody>
          <a:bodyPr/>
          <a:lstStyle/>
          <a:p>
            <a:r>
              <a:rPr kumimoji="1" lang="zh-CN" altLang="en-US" dirty="0"/>
              <a:t>粒子特效裁剪</a:t>
            </a:r>
            <a:endParaRPr kumimoji="1" lang="en-US" altLang="zh-CN" dirty="0"/>
          </a:p>
          <a:p>
            <a:r>
              <a:rPr kumimoji="1" lang="zh-CN" altLang="en-US" dirty="0"/>
              <a:t>设置裁剪区域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4C9D6B-52BB-0C69-671F-B4FAE566A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42" y="3429000"/>
            <a:ext cx="3281782" cy="29077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C28D4AA-338F-DA03-9C67-D7DBF443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292" y="3429000"/>
            <a:ext cx="6665423" cy="23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71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4238E-0F11-89FA-C66C-7DE9F4D7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6.1.4</a:t>
            </a:r>
            <a:r>
              <a:rPr kumimoji="1" lang="zh-CN" altLang="en-US" dirty="0"/>
              <a:t> </a:t>
            </a:r>
            <a:r>
              <a:rPr kumimoji="1" lang="en-US" altLang="zh-CN" dirty="0"/>
              <a:t>2D</a:t>
            </a:r>
            <a:r>
              <a:rPr kumimoji="1" lang="zh-CN" altLang="en-US" dirty="0"/>
              <a:t>帧动画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5ED2E-9C76-6801-3524-22161DDDE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生成</a:t>
            </a:r>
            <a:r>
              <a:rPr kumimoji="1" lang="en-US" altLang="zh-CN" dirty="0"/>
              <a:t>2D</a:t>
            </a:r>
            <a:r>
              <a:rPr kumimoji="1" lang="zh-CN" altLang="en-US" dirty="0"/>
              <a:t>帧动画</a:t>
            </a:r>
            <a:endParaRPr kumimoji="1" lang="en-US" altLang="zh-CN" dirty="0"/>
          </a:p>
          <a:p>
            <a:r>
              <a:rPr kumimoji="1" lang="en-US" altLang="zh-CN" dirty="0" err="1"/>
              <a:t>AnimationController</a:t>
            </a:r>
            <a:r>
              <a:rPr kumimoji="1" lang="zh-CN" altLang="en-US" dirty="0"/>
              <a:t> 控制动画播放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DFC615-5442-5C33-0AC2-F9D77E762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06813"/>
            <a:ext cx="6309083" cy="20539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BB52F9E-669A-91AC-37A4-E2DB2CC05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921" y="3429000"/>
            <a:ext cx="4759325" cy="297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9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F3371-B3DD-4C79-6BF8-C1EED4B0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6.1.5</a:t>
            </a:r>
            <a:r>
              <a:rPr kumimoji="1" lang="zh-CN" altLang="en-US" dirty="0"/>
              <a:t> 脚本播放动画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12D63-3C5C-37A7-37D8-E67F9019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en" altLang="zh-CN" dirty="0" err="1"/>
              <a:t>AnimationPlayableUtilities.PlayClip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m_Animator</a:t>
            </a:r>
            <a:r>
              <a:rPr kumimoji="1" lang="en" altLang="zh-CN" dirty="0"/>
              <a:t>, Idle, out var __);</a:t>
            </a:r>
          </a:p>
          <a:p>
            <a:r>
              <a:rPr kumimoji="1" lang="zh-CN" altLang="en" dirty="0"/>
              <a:t>代码</a:t>
            </a:r>
            <a:r>
              <a:rPr kumimoji="1" lang="zh-CN" altLang="en-US" dirty="0"/>
              <a:t>播放动画更加灵活，不需要</a:t>
            </a:r>
            <a:r>
              <a:rPr kumimoji="1" lang="en-US" altLang="zh-CN" dirty="0" err="1"/>
              <a:t>AnimationController</a:t>
            </a:r>
            <a:r>
              <a:rPr kumimoji="1" lang="zh-CN" altLang="en-US" dirty="0"/>
              <a:t>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10609A-CEF0-A422-80FA-B27F0900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31" y="3706813"/>
            <a:ext cx="3854450" cy="279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29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141F2-45E5-4E82-A041-06245E8C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6.1.6</a:t>
            </a:r>
            <a:r>
              <a:rPr kumimoji="1" lang="zh-CN" altLang="en-US" dirty="0"/>
              <a:t> </a:t>
            </a:r>
            <a:r>
              <a:rPr kumimoji="1" lang="en-US" altLang="zh-CN" dirty="0"/>
              <a:t>2D</a:t>
            </a:r>
            <a:r>
              <a:rPr kumimoji="1" lang="zh-CN" altLang="en-US" dirty="0"/>
              <a:t>骨骼动画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F83425-74F0-E6A7-D664-B6609FE48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94815"/>
          </a:xfrm>
        </p:spPr>
        <p:txBody>
          <a:bodyPr/>
          <a:lstStyle/>
          <a:p>
            <a:r>
              <a:rPr kumimoji="1" lang="zh-CN" altLang="en-US" dirty="0"/>
              <a:t>帧动画占用内存</a:t>
            </a:r>
            <a:endParaRPr kumimoji="1" lang="en-US" altLang="zh-CN" dirty="0"/>
          </a:p>
          <a:p>
            <a:r>
              <a:rPr kumimoji="1" lang="en-US" altLang="zh-CN" dirty="0"/>
              <a:t>2D</a:t>
            </a:r>
            <a:r>
              <a:rPr kumimoji="1" lang="zh-CN" altLang="en-US" dirty="0"/>
              <a:t>骨骼动画，只提供基础部件，通过骨骼播放，内存占用少</a:t>
            </a:r>
            <a:endParaRPr kumimoji="1" lang="en-US" altLang="zh-CN" dirty="0"/>
          </a:p>
          <a:p>
            <a:r>
              <a:rPr kumimoji="1" lang="zh-CN" altLang="en-US" dirty="0"/>
              <a:t>艺术家编辑蒙皮信息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189184-7D92-7F07-800F-968407B92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2" y="3706813"/>
            <a:ext cx="3881755" cy="2327275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BC379A60-7CB3-63C6-F5DC-FA230D125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8860" y="-1074295"/>
            <a:ext cx="105393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495BF5-B014-C639-C1E1-71DFB5054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849" y="3520439"/>
            <a:ext cx="4248674" cy="29724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39921B0-5018-6E92-E855-0FD7D2159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3520440"/>
            <a:ext cx="2850007" cy="30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5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8764A-5F3B-7FC1-55DC-C1874934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6.1.7</a:t>
            </a:r>
            <a:r>
              <a:rPr kumimoji="1" lang="zh-CN" altLang="en-US" dirty="0"/>
              <a:t> </a:t>
            </a:r>
            <a:r>
              <a:rPr kumimoji="1" lang="en-US" altLang="zh-CN" dirty="0"/>
              <a:t>IK</a:t>
            </a:r>
            <a:r>
              <a:rPr kumimoji="1" lang="zh-CN" altLang="en-US" dirty="0"/>
              <a:t> 反向动力学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6356E-136E-108F-1ECA-5ABCCE4F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1895"/>
          </a:xfrm>
        </p:spPr>
        <p:txBody>
          <a:bodyPr/>
          <a:lstStyle/>
          <a:p>
            <a:r>
              <a:rPr kumimoji="1" lang="zh-CN" altLang="en-US" dirty="0"/>
              <a:t>子节点影响父节点</a:t>
            </a:r>
            <a:endParaRPr kumimoji="1" lang="en-US" altLang="zh-CN" dirty="0"/>
          </a:p>
          <a:p>
            <a:r>
              <a:rPr kumimoji="1" lang="zh-CN" altLang="en-US" dirty="0"/>
              <a:t>修改脚步节点从而影响腿部位置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ECBC76-7D90-66DA-2B87-AFD04D3A3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840481"/>
            <a:ext cx="4027025" cy="19110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A61A297-4B3A-975C-BD2D-3E242748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093" y="3840481"/>
            <a:ext cx="4377203" cy="246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52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030E7-7833-CFC5-4038-6BC9F5D9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6.1.8</a:t>
            </a:r>
            <a:r>
              <a:rPr kumimoji="1" lang="zh-CN" altLang="en-US" dirty="0"/>
              <a:t> 精灵资源库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1348AD-5229-DADE-595F-100E7732D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设置资源库分类</a:t>
            </a:r>
            <a:endParaRPr kumimoji="1" lang="en-US" altLang="zh-CN" dirty="0"/>
          </a:p>
          <a:p>
            <a:r>
              <a:rPr kumimoji="1" lang="zh-CN" altLang="en-US" dirty="0"/>
              <a:t>方便换装，切换资源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798E2E-40A4-5599-F350-574AA244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86125"/>
            <a:ext cx="4923861" cy="30872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415B00-85EC-4077-0154-512BA56CE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56" y="3286125"/>
            <a:ext cx="5207300" cy="226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21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BE53D-E5F4-1857-4DD7-460583DF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</a:t>
            </a:r>
            <a:r>
              <a:rPr kumimoji="1" lang="zh-CN" altLang="en-US" dirty="0"/>
              <a:t> </a:t>
            </a:r>
            <a:r>
              <a:rPr kumimoji="1" lang="en-US" altLang="zh-CN" dirty="0"/>
              <a:t>Tile</a:t>
            </a:r>
            <a:r>
              <a:rPr kumimoji="1" lang="zh-CN" altLang="en-US" dirty="0"/>
              <a:t>地图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8516E-C72A-26A6-3B44-568FF53FE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01039"/>
          </a:xfrm>
        </p:spPr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/>
              <a:t>Tile</a:t>
            </a:r>
            <a:r>
              <a:rPr kumimoji="1" lang="zh-CN" altLang="en-US" dirty="0"/>
              <a:t>贴图，编辑</a:t>
            </a:r>
            <a:r>
              <a:rPr kumimoji="1" lang="en-US" altLang="zh-CN" dirty="0"/>
              <a:t>Tile</a:t>
            </a:r>
            <a:r>
              <a:rPr kumimoji="1" lang="zh-CN" altLang="en-US" dirty="0"/>
              <a:t>大小，偏移等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219BC8-679D-C18C-1010-52AA76A8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16" y="3202940"/>
            <a:ext cx="3597720" cy="35538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75BA09-0298-14C9-A6D8-8D7D76F6E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525" y="3202940"/>
            <a:ext cx="3077845" cy="206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4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B0E8B-D83C-2AF0-2A01-BC3FC9F7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6.2.2</a:t>
            </a:r>
            <a:r>
              <a:rPr kumimoji="1" lang="zh-CN" altLang="en-US" dirty="0"/>
              <a:t> 创建地图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90BABE-39B8-74D1-07D9-C209D2B5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29639"/>
          </a:xfrm>
        </p:spPr>
        <p:txBody>
          <a:bodyPr/>
          <a:lstStyle/>
          <a:p>
            <a:r>
              <a:rPr kumimoji="1" lang="zh-CN" altLang="en-US" dirty="0"/>
              <a:t>选择</a:t>
            </a:r>
            <a:r>
              <a:rPr kumimoji="1" lang="en-US" altLang="zh-CN" dirty="0"/>
              <a:t>Tile</a:t>
            </a:r>
            <a:r>
              <a:rPr kumimoji="1" lang="zh-CN" altLang="en-US" dirty="0"/>
              <a:t>块开始编辑</a:t>
            </a:r>
            <a:r>
              <a:rPr kumimoji="1" lang="en-US" altLang="zh-CN" dirty="0"/>
              <a:t>2D</a:t>
            </a:r>
            <a:r>
              <a:rPr kumimoji="1" lang="zh-CN" altLang="en-US" dirty="0"/>
              <a:t>地图。</a:t>
            </a:r>
            <a:endParaRPr kumimoji="1" lang="en-US" altLang="zh-CN" dirty="0"/>
          </a:p>
          <a:p>
            <a:r>
              <a:rPr kumimoji="1" lang="en-US" altLang="zh-CN" dirty="0" err="1"/>
              <a:t>Tilemap</a:t>
            </a:r>
            <a:r>
              <a:rPr kumimoji="1" lang="en-US" altLang="zh-CN" dirty="0"/>
              <a:t> Renderer</a:t>
            </a:r>
            <a:r>
              <a:rPr kumimoji="1" lang="zh-CN" altLang="en-US" dirty="0"/>
              <a:t>进行地图渲染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169236-C58F-9B98-65B3-0ADE20C3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70796"/>
            <a:ext cx="5274310" cy="27768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1093A08-D107-2910-C853-7C18591B3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706" y="2969895"/>
            <a:ext cx="2845435" cy="352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81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5AAE5-DBC9-C526-E826-F979CDED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6.2.3</a:t>
            </a:r>
            <a:r>
              <a:rPr kumimoji="1" lang="zh-CN" altLang="en-US" dirty="0"/>
              <a:t> 编辑</a:t>
            </a:r>
            <a:r>
              <a:rPr kumimoji="1" lang="en-US" altLang="zh-CN" dirty="0"/>
              <a:t>Tile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560A7-056C-7106-5CEC-260AB5EA4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53767"/>
          </a:xfrm>
        </p:spPr>
        <p:txBody>
          <a:bodyPr/>
          <a:lstStyle/>
          <a:p>
            <a:r>
              <a:rPr kumimoji="1" lang="zh-CN" altLang="en-US" dirty="0"/>
              <a:t>点选工具、移动工具、画笔工具、区域工具、吸图工具、橡皮工具、批量填充工具、左旋工具、右旋工具、左右镜像工具、上下镜像工具</a:t>
            </a:r>
            <a:endParaRPr kumimoji="1" lang="en-US" altLang="zh-CN" dirty="0"/>
          </a:p>
          <a:p>
            <a:r>
              <a:rPr kumimoji="1" lang="zh-CN" altLang="en-US" dirty="0"/>
              <a:t>吸附工具、保存工具、编辑工具、网格工具、显示工具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8BC998-345F-2D9C-6CFF-9D552FDE1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54893"/>
            <a:ext cx="3632835" cy="1365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5479B4-E03F-EFB7-6A95-258AE77B1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984" y="4900042"/>
            <a:ext cx="4572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2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5EB7-78B4-D870-9336-BBB37506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6.2.4</a:t>
            </a:r>
            <a:r>
              <a:rPr kumimoji="1" lang="zh-CN" altLang="en-US" dirty="0"/>
              <a:t> </a:t>
            </a:r>
            <a:r>
              <a:rPr kumimoji="1" lang="en-US" altLang="zh-CN" dirty="0"/>
              <a:t>Tile</a:t>
            </a:r>
            <a:r>
              <a:rPr kumimoji="1" lang="zh-CN" altLang="en-US" dirty="0"/>
              <a:t>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39230B-15FE-4C09-F4F1-C4258317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编辑时</a:t>
            </a:r>
            <a:r>
              <a:rPr kumimoji="1" lang="en" altLang="zh-CN" dirty="0"/>
              <a:t>Focus On </a:t>
            </a:r>
            <a:r>
              <a:rPr kumimoji="1" lang="en" altLang="zh-CN" dirty="0" err="1"/>
              <a:t>Tilemap</a:t>
            </a:r>
            <a:r>
              <a:rPr kumimoji="1" lang="zh-CN" altLang="en" dirty="0"/>
              <a:t>突出</a:t>
            </a:r>
            <a:r>
              <a:rPr kumimoji="1" lang="zh-CN" altLang="en-US" dirty="0"/>
              <a:t>显示某个层</a:t>
            </a:r>
            <a:endParaRPr kumimoji="1" lang="en-US" altLang="zh-CN" dirty="0"/>
          </a:p>
          <a:p>
            <a:r>
              <a:rPr kumimoji="1" lang="en-US" altLang="zh-CN" dirty="0"/>
              <a:t>Sorting Order</a:t>
            </a:r>
            <a:r>
              <a:rPr kumimoji="1" lang="zh-CN" altLang="en-US" dirty="0"/>
              <a:t>静态排序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C4D45B-7697-1D0F-8E58-755D4B30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74033"/>
            <a:ext cx="4407076" cy="29188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6A36BE7-BBB1-1070-BDC1-463B6E56B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804" y="3574032"/>
            <a:ext cx="6675081" cy="29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56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60D73-6D77-4FB7-E605-86EDF789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6.2.5</a:t>
            </a:r>
            <a:r>
              <a:rPr kumimoji="1" lang="zh-CN" altLang="en-US" dirty="0"/>
              <a:t> 扩展笔刷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DB3EBE-A44B-311C-62A1-47AE90EB3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4151"/>
          </a:xfrm>
        </p:spPr>
        <p:txBody>
          <a:bodyPr/>
          <a:lstStyle/>
          <a:p>
            <a:r>
              <a:rPr kumimoji="1" lang="zh-CN" altLang="en-US" dirty="0"/>
              <a:t>游戏对象笔刷、组笔刷、随机笔刷、线笔刷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A70AE4-C104-2667-7CDD-F4F1E094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45" y="2914713"/>
            <a:ext cx="3366666" cy="20047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417FF1-F1AC-CF43-D4F8-3DD5BB7BC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644" y="2861055"/>
            <a:ext cx="2608852" cy="21498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05552E-EAA7-941B-B11D-EA92B06AE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830" y="2861055"/>
            <a:ext cx="2826068" cy="2149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CD9A8E-05A2-9B59-F1B3-9A7DBA984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45" y="4919472"/>
            <a:ext cx="2641255" cy="18035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67CB271-6911-F28E-F853-D0359160A3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3479" y="5197475"/>
            <a:ext cx="349694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1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82D1E-075C-60C8-6BC5-CC11C790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6.2.6</a:t>
            </a:r>
            <a:r>
              <a:rPr kumimoji="1" lang="zh-CN" altLang="en-US" dirty="0"/>
              <a:t> 扩展</a:t>
            </a:r>
            <a:r>
              <a:rPr kumimoji="1" lang="en-US" altLang="zh-CN" dirty="0"/>
              <a:t>Tile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88E37F-C54C-36ED-F9D2-0FD1C2A7B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重写</a:t>
            </a:r>
            <a:r>
              <a:rPr kumimoji="1" lang="en-US" altLang="zh-CN" dirty="0"/>
              <a:t>Tile</a:t>
            </a:r>
            <a:r>
              <a:rPr kumimoji="1" lang="zh-CN" altLang="en-US" dirty="0"/>
              <a:t>基类实现一些可扩展的方法。</a:t>
            </a:r>
            <a:endParaRPr kumimoji="1" lang="en-US" altLang="zh-CN" dirty="0"/>
          </a:p>
          <a:p>
            <a:r>
              <a:rPr kumimoji="1" lang="zh-CN" altLang="en-US" dirty="0"/>
              <a:t>详见代码清单</a:t>
            </a:r>
            <a:r>
              <a:rPr kumimoji="1" lang="en-US" altLang="zh-CN" dirty="0"/>
              <a:t>6-6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293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4F1BE-C806-C0CF-3C59-381CD80C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6.2.7</a:t>
            </a:r>
            <a:r>
              <a:rPr kumimoji="1" lang="zh-CN" altLang="en-US" dirty="0"/>
              <a:t> 更新</a:t>
            </a:r>
            <a:r>
              <a:rPr kumimoji="1" lang="en-US" altLang="zh-CN" dirty="0"/>
              <a:t>Tile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6BBB5C-2959-043B-B356-4988C11F6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动态更新地图块</a:t>
            </a:r>
            <a:endParaRPr kumimoji="1" lang="en-US" altLang="zh-CN" dirty="0"/>
          </a:p>
          <a:p>
            <a:r>
              <a:rPr kumimoji="1" lang="en" altLang="zh-CN" dirty="0"/>
              <a:t>Vector3Int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tilemap.WorldToCell</a:t>
            </a:r>
            <a:r>
              <a:rPr kumimoji="1" lang="en" altLang="zh-CN" dirty="0"/>
              <a:t>(</a:t>
            </a:r>
            <a:r>
              <a:rPr kumimoji="1" lang="en" altLang="zh-CN" dirty="0" err="1"/>
              <a:t>raycast.point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 err="1"/>
              <a:t>tilemap.SetTile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i</a:t>
            </a:r>
            <a:r>
              <a:rPr kumimoji="1" lang="en" altLang="zh-CN" dirty="0"/>
              <a:t>, tile1);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6BF0D6-88D7-943B-424A-0D4070FEA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50780"/>
            <a:ext cx="6101101" cy="267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37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A19D9-373F-B0E9-DDF1-252EA798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6.2.8</a:t>
            </a:r>
            <a:r>
              <a:rPr kumimoji="1" lang="zh-CN" altLang="en-US" dirty="0"/>
              <a:t> </a:t>
            </a:r>
            <a:r>
              <a:rPr kumimoji="1" lang="en-US" altLang="zh-CN" dirty="0"/>
              <a:t>Tile</a:t>
            </a:r>
            <a:r>
              <a:rPr kumimoji="1" lang="zh-CN" altLang="en-US" dirty="0"/>
              <a:t>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455DDE-28A2-D4B4-C19D-B2AFB101B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5" y="1690688"/>
            <a:ext cx="10515600" cy="1875472"/>
          </a:xfrm>
        </p:spPr>
        <p:txBody>
          <a:bodyPr/>
          <a:lstStyle/>
          <a:p>
            <a:r>
              <a:rPr kumimoji="1" lang="zh-CN" altLang="en-US" dirty="0"/>
              <a:t>创建</a:t>
            </a:r>
            <a:r>
              <a:rPr kumimoji="1" lang="en-US" altLang="zh-CN" dirty="0"/>
              <a:t>Animated Tile</a:t>
            </a:r>
            <a:r>
              <a:rPr kumimoji="1" lang="zh-CN" altLang="en-US" dirty="0"/>
              <a:t>资源</a:t>
            </a:r>
            <a:endParaRPr kumimoji="1" lang="en-US" altLang="zh-CN" dirty="0"/>
          </a:p>
          <a:p>
            <a:r>
              <a:rPr kumimoji="1" lang="zh-CN" altLang="en-US" dirty="0"/>
              <a:t>设置动画帧率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30626C-E5F3-C1E8-56B1-9BACFE37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85617"/>
            <a:ext cx="5166842" cy="25420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F72026-D8CA-0F83-74DA-6EB6CCB2E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959" y="3785617"/>
            <a:ext cx="5390953" cy="254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218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6AED9-71CB-9A96-2E2C-B9436370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</a:t>
            </a:r>
            <a:r>
              <a:rPr kumimoji="1" lang="zh-CN" altLang="en-US" dirty="0"/>
              <a:t> </a:t>
            </a:r>
            <a:r>
              <a:rPr kumimoji="1" lang="en-US" altLang="zh-CN" dirty="0"/>
              <a:t>2D</a:t>
            </a:r>
            <a:r>
              <a:rPr kumimoji="1" lang="zh-CN" altLang="en-US" dirty="0"/>
              <a:t>物理系统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46EC0B-28DF-9751-6316-64A8BDFF5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Unity2D</a:t>
            </a:r>
            <a:r>
              <a:rPr kumimoji="1" lang="zh-CN" altLang="en-US" dirty="0"/>
              <a:t>和</a:t>
            </a:r>
            <a:r>
              <a:rPr kumimoji="1" lang="en-US" altLang="zh-CN" dirty="0"/>
              <a:t>3D</a:t>
            </a:r>
            <a:r>
              <a:rPr kumimoji="1" lang="zh-CN" altLang="en-US" dirty="0"/>
              <a:t>的物理引擎都基于</a:t>
            </a:r>
            <a:r>
              <a:rPr kumimoji="1" lang="en-US" altLang="zh-CN" dirty="0"/>
              <a:t>PhysX</a:t>
            </a:r>
          </a:p>
          <a:p>
            <a:r>
              <a:rPr kumimoji="1" lang="zh-CN" altLang="en-US" dirty="0"/>
              <a:t>碰撞碰撞效果和碰撞事件两种</a:t>
            </a:r>
            <a:endParaRPr kumimoji="1" lang="en-US" altLang="zh-CN" dirty="0"/>
          </a:p>
          <a:p>
            <a:r>
              <a:rPr kumimoji="1" lang="zh-CN" altLang="en-US" dirty="0"/>
              <a:t>碰撞效果：碰到后会被挡住，按照物理效果继续</a:t>
            </a:r>
            <a:endParaRPr kumimoji="1" lang="en-US" altLang="zh-CN" dirty="0"/>
          </a:p>
          <a:p>
            <a:r>
              <a:rPr kumimoji="1" lang="zh-CN" altLang="en-US" dirty="0"/>
              <a:t>碰撞事件：仅通知程序“碰撞了”的事件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4746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8A090-8B37-1156-2408-11762826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6.3.1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Collider 2D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4A6175-C7AB-29C3-5402-BCE4C2C92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16607"/>
          </a:xfrm>
        </p:spPr>
        <p:txBody>
          <a:bodyPr/>
          <a:lstStyle/>
          <a:p>
            <a:r>
              <a:rPr kumimoji="1" lang="zh-CN" altLang="en-US" dirty="0"/>
              <a:t>发起碰撞的物体</a:t>
            </a:r>
            <a:endParaRPr kumimoji="1" lang="en-US" altLang="zh-CN" dirty="0"/>
          </a:p>
          <a:p>
            <a:r>
              <a:rPr kumimoji="1" lang="zh-CN" altLang="en-US" dirty="0"/>
              <a:t>受到碰撞的物体</a:t>
            </a:r>
            <a:endParaRPr kumimoji="1" lang="en-US" altLang="zh-CN" dirty="0"/>
          </a:p>
          <a:p>
            <a:r>
              <a:rPr kumimoji="1" lang="en" altLang="zh-CN" dirty="0"/>
              <a:t>Collider 2D</a:t>
            </a:r>
            <a:r>
              <a:rPr kumimoji="1" lang="zh-CN" altLang="en-US" dirty="0"/>
              <a:t>包括盒型碰撞体、圆形碰撞体、边界碰撞体、多边形碰撞体和胶囊碰撞体等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924355-F251-76F0-E408-D0B5B2D73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09" y="4142232"/>
            <a:ext cx="5274310" cy="24536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73FFB9-4B4F-C6BC-684A-149381E02C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704" y="4142232"/>
            <a:ext cx="3879215" cy="1896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7903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96F91-EE55-F795-66F4-82B379F2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6.3.2</a:t>
            </a:r>
            <a:r>
              <a:rPr kumimoji="1" lang="zh-CN" altLang="en-US" dirty="0"/>
              <a:t> </a:t>
            </a:r>
            <a:r>
              <a:rPr kumimoji="1" lang="en-US" altLang="zh-CN" dirty="0"/>
              <a:t>Rigidbody2D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13354-27DB-A9E3-19A6-2885AA1C1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Dynamic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表示动态刚体，完全模拟物理效果</a:t>
            </a:r>
            <a:endParaRPr kumimoji="1" lang="en-US" altLang="zh-CN" dirty="0"/>
          </a:p>
          <a:p>
            <a:r>
              <a:rPr kumimoji="1" lang="en" altLang="zh-CN" dirty="0"/>
              <a:t>Kinematic</a:t>
            </a:r>
            <a:r>
              <a:rPr kumimoji="1" lang="zh-CN" altLang="en" dirty="0"/>
              <a:t>：</a:t>
            </a:r>
            <a:r>
              <a:rPr kumimoji="1" lang="zh-CN" altLang="en-US" dirty="0"/>
              <a:t>运动刚体，只能和</a:t>
            </a:r>
            <a:r>
              <a:rPr kumimoji="1" lang="en" altLang="zh-CN" dirty="0"/>
              <a:t>Dynamic </a:t>
            </a:r>
            <a:r>
              <a:rPr kumimoji="1" lang="en" altLang="zh-CN" dirty="0" err="1"/>
              <a:t>Rigidbody</a:t>
            </a:r>
            <a:r>
              <a:rPr kumimoji="1" lang="zh-CN" altLang="en-US" dirty="0"/>
              <a:t>产生碰撞效果。</a:t>
            </a:r>
            <a:endParaRPr kumimoji="1" lang="en-US" altLang="zh-CN" dirty="0"/>
          </a:p>
          <a:p>
            <a:r>
              <a:rPr kumimoji="1" lang="en" altLang="zh-CN" dirty="0"/>
              <a:t>Static</a:t>
            </a:r>
            <a:r>
              <a:rPr kumimoji="1" lang="zh-CN" altLang="en" dirty="0"/>
              <a:t>：</a:t>
            </a:r>
            <a:r>
              <a:rPr kumimoji="1" lang="zh-CN" altLang="en-US" dirty="0"/>
              <a:t>静态刚体，只能和</a:t>
            </a:r>
            <a:r>
              <a:rPr kumimoji="1" lang="en" altLang="zh-CN" dirty="0"/>
              <a:t>Dynamic </a:t>
            </a:r>
            <a:r>
              <a:rPr kumimoji="1" lang="en" altLang="zh-CN" dirty="0" err="1"/>
              <a:t>Rigidbody</a:t>
            </a:r>
            <a:r>
              <a:rPr kumimoji="1" lang="zh-CN" altLang="en-US" dirty="0"/>
              <a:t>产生碰撞效果，和</a:t>
            </a:r>
            <a:r>
              <a:rPr kumimoji="1" lang="en" altLang="zh-CN" dirty="0"/>
              <a:t>Kinematic </a:t>
            </a:r>
            <a:r>
              <a:rPr kumimoji="1" lang="en" altLang="zh-CN" dirty="0" err="1"/>
              <a:t>Rigidbody</a:t>
            </a:r>
            <a:r>
              <a:rPr kumimoji="1" lang="zh-CN" altLang="en-US" dirty="0"/>
              <a:t>只能产生碰撞事件</a:t>
            </a:r>
          </a:p>
        </p:txBody>
      </p:sp>
    </p:spTree>
    <p:extLst>
      <p:ext uri="{BB962C8B-B14F-4D97-AF65-F5344CB8AC3E}">
        <p14:creationId xmlns:p14="http://schemas.microsoft.com/office/powerpoint/2010/main" val="780774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84450-693A-62C5-1C2D-A8C90422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6.3.3</a:t>
            </a:r>
            <a:r>
              <a:rPr kumimoji="1" lang="zh-CN" altLang="en-US" dirty="0"/>
              <a:t> 碰撞事件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60EFAB-6518-3F42-AFBE-4D766759CDCC}"/>
              </a:ext>
            </a:extLst>
          </p:cNvPr>
          <p:cNvSpPr txBox="1"/>
          <p:nvPr/>
        </p:nvSpPr>
        <p:spPr>
          <a:xfrm>
            <a:off x="838200" y="1947672"/>
            <a:ext cx="685957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void OnCollisionEnter2D(Collision2D </a:t>
            </a:r>
            <a:r>
              <a:rPr kumimoji="1" lang="en" altLang="zh-CN" dirty="0" err="1"/>
              <a:t>coll</a:t>
            </a:r>
            <a:r>
              <a:rPr kumimoji="1" lang="en" altLang="zh-CN" dirty="0"/>
              <a:t>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Debug.LogFormat</a:t>
            </a:r>
            <a:r>
              <a:rPr kumimoji="1" lang="en" altLang="zh-CN" dirty="0"/>
              <a:t>("</a:t>
            </a:r>
            <a:r>
              <a:rPr kumimoji="1" lang="zh-CN" altLang="en-US" dirty="0"/>
              <a:t>主角开始碰到 </a:t>
            </a:r>
            <a:r>
              <a:rPr kumimoji="1" lang="en-US" altLang="zh-CN" dirty="0"/>
              <a:t>{0} ",</a:t>
            </a:r>
            <a:r>
              <a:rPr kumimoji="1" lang="en" altLang="zh-CN" dirty="0" err="1"/>
              <a:t>coll.collider.name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r>
              <a:rPr kumimoji="1" lang="en" altLang="zh-CN" dirty="0"/>
              <a:t>void OnCollisionStay2D(Collision2D </a:t>
            </a:r>
            <a:r>
              <a:rPr kumimoji="1" lang="en" altLang="zh-CN" dirty="0" err="1"/>
              <a:t>coll</a:t>
            </a:r>
            <a:r>
              <a:rPr kumimoji="1" lang="en" altLang="zh-CN" dirty="0"/>
              <a:t>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Debug.LogFormat</a:t>
            </a:r>
            <a:r>
              <a:rPr kumimoji="1" lang="en" altLang="zh-CN" dirty="0"/>
              <a:t>("</a:t>
            </a:r>
            <a:r>
              <a:rPr kumimoji="1" lang="zh-CN" altLang="en-US" dirty="0"/>
              <a:t>主角持续碰到</a:t>
            </a:r>
            <a:r>
              <a:rPr kumimoji="1" lang="en-US" altLang="zh-CN" dirty="0"/>
              <a:t>{0} ", </a:t>
            </a:r>
            <a:r>
              <a:rPr kumimoji="1" lang="en" altLang="zh-CN" dirty="0" err="1"/>
              <a:t>coll.collider.name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r>
              <a:rPr kumimoji="1" lang="en" altLang="zh-CN" dirty="0"/>
              <a:t>void OnCollisionExit2D(Collision2D </a:t>
            </a:r>
            <a:r>
              <a:rPr kumimoji="1" lang="en" altLang="zh-CN" dirty="0" err="1"/>
              <a:t>coll</a:t>
            </a:r>
            <a:r>
              <a:rPr kumimoji="1" lang="en" altLang="zh-CN" dirty="0"/>
              <a:t>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Debug.LogFormat</a:t>
            </a:r>
            <a:r>
              <a:rPr kumimoji="1" lang="en" altLang="zh-CN" dirty="0"/>
              <a:t>("</a:t>
            </a:r>
            <a:r>
              <a:rPr kumimoji="1" lang="zh-CN" altLang="en-US" dirty="0"/>
              <a:t>主角停止碰到 </a:t>
            </a:r>
            <a:r>
              <a:rPr kumimoji="1" lang="en-US" altLang="zh-CN" dirty="0"/>
              <a:t>{0} ", </a:t>
            </a:r>
            <a:r>
              <a:rPr kumimoji="1" lang="en" altLang="zh-CN" dirty="0" err="1"/>
              <a:t>coll.collider.name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B94149-31DF-8791-309A-0C72F28A3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619" y="1297591"/>
            <a:ext cx="348170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25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BE5D2-8F6E-58EC-B1BC-E2FE9E4A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6.3.4</a:t>
            </a:r>
            <a:r>
              <a:rPr kumimoji="1" lang="zh-CN" altLang="en-US" dirty="0"/>
              <a:t> 碰撞方向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095F3-5090-BB08-B962-3228240B2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碰撞通常有上下左右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个方向</a:t>
            </a:r>
            <a:endParaRPr kumimoji="1" lang="en-US" altLang="zh-CN" dirty="0"/>
          </a:p>
          <a:p>
            <a:r>
              <a:rPr kumimoji="1" lang="zh-CN" altLang="en-US" dirty="0"/>
              <a:t>检测碰撞发生的点（红线）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0BE442-BB3E-90C5-F801-76EFB945B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0" y="3286125"/>
            <a:ext cx="2771775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57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55CAC-542C-2DC6-F779-C17BE92D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6.3.5</a:t>
            </a:r>
            <a:r>
              <a:rPr kumimoji="1" lang="zh-CN" altLang="en-US" dirty="0"/>
              <a:t> 触发器监听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B17587-D755-0670-17FB-F12E47F4C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5944" cy="1950847"/>
          </a:xfrm>
        </p:spPr>
        <p:txBody>
          <a:bodyPr/>
          <a:lstStyle/>
          <a:p>
            <a:r>
              <a:rPr kumimoji="1" lang="zh-CN" altLang="en-US" dirty="0"/>
              <a:t>勾选</a:t>
            </a:r>
            <a:r>
              <a:rPr kumimoji="1" lang="en-US" altLang="zh-CN" dirty="0"/>
              <a:t>Is Trigger</a:t>
            </a:r>
          </a:p>
          <a:p>
            <a:r>
              <a:rPr kumimoji="1" lang="zh-CN" altLang="en-US" dirty="0"/>
              <a:t>仅仅监听碰撞事件，无任何碰撞效果产生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904C8F-2150-3A26-AC52-75E0588EC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30116"/>
            <a:ext cx="3921760" cy="8483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F0115A-0618-7027-82D7-D6B13E9047D8}"/>
              </a:ext>
            </a:extLst>
          </p:cNvPr>
          <p:cNvSpPr txBox="1"/>
          <p:nvPr/>
        </p:nvSpPr>
        <p:spPr>
          <a:xfrm>
            <a:off x="6272784" y="1690688"/>
            <a:ext cx="498085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void OnTriggerEnter2D(Collider2D other)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	onTriggerEnter2D.Invoke(</a:t>
            </a:r>
            <a:r>
              <a:rPr kumimoji="1" lang="en" altLang="zh-CN" dirty="0" err="1"/>
              <a:t>gameObject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r>
              <a:rPr kumimoji="1" lang="en" altLang="zh-CN" dirty="0"/>
              <a:t>void OnTriggerStay2D(Collider2D other)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	onTriggerStay2D.Invoke(</a:t>
            </a:r>
            <a:r>
              <a:rPr kumimoji="1" lang="en" altLang="zh-CN" dirty="0" err="1"/>
              <a:t>gameObject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r>
              <a:rPr kumimoji="1" lang="en" altLang="zh-CN" dirty="0"/>
              <a:t>void OnTriggerExit2D(Collider2D other)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	onTriggerExit2D.Invoke(</a:t>
            </a:r>
            <a:r>
              <a:rPr kumimoji="1" lang="en" altLang="zh-CN" dirty="0" err="1"/>
              <a:t>gameObject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004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93DC4-9062-4201-13DE-997C2C0B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6.3.6</a:t>
            </a:r>
            <a:r>
              <a:rPr kumimoji="1" lang="zh-CN" altLang="en-US" dirty="0"/>
              <a:t> 复合碰撞体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981983-2A1B-FA92-4565-7FCEDADE8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5671"/>
          </a:xfrm>
        </p:spPr>
        <p:txBody>
          <a:bodyPr/>
          <a:lstStyle/>
          <a:p>
            <a:r>
              <a:rPr kumimoji="1" lang="zh-CN" altLang="en-US" dirty="0"/>
              <a:t>将多个碰撞体合并在一起</a:t>
            </a:r>
            <a:endParaRPr kumimoji="1" lang="en-US" altLang="zh-CN" dirty="0"/>
          </a:p>
          <a:p>
            <a:r>
              <a:rPr kumimoji="1" lang="en-US" altLang="zh-CN" dirty="0"/>
              <a:t>Composite Collider2D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4693E0-68EB-998B-6853-0B5E1C77F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18140"/>
            <a:ext cx="3756660" cy="207581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3D9C2C-B82C-AD12-6903-69EAE22B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77" y="3937825"/>
            <a:ext cx="3738245" cy="205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20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C79C1-428C-FC78-71E4-7E40DEE4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6.3.7 </a:t>
            </a:r>
            <a:r>
              <a:rPr kumimoji="1" lang="zh-CN" altLang="en-US" dirty="0"/>
              <a:t>自定义碰撞体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F7CE99-642E-551E-CDD4-CE29CEDF4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2" y="1690688"/>
            <a:ext cx="10515600" cy="899287"/>
          </a:xfrm>
        </p:spPr>
        <p:txBody>
          <a:bodyPr/>
          <a:lstStyle/>
          <a:p>
            <a:r>
              <a:rPr kumimoji="1" lang="zh-CN" altLang="en-US" dirty="0"/>
              <a:t>动态添加碰撞区域，并且动态组合在一起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34D071-47C0-DCDE-9E8F-9FF65ECF2DC9}"/>
              </a:ext>
            </a:extLst>
          </p:cNvPr>
          <p:cNvSpPr txBox="1"/>
          <p:nvPr/>
        </p:nvSpPr>
        <p:spPr>
          <a:xfrm>
            <a:off x="902208" y="2212848"/>
            <a:ext cx="492314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var </a:t>
            </a:r>
            <a:r>
              <a:rPr kumimoji="1" lang="en" altLang="zh-CN" dirty="0" err="1"/>
              <a:t>shapeGroup</a:t>
            </a:r>
            <a:r>
              <a:rPr kumimoji="1" lang="en" altLang="zh-CN" dirty="0"/>
              <a:t> = new PhysicsShapeGroup2D();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添加一个盒型区域</a:t>
            </a:r>
          </a:p>
          <a:p>
            <a:r>
              <a:rPr kumimoji="1" lang="en" altLang="zh-CN" dirty="0" err="1"/>
              <a:t>shapeGroup.AddBox</a:t>
            </a:r>
            <a:endParaRPr kumimoji="1" lang="en" altLang="zh-CN" dirty="0"/>
          </a:p>
          <a:p>
            <a:r>
              <a:rPr kumimoji="1" lang="en" altLang="zh-CN" dirty="0"/>
              <a:t>(</a:t>
            </a:r>
          </a:p>
          <a:p>
            <a:r>
              <a:rPr kumimoji="1" lang="en" altLang="zh-CN" dirty="0"/>
              <a:t>    center: new Vector2(3f, 2f),</a:t>
            </a:r>
          </a:p>
          <a:p>
            <a:r>
              <a:rPr kumimoji="1" lang="en" altLang="zh-CN" dirty="0"/>
              <a:t>    size: new Vector2(1f, 1f),</a:t>
            </a:r>
          </a:p>
          <a:p>
            <a:r>
              <a:rPr kumimoji="1" lang="en" altLang="zh-CN" dirty="0"/>
              <a:t>    angle: 0f,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edgeRadius</a:t>
            </a:r>
            <a:r>
              <a:rPr kumimoji="1" lang="en" altLang="zh-CN" dirty="0"/>
              <a:t>: 0f</a:t>
            </a:r>
          </a:p>
          <a:p>
            <a:r>
              <a:rPr kumimoji="1" lang="en" altLang="zh-CN" dirty="0"/>
              <a:t>);</a:t>
            </a:r>
          </a:p>
          <a:p>
            <a:endParaRPr kumimoji="1" lang="en" altLang="zh-CN" dirty="0"/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添加一个圆形区域</a:t>
            </a:r>
          </a:p>
          <a:p>
            <a:r>
              <a:rPr kumimoji="1" lang="en" altLang="zh-CN" dirty="0" err="1"/>
              <a:t>shapeGroup.AddCircle</a:t>
            </a:r>
            <a:endParaRPr kumimoji="1" lang="en" altLang="zh-CN" dirty="0"/>
          </a:p>
          <a:p>
            <a:r>
              <a:rPr kumimoji="1" lang="en" altLang="zh-CN" dirty="0"/>
              <a:t>(</a:t>
            </a:r>
          </a:p>
          <a:p>
            <a:r>
              <a:rPr kumimoji="1" lang="en" altLang="zh-CN" dirty="0"/>
              <a:t>    center: new Vector2(-2f, 3f),</a:t>
            </a:r>
          </a:p>
          <a:p>
            <a:r>
              <a:rPr kumimoji="1" lang="en" altLang="zh-CN" dirty="0"/>
              <a:t>    radius: 1f</a:t>
            </a:r>
          </a:p>
          <a:p>
            <a:r>
              <a:rPr kumimoji="1" lang="en" altLang="zh-CN" dirty="0"/>
              <a:t>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094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F8F40-4EF6-22D7-419B-70DF8A8D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6.3.8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Effectors 2D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B1E11-5091-BF83-1FE0-4EDAC8CF5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2D</a:t>
            </a:r>
            <a:r>
              <a:rPr kumimoji="1" lang="zh-CN" altLang="en-US" dirty="0"/>
              <a:t>物理效应器</a:t>
            </a:r>
            <a:endParaRPr kumimoji="1" lang="en-US" altLang="zh-CN" dirty="0"/>
          </a:p>
          <a:p>
            <a:r>
              <a:rPr kumimoji="1" lang="en" altLang="zh-CN" dirty="0"/>
              <a:t>Platform Effector 2D</a:t>
            </a:r>
            <a:r>
              <a:rPr kumimoji="1" lang="zh-CN" altLang="en" dirty="0"/>
              <a:t>：</a:t>
            </a:r>
            <a:r>
              <a:rPr kumimoji="1" lang="zh-CN" altLang="en-US" dirty="0"/>
              <a:t>一种特殊的地面，例如一些</a:t>
            </a:r>
            <a:r>
              <a:rPr kumimoji="1" lang="en-US" altLang="zh-CN" dirty="0"/>
              <a:t>2</a:t>
            </a:r>
            <a:r>
              <a:rPr kumimoji="1" lang="en" altLang="zh-CN" dirty="0"/>
              <a:t>D</a:t>
            </a:r>
            <a:r>
              <a:rPr kumimoji="1" lang="zh-CN" altLang="en-US" dirty="0"/>
              <a:t>游戏中的台子，从下面能跳上去，但是站在上面掉不下去。</a:t>
            </a:r>
          </a:p>
          <a:p>
            <a:r>
              <a:rPr kumimoji="1" lang="en" altLang="zh-CN" dirty="0"/>
              <a:t>Surface Effector 2D</a:t>
            </a:r>
            <a:r>
              <a:rPr kumimoji="1" lang="zh-CN" altLang="en" dirty="0"/>
              <a:t>：</a:t>
            </a:r>
            <a:r>
              <a:rPr kumimoji="1" lang="zh-CN" altLang="en-US" dirty="0"/>
              <a:t>像传送带一样带摩擦地缓慢移动。</a:t>
            </a:r>
          </a:p>
          <a:p>
            <a:r>
              <a:rPr kumimoji="1" lang="en" altLang="zh-CN" dirty="0"/>
              <a:t>Point Effector 2D</a:t>
            </a:r>
            <a:r>
              <a:rPr kumimoji="1" lang="zh-CN" altLang="en" dirty="0"/>
              <a:t>：</a:t>
            </a:r>
            <a:r>
              <a:rPr kumimoji="1" lang="zh-CN" altLang="en-US" dirty="0"/>
              <a:t>像炸弹一样，爆炸后可以把周围的东西推向四周。</a:t>
            </a:r>
          </a:p>
          <a:p>
            <a:r>
              <a:rPr kumimoji="1" lang="en" altLang="zh-CN" dirty="0"/>
              <a:t>Buoyancy Effector 2D</a:t>
            </a:r>
            <a:r>
              <a:rPr kumimoji="1" lang="zh-CN" altLang="en" dirty="0"/>
              <a:t>：</a:t>
            </a:r>
            <a:r>
              <a:rPr kumimoji="1" lang="zh-CN" altLang="en-US" dirty="0"/>
              <a:t>模拟水中的浮力效果。</a:t>
            </a:r>
          </a:p>
          <a:p>
            <a:r>
              <a:rPr kumimoji="1" lang="en" altLang="zh-CN" dirty="0"/>
              <a:t>Area Effector 2D</a:t>
            </a:r>
            <a:r>
              <a:rPr kumimoji="1" lang="zh-CN" altLang="en" dirty="0"/>
              <a:t>：</a:t>
            </a:r>
            <a:r>
              <a:rPr kumimoji="1" lang="zh-CN" altLang="en-US" dirty="0"/>
              <a:t>区域力，例如物体从空中掉下来，进入某个区域后不停弹跳的效果。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278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179D0-850A-C721-D4C7-7519684A0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6.3.9</a:t>
            </a:r>
            <a:r>
              <a:rPr kumimoji="1" lang="zh-CN" altLang="en-US" dirty="0"/>
              <a:t> 关节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2E158-14F5-835D-132D-506A51516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2777"/>
            <a:ext cx="10515600" cy="5846617"/>
          </a:xfrm>
        </p:spPr>
        <p:txBody>
          <a:bodyPr>
            <a:normAutofit fontScale="92500" lnSpcReduction="20000"/>
          </a:bodyPr>
          <a:lstStyle/>
          <a:p>
            <a:r>
              <a:rPr kumimoji="1" lang="en" altLang="zh-CN" dirty="0"/>
              <a:t>Distance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距离关节）：将两个刚体对象连接在一起并保持它们的相对距离不变。</a:t>
            </a:r>
          </a:p>
          <a:p>
            <a:r>
              <a:rPr kumimoji="1" lang="en" altLang="zh-CN" dirty="0"/>
              <a:t>Fixed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固定关节）：让两个刚体对象保持一定的相对位置，并且保持一定的相对的角度偏移。</a:t>
            </a:r>
          </a:p>
          <a:p>
            <a:r>
              <a:rPr kumimoji="1" lang="en" altLang="zh-CN" dirty="0"/>
              <a:t>Friction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摩擦关节）：减慢两个刚体对象的线速度和角速度直到停止。</a:t>
            </a:r>
          </a:p>
          <a:p>
            <a:r>
              <a:rPr kumimoji="1" lang="en" altLang="zh-CN" dirty="0"/>
              <a:t>Hinge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铰链关节）：将两个刚体对象连接到空间中一个可以旋转的点。</a:t>
            </a:r>
          </a:p>
          <a:p>
            <a:r>
              <a:rPr kumimoji="1" lang="en" altLang="zh-CN" dirty="0"/>
              <a:t>Relative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相对关节）：让两个刚体对象保持一定的相对位置偏移。</a:t>
            </a:r>
          </a:p>
          <a:p>
            <a:r>
              <a:rPr kumimoji="1" lang="en" altLang="zh-CN" dirty="0"/>
              <a:t>Slider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滑块关节）：让两个刚体对象沿着一条线滑动。</a:t>
            </a:r>
          </a:p>
          <a:p>
            <a:r>
              <a:rPr kumimoji="1" lang="en" altLang="zh-CN" dirty="0"/>
              <a:t>Spring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弹簧关节）：将两个刚体对象像弹簧一样连接在一起。</a:t>
            </a:r>
          </a:p>
          <a:p>
            <a:r>
              <a:rPr kumimoji="1" lang="en" altLang="zh-CN" dirty="0"/>
              <a:t>Target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目标关节）：将刚体对象连接到一个指定的目标。</a:t>
            </a:r>
          </a:p>
          <a:p>
            <a:r>
              <a:rPr kumimoji="1" lang="en" altLang="zh-CN" dirty="0"/>
              <a:t>Wheel Joint 2D</a:t>
            </a:r>
            <a:r>
              <a:rPr kumimoji="1" lang="zh-CN" altLang="en" dirty="0"/>
              <a:t>（</a:t>
            </a:r>
            <a:r>
              <a:rPr kumimoji="1" lang="en" altLang="zh-CN" dirty="0"/>
              <a:t>2D</a:t>
            </a:r>
            <a:r>
              <a:rPr kumimoji="1" lang="zh-CN" altLang="en-US" dirty="0"/>
              <a:t>车轮关节）：让刚体对象模拟车轮的行为。 </a:t>
            </a:r>
          </a:p>
        </p:txBody>
      </p:sp>
    </p:spTree>
    <p:extLst>
      <p:ext uri="{BB962C8B-B14F-4D97-AF65-F5344CB8AC3E}">
        <p14:creationId xmlns:p14="http://schemas.microsoft.com/office/powerpoint/2010/main" val="3762361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01914-76EF-ACCC-374F-6D8E7E60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6.3.10</a:t>
            </a:r>
            <a:r>
              <a:rPr kumimoji="1" lang="zh-CN" altLang="en-US" dirty="0"/>
              <a:t> 物理材质和恒定力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4F7385-B748-071C-CC40-590897AB3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6215"/>
          </a:xfrm>
        </p:spPr>
        <p:txBody>
          <a:bodyPr/>
          <a:lstStyle/>
          <a:p>
            <a:r>
              <a:rPr kumimoji="1" lang="zh-CN" altLang="en-US" dirty="0"/>
              <a:t>物理材质，设置摩擦力和弹性系数</a:t>
            </a:r>
            <a:endParaRPr kumimoji="1" lang="en-US" altLang="zh-CN" dirty="0"/>
          </a:p>
          <a:p>
            <a:r>
              <a:rPr kumimoji="1" lang="zh-CN" altLang="en" dirty="0"/>
              <a:t>恒定力</a:t>
            </a:r>
            <a:r>
              <a:rPr kumimoji="1" lang="zh-CN" altLang="en-US" dirty="0"/>
              <a:t>设置 </a:t>
            </a:r>
            <a:r>
              <a:rPr kumimoji="1" lang="en" altLang="zh-CN" dirty="0"/>
              <a:t>Force</a:t>
            </a:r>
            <a:r>
              <a:rPr kumimoji="1" lang="zh-CN" altLang="en" dirty="0"/>
              <a:t>（</a:t>
            </a:r>
            <a:r>
              <a:rPr kumimoji="1" lang="zh-CN" altLang="en-US" dirty="0"/>
              <a:t>力量）、相对力量（</a:t>
            </a:r>
            <a:r>
              <a:rPr kumimoji="1" lang="en" altLang="zh-CN" dirty="0"/>
              <a:t>Relative Force</a:t>
            </a:r>
            <a:r>
              <a:rPr kumimoji="1" lang="zh-CN" altLang="en" dirty="0"/>
              <a:t>）、</a:t>
            </a:r>
            <a:r>
              <a:rPr kumimoji="1" lang="zh-CN" altLang="en-US" dirty="0"/>
              <a:t>力矩（</a:t>
            </a:r>
            <a:r>
              <a:rPr kumimoji="1" lang="en" altLang="zh-CN" dirty="0"/>
              <a:t>Torque</a:t>
            </a:r>
            <a:r>
              <a:rPr kumimoji="1" lang="zh-CN" altLang="en" dirty="0"/>
              <a:t>）</a:t>
            </a:r>
            <a:r>
              <a:rPr kumimoji="1" lang="zh-CN" altLang="en-US" dirty="0"/>
              <a:t>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C5A22B-D01F-6BE1-52BB-598EF92E6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21" y="5573893"/>
            <a:ext cx="3270250" cy="8870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B09B98-AB9D-AE3C-22CF-9BCE420D0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21" y="3865403"/>
            <a:ext cx="3252769" cy="113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5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52B52-F669-1F4F-1514-3B5162EA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6.3.11</a:t>
            </a:r>
            <a:r>
              <a:rPr kumimoji="1" lang="zh-CN" altLang="en-US" dirty="0"/>
              <a:t> 计算区域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00B419-2B77-895B-21A8-C50FE183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kumimoji="1" lang="zh-CN" altLang="en-US" dirty="0"/>
              <a:t>不依赖物理引擎，手动计算区域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FCDEC6-45BB-FB91-7B1A-BC3005E888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68" y="2993188"/>
            <a:ext cx="3157130" cy="253655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CA10A55-0EE7-BFA6-FC3D-17F19EF420CA}"/>
              </a:ext>
            </a:extLst>
          </p:cNvPr>
          <p:cNvSpPr txBox="1"/>
          <p:nvPr/>
        </p:nvSpPr>
        <p:spPr>
          <a:xfrm>
            <a:off x="4340633" y="2871268"/>
            <a:ext cx="737734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private void Update()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	Vector3 min = </a:t>
            </a:r>
            <a:r>
              <a:rPr kumimoji="1" lang="en" altLang="zh-CN" dirty="0" err="1"/>
              <a:t>heroRenderer.bounds.min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	Vector3 max = </a:t>
            </a:r>
            <a:r>
              <a:rPr kumimoji="1" lang="en" altLang="zh-CN" dirty="0" err="1"/>
              <a:t>heroRenderer.bounds.max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	//</a:t>
            </a:r>
            <a:r>
              <a:rPr kumimoji="1" lang="zh-CN" altLang="en-US" dirty="0"/>
              <a:t>绘制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个点的连线</a:t>
            </a:r>
          </a:p>
          <a:p>
            <a:r>
              <a:rPr kumimoji="1" lang="zh-CN" altLang="en-US" dirty="0"/>
              <a:t>	</a:t>
            </a:r>
            <a:r>
              <a:rPr kumimoji="1" lang="en" altLang="zh-CN" dirty="0" err="1"/>
              <a:t>Debug.DrawLine</a:t>
            </a:r>
            <a:r>
              <a:rPr kumimoji="1" lang="en" altLang="zh-CN" dirty="0"/>
              <a:t>(min, new Vector3(max.x,min.y,0f),</a:t>
            </a:r>
            <a:r>
              <a:rPr kumimoji="1" lang="en" altLang="zh-CN" dirty="0" err="1"/>
              <a:t>Color.red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Debug.DrawLine</a:t>
            </a:r>
            <a:r>
              <a:rPr kumimoji="1" lang="en" altLang="zh-CN" dirty="0"/>
              <a:t>(new Vector3(</a:t>
            </a:r>
            <a:r>
              <a:rPr kumimoji="1" lang="en" altLang="zh-CN" dirty="0" err="1"/>
              <a:t>max.x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min.y</a:t>
            </a:r>
            <a:r>
              <a:rPr kumimoji="1" lang="en" altLang="zh-CN" dirty="0"/>
              <a:t>, 0f), max, </a:t>
            </a:r>
            <a:r>
              <a:rPr kumimoji="1" lang="en" altLang="zh-CN" dirty="0" err="1"/>
              <a:t>Color.red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Debug.DrawLine</a:t>
            </a:r>
            <a:r>
              <a:rPr kumimoji="1" lang="en" altLang="zh-CN" dirty="0"/>
              <a:t>(max, new Vector3(</a:t>
            </a:r>
            <a:r>
              <a:rPr kumimoji="1" lang="en" altLang="zh-CN" dirty="0" err="1"/>
              <a:t>min.x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max.y</a:t>
            </a:r>
            <a:r>
              <a:rPr kumimoji="1" lang="en" altLang="zh-CN" dirty="0"/>
              <a:t>, 0f), </a:t>
            </a:r>
            <a:r>
              <a:rPr kumimoji="1" lang="en" altLang="zh-CN" dirty="0" err="1"/>
              <a:t>Color.red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Debug.DrawLine</a:t>
            </a:r>
            <a:r>
              <a:rPr kumimoji="1" lang="en" altLang="zh-CN" dirty="0"/>
              <a:t>(new Vector3(</a:t>
            </a:r>
            <a:r>
              <a:rPr kumimoji="1" lang="en" altLang="zh-CN" dirty="0" err="1"/>
              <a:t>min.x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max.y</a:t>
            </a:r>
            <a:r>
              <a:rPr kumimoji="1" lang="en" altLang="zh-CN" dirty="0"/>
              <a:t>, 0f),min, </a:t>
            </a:r>
            <a:r>
              <a:rPr kumimoji="1" lang="en" altLang="zh-CN" dirty="0" err="1"/>
              <a:t>Color.red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endParaRPr kumimoji="1"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813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D220F-D6F2-A79A-70C0-F7170D57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6.4</a:t>
            </a:r>
            <a:r>
              <a:rPr kumimoji="1" lang="zh-CN" altLang="en-US" dirty="0"/>
              <a:t> 像素风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58EA9-1CE4-38B9-3A7D-C7FE85D25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248501"/>
          </a:xfrm>
        </p:spPr>
        <p:txBody>
          <a:bodyPr/>
          <a:lstStyle/>
          <a:p>
            <a:r>
              <a:rPr kumimoji="1" lang="zh-CN" altLang="en-US" dirty="0"/>
              <a:t>早期红白机像素风游戏</a:t>
            </a:r>
            <a:endParaRPr kumimoji="1" lang="en-US" altLang="zh-CN" dirty="0"/>
          </a:p>
          <a:p>
            <a:r>
              <a:rPr kumimoji="1" lang="zh-CN" altLang="en-US" dirty="0"/>
              <a:t>分辨率动态调整，保持清晰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B99717-A389-3D54-AB88-FDE38E564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23" y="3310028"/>
            <a:ext cx="5312940" cy="32910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15FCBD3-5E24-0F2A-7905-AD529D979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939" y="3310028"/>
            <a:ext cx="1601470" cy="283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2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9DCE7-6D62-4680-3278-60758E87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6.5</a:t>
            </a:r>
            <a:r>
              <a:rPr kumimoji="1" lang="zh-CN" altLang="en-US" dirty="0"/>
              <a:t> 精灵形状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A381A-75FC-DE26-79FF-9BF2314CB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10055"/>
          </a:xfrm>
        </p:spPr>
        <p:txBody>
          <a:bodyPr/>
          <a:lstStyle/>
          <a:p>
            <a:r>
              <a:rPr kumimoji="1" lang="zh-CN" altLang="en-US" dirty="0"/>
              <a:t>编辑显示形状，按照一定角度方向填充</a:t>
            </a:r>
            <a:endParaRPr kumimoji="1" lang="en-US" altLang="zh-CN" dirty="0"/>
          </a:p>
          <a:p>
            <a:r>
              <a:rPr kumimoji="1" lang="zh-CN" altLang="en-US" dirty="0"/>
              <a:t>添加节点、编辑已有节点拉伸形状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2726DE-F69F-BA09-E440-5022BB4C8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50" y="3809909"/>
            <a:ext cx="5274310" cy="25996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37D9D1B-C01E-7AE0-E34F-93EA34944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902" y="3809909"/>
            <a:ext cx="322199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66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08947-6B3A-62C9-73B1-00A76B01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6.6</a:t>
            </a:r>
            <a:r>
              <a:rPr kumimoji="1" lang="zh-CN" altLang="en-US" dirty="0"/>
              <a:t> 精灵编辑器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FE30E2-6CF5-5376-47A3-F664EEE1E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Sprite Editor</a:t>
            </a:r>
            <a:r>
              <a:rPr kumimoji="1" lang="zh-CN" altLang="en" dirty="0"/>
              <a:t>（</a:t>
            </a:r>
            <a:r>
              <a:rPr kumimoji="1" lang="zh-CN" altLang="en-US" dirty="0"/>
              <a:t>精灵编辑器）</a:t>
            </a:r>
          </a:p>
          <a:p>
            <a:r>
              <a:rPr kumimoji="1" lang="en" altLang="zh-CN" dirty="0"/>
              <a:t>Custom Outline</a:t>
            </a:r>
            <a:r>
              <a:rPr kumimoji="1" lang="zh-CN" altLang="en" dirty="0"/>
              <a:t>（</a:t>
            </a:r>
            <a:r>
              <a:rPr kumimoji="1" lang="zh-CN" altLang="en-US" dirty="0"/>
              <a:t>自定义轮廓）</a:t>
            </a:r>
          </a:p>
          <a:p>
            <a:r>
              <a:rPr kumimoji="1" lang="en" altLang="zh-CN" dirty="0"/>
              <a:t>Custom Physics Shape</a:t>
            </a:r>
            <a:r>
              <a:rPr kumimoji="1" lang="zh-CN" altLang="en" dirty="0"/>
              <a:t>（</a:t>
            </a:r>
            <a:r>
              <a:rPr kumimoji="1" lang="zh-CN" altLang="en-US" dirty="0"/>
              <a:t>自定义物理区域）</a:t>
            </a:r>
          </a:p>
          <a:p>
            <a:r>
              <a:rPr kumimoji="1" lang="en" altLang="zh-CN" dirty="0"/>
              <a:t>Secondary Textures</a:t>
            </a:r>
            <a:r>
              <a:rPr kumimoji="1" lang="zh-CN" altLang="en" dirty="0"/>
              <a:t>（</a:t>
            </a:r>
            <a:r>
              <a:rPr kumimoji="1" lang="zh-CN" altLang="en-US" dirty="0"/>
              <a:t>次要纹理）</a:t>
            </a:r>
          </a:p>
          <a:p>
            <a:r>
              <a:rPr kumimoji="1" lang="en" altLang="zh-CN" dirty="0"/>
              <a:t>Skinning Editor</a:t>
            </a:r>
            <a:r>
              <a:rPr kumimoji="1" lang="zh-CN" altLang="en" dirty="0"/>
              <a:t>（</a:t>
            </a:r>
            <a:r>
              <a:rPr kumimoji="1" lang="zh-CN" altLang="en-US" dirty="0"/>
              <a:t>蒙皮编辑器）</a:t>
            </a:r>
          </a:p>
        </p:txBody>
      </p:sp>
    </p:spTree>
    <p:extLst>
      <p:ext uri="{BB962C8B-B14F-4D97-AF65-F5344CB8AC3E}">
        <p14:creationId xmlns:p14="http://schemas.microsoft.com/office/powerpoint/2010/main" val="683630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1410</Words>
  <Application>Microsoft Macintosh PowerPoint</Application>
  <PresentationFormat>宽屏</PresentationFormat>
  <Paragraphs>172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等线</vt:lpstr>
      <vt:lpstr>等线 Light</vt:lpstr>
      <vt:lpstr>Arial</vt:lpstr>
      <vt:lpstr>Office 主题​​</vt:lpstr>
      <vt:lpstr>Unity3D游戏开发第三版</vt:lpstr>
      <vt:lpstr>第6章 2D游戏开发</vt:lpstr>
      <vt:lpstr>6.1 Sprite Renderer组件</vt:lpstr>
      <vt:lpstr>6.1.1 渲染原理</vt:lpstr>
      <vt:lpstr>6.1.2 渲染排序</vt:lpstr>
      <vt:lpstr>6.1.3 裁剪</vt:lpstr>
      <vt:lpstr>6.1.4 2D帧动画</vt:lpstr>
      <vt:lpstr>6.1.5 脚本播放动画</vt:lpstr>
      <vt:lpstr>6.1.6 2D骨骼动画</vt:lpstr>
      <vt:lpstr>6.1.7 IK 反向动力学</vt:lpstr>
      <vt:lpstr>6.1.8 精灵资源库</vt:lpstr>
      <vt:lpstr>6.2 Tile地图</vt:lpstr>
      <vt:lpstr>6.2.2 创建地图</vt:lpstr>
      <vt:lpstr>6.2.3 编辑Tile</vt:lpstr>
      <vt:lpstr>6.2.4 Tile排序</vt:lpstr>
      <vt:lpstr>6.2.5 扩展笔刷</vt:lpstr>
      <vt:lpstr>6.2.6 扩展Tile</vt:lpstr>
      <vt:lpstr>6.2.7 更新Tile</vt:lpstr>
      <vt:lpstr>6.2.8 Tile动画</vt:lpstr>
      <vt:lpstr>6.3 2D物理系统</vt:lpstr>
      <vt:lpstr>6.3.1 Collider 2D组件</vt:lpstr>
      <vt:lpstr>6.3.2 Rigidbody2D组件</vt:lpstr>
      <vt:lpstr>6.3.3 碰撞事件</vt:lpstr>
      <vt:lpstr>6.3.4 碰撞方向</vt:lpstr>
      <vt:lpstr>6.3.5 触发器监听</vt:lpstr>
      <vt:lpstr>6.3.6 复合碰撞体</vt:lpstr>
      <vt:lpstr>6.3.7 自定义碰撞体</vt:lpstr>
      <vt:lpstr>6.3.8 Effectors 2D组件</vt:lpstr>
      <vt:lpstr>6.3.9 关节</vt:lpstr>
      <vt:lpstr>6.3.10 物理材质和恒定力</vt:lpstr>
      <vt:lpstr>6.3.11 计算区域</vt:lpstr>
      <vt:lpstr>6.4 像素风</vt:lpstr>
      <vt:lpstr>6.5 精灵形状</vt:lpstr>
      <vt:lpstr>6.6 精灵编辑器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Unity3D游戏开发第三版</dc:title>
  <dc:creator>雨松momo</dc:creator>
  <cp:lastModifiedBy>雨松momo</cp:lastModifiedBy>
  <cp:revision>5</cp:revision>
  <dcterms:created xsi:type="dcterms:W3CDTF">2023-10-28T13:39:13Z</dcterms:created>
  <dcterms:modified xsi:type="dcterms:W3CDTF">2023-10-28T15:03:03Z</dcterms:modified>
</cp:coreProperties>
</file>