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C5BD0F-CF29-08A6-816E-EDDE8BCD12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FD28489-96E6-BF43-6EFD-CF486A97E3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87FF02-DEA9-0422-3890-21EB9AAF4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F90D5-89D6-2B46-9E86-E9EF5BB6288D}" type="datetimeFigureOut">
              <a:rPr kumimoji="1" lang="zh-CN" altLang="en-US" smtClean="0"/>
              <a:t>2023/10/22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23C0C0-BFC7-03D4-DC49-9C940D05F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69BEA6-AE44-8399-141E-EC0D027A5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F7658-2374-A342-A3A5-A0F4A704E6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7544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E76921-2898-8D81-A82A-21BED1896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C9CB46-B375-623B-217D-F69991BDB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015C27-A04A-DA0B-CE15-0EF244EFD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F90D5-89D6-2B46-9E86-E9EF5BB6288D}" type="datetimeFigureOut">
              <a:rPr kumimoji="1" lang="zh-CN" altLang="en-US" smtClean="0"/>
              <a:t>2023/10/22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31F893-8F27-B05C-04E6-25B12EE69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0E8B0A-79A9-46E8-1657-739C308DB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F7658-2374-A342-A3A5-A0F4A704E6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7429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791B9-37F8-2898-3ABE-001A7A721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06011A-889A-F101-043E-706D709C8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1247AA-1A1B-2160-535A-E8B2D8F35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F90D5-89D6-2B46-9E86-E9EF5BB6288D}" type="datetimeFigureOut">
              <a:rPr kumimoji="1" lang="zh-CN" altLang="en-US" smtClean="0"/>
              <a:t>2023/10/22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5EE902-CB45-78B4-91DD-52CAC0B11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1F5386-7470-7469-A9D5-480C849AE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F7658-2374-A342-A3A5-A0F4A704E6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77592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93DF27-C654-6961-22F9-B413FE35C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3AAB50-1A6C-7208-156D-9B32CC945E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C7FECCE-5F7F-0491-FA69-C48F51EB79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7774633-3988-F813-D251-9A5D3C8E9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F90D5-89D6-2B46-9E86-E9EF5BB6288D}" type="datetimeFigureOut">
              <a:rPr kumimoji="1" lang="zh-CN" altLang="en-US" smtClean="0"/>
              <a:t>2023/10/22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0A1FEC6-577F-FEF3-DB7E-EAEBBFFB6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AB9CFF-3F4A-6901-2735-06EF3387E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F7658-2374-A342-A3A5-A0F4A704E6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4148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3B0189-807F-C25C-F601-2173AA842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C533F5-F8E4-1901-C169-3518008ED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7E4CF8-BA8E-7F9E-78E9-A1447451AF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15D3CA9-16E6-0B45-9CF5-271A584C54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02E642D-E6B5-B7C9-1473-37043D4E0C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D8DAB1D-3B80-3837-AF61-D4D9BD025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F90D5-89D6-2B46-9E86-E9EF5BB6288D}" type="datetimeFigureOut">
              <a:rPr kumimoji="1" lang="zh-CN" altLang="en-US" smtClean="0"/>
              <a:t>2023/10/22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B4D69A8-2058-5AA5-3937-4E382A67D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CF1B23F-603F-1394-93E1-CC4E9CBF0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F7658-2374-A342-A3A5-A0F4A704E6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7608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98BB0C-A10A-2F54-0A45-A1D38CD7A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EF6E582-C644-D772-4482-2C8E5CEEB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F90D5-89D6-2B46-9E86-E9EF5BB6288D}" type="datetimeFigureOut">
              <a:rPr kumimoji="1" lang="zh-CN" altLang="en-US" smtClean="0"/>
              <a:t>2023/10/22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E7184A9-68C9-CC9D-D018-0B36EE214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38A4250-F97B-2F7B-48B0-E7C12E0ED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F7658-2374-A342-A3A5-A0F4A704E6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14035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711DA2E-E8BF-4B03-C240-F6FCE7A45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F90D5-89D6-2B46-9E86-E9EF5BB6288D}" type="datetimeFigureOut">
              <a:rPr kumimoji="1" lang="zh-CN" altLang="en-US" smtClean="0"/>
              <a:t>2023/10/22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B26F8C2-7200-E3A9-4552-0083C84A8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C408FE-7546-0AEF-9CB7-21D9FEE76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F7658-2374-A342-A3A5-A0F4A704E6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94729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77BF25-2A99-D160-EECF-53C1592DC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AA067D-67FF-469A-BBBA-88FA88B15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255CA40-8B1F-476A-CD13-102E5DA8FD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E48246-3573-E579-2CC5-15EBAF501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F90D5-89D6-2B46-9E86-E9EF5BB6288D}" type="datetimeFigureOut">
              <a:rPr kumimoji="1" lang="zh-CN" altLang="en-US" smtClean="0"/>
              <a:t>2023/10/22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17E88D-4A56-D5D6-B30F-7B84B6BC4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EA3564-C9F2-8AB8-B387-03F15A84E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F7658-2374-A342-A3A5-A0F4A704E6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00336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806099-EF7D-F74F-4613-CECC75B5B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51B0432-87D7-C61B-F2ED-157DDEB5CC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F2A3A2C-EED6-041F-F7B2-5F535FABBB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D1B29F-5705-1F4A-818D-567D0E5FD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F90D5-89D6-2B46-9E86-E9EF5BB6288D}" type="datetimeFigureOut">
              <a:rPr kumimoji="1" lang="zh-CN" altLang="en-US" smtClean="0"/>
              <a:t>2023/10/22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52475C-CBF5-40C5-86EF-05BD2C198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39FDE4-8132-A672-9211-8FE6349FB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F7658-2374-A342-A3A5-A0F4A704E6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91960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3261B2-DD16-E986-032A-BEB452E11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9212E3F-FB00-DCA9-7B32-36A79236A2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20468A-C7B6-32FA-BB24-B60684994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F90D5-89D6-2B46-9E86-E9EF5BB6288D}" type="datetimeFigureOut">
              <a:rPr kumimoji="1" lang="zh-CN" altLang="en-US" smtClean="0"/>
              <a:t>2023/10/22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C1BA31-8015-5980-A05D-2B45E52CC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7CCD5C-8684-49BD-21A0-A13295573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F7658-2374-A342-A3A5-A0F4A704E6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88483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F12601A-C044-272B-9001-76145F3991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1895E03-9B5D-64AD-F800-E9EF0B9F3D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30F177-05CD-E95E-6880-3F14B8EBF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F90D5-89D6-2B46-9E86-E9EF5BB6288D}" type="datetimeFigureOut">
              <a:rPr kumimoji="1" lang="zh-CN" altLang="en-US" smtClean="0"/>
              <a:t>2023/10/22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3C9F31-1672-18F3-288F-991F3BA62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AEE9CC-F704-902F-4847-AA6A44B6B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F7658-2374-A342-A3A5-A0F4A704E6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5165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792B045-784A-46ED-EA31-C537E25F9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AAB256-6487-1E9B-5D37-B7F9B50116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C0B21A-EB59-E416-C177-CED2C47A6F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1F90D5-89D6-2B46-9E86-E9EF5BB6288D}" type="datetimeFigureOut">
              <a:rPr kumimoji="1" lang="zh-CN" altLang="en-US" smtClean="0"/>
              <a:t>2023/10/22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172A43-1287-C695-3791-612455E3E8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12CD89-20AD-B64A-6166-D876E1E0B5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F7658-2374-A342-A3A5-A0F4A704E6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32145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1B3DB9-279D-9CFD-9603-CEF4D7C4F5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/>
              <a:t>Unity3D</a:t>
            </a:r>
            <a:r>
              <a:rPr kumimoji="1" lang="zh-CN" altLang="en-US" dirty="0"/>
              <a:t>游戏开发第三版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1AFA080-6E38-FE71-036F-993147275D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CN" altLang="en-US" dirty="0"/>
              <a:t>第五章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77941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3440D2-7B8D-2FBD-B731-B4E05DCAC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</a:t>
            </a:r>
            <a:r>
              <a:rPr kumimoji="1" lang="en-US" altLang="zh-CN" dirty="0"/>
              <a:t>5</a:t>
            </a:r>
            <a:r>
              <a:rPr kumimoji="1" lang="zh-CN" altLang="en-US" dirty="0"/>
              <a:t>章 </a:t>
            </a:r>
            <a:r>
              <a:rPr kumimoji="1" lang="en-US" altLang="zh-CN" dirty="0"/>
              <a:t>UI</a:t>
            </a:r>
            <a:r>
              <a:rPr kumimoji="1" lang="zh-CN" altLang="en-US" dirty="0"/>
              <a:t> </a:t>
            </a:r>
            <a:r>
              <a:rPr kumimoji="1" lang="en-US" altLang="zh-CN" dirty="0"/>
              <a:t>Toolkit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174E86-0453-EE33-D4EE-B1EF21B9B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5.1 UI Toolkit</a:t>
            </a:r>
            <a:r>
              <a:rPr kumimoji="1" lang="zh-CN" altLang="en-US" dirty="0"/>
              <a:t>简介</a:t>
            </a:r>
            <a:endParaRPr kumimoji="1" lang="en-US" altLang="zh-CN" dirty="0"/>
          </a:p>
          <a:p>
            <a:r>
              <a:rPr kumimoji="1" lang="en-US" altLang="zh-CN" dirty="0"/>
              <a:t>5.2 UI Builder</a:t>
            </a:r>
            <a:r>
              <a:rPr kumimoji="1" lang="zh-CN" altLang="en-US" dirty="0"/>
              <a:t>编辑器</a:t>
            </a:r>
            <a:endParaRPr kumimoji="1" lang="en-US" altLang="zh-CN" dirty="0"/>
          </a:p>
          <a:p>
            <a:r>
              <a:rPr kumimoji="1" lang="en-US" altLang="zh-CN" dirty="0"/>
              <a:t>5.3</a:t>
            </a:r>
            <a:r>
              <a:rPr kumimoji="1" lang="zh-CN" altLang="en-US" dirty="0"/>
              <a:t> </a:t>
            </a:r>
            <a:r>
              <a:rPr kumimoji="1" lang="en-US" altLang="zh-CN" dirty="0"/>
              <a:t>UI</a:t>
            </a:r>
            <a:r>
              <a:rPr kumimoji="1" lang="zh-CN" altLang="en-US" dirty="0"/>
              <a:t>组件</a:t>
            </a:r>
            <a:endParaRPr kumimoji="1" lang="en-US" altLang="zh-CN" dirty="0"/>
          </a:p>
          <a:p>
            <a:r>
              <a:rPr kumimoji="1" lang="en-US" altLang="zh-CN" dirty="0"/>
              <a:t>5.4</a:t>
            </a:r>
            <a:r>
              <a:rPr kumimoji="1" lang="zh-CN" altLang="en-US" dirty="0"/>
              <a:t> 事件系统</a:t>
            </a:r>
            <a:endParaRPr kumimoji="1" lang="en-US" altLang="zh-CN" dirty="0"/>
          </a:p>
          <a:p>
            <a:r>
              <a:rPr kumimoji="1" lang="en-US" altLang="zh-CN" dirty="0"/>
              <a:t>5.5</a:t>
            </a:r>
            <a:r>
              <a:rPr kumimoji="1" lang="zh-CN" altLang="en-US" dirty="0"/>
              <a:t> 进阶技巧</a:t>
            </a:r>
            <a:endParaRPr kumimoji="1" lang="en-US" altLang="zh-CN" dirty="0"/>
          </a:p>
          <a:p>
            <a:r>
              <a:rPr kumimoji="1" lang="en-US" altLang="zh-CN" dirty="0"/>
              <a:t>5.6</a:t>
            </a:r>
            <a:r>
              <a:rPr kumimoji="1" lang="zh-CN" altLang="en-US" dirty="0"/>
              <a:t> </a:t>
            </a:r>
            <a:r>
              <a:rPr kumimoji="1" lang="en-US" altLang="zh-CN" dirty="0"/>
              <a:t>UI Toolkit</a:t>
            </a:r>
            <a:r>
              <a:rPr kumimoji="1" lang="zh-CN" altLang="en-US" dirty="0"/>
              <a:t>渲染</a:t>
            </a:r>
            <a:endParaRPr kumimoji="1" lang="en-US" altLang="zh-CN" dirty="0"/>
          </a:p>
          <a:p>
            <a:r>
              <a:rPr kumimoji="1" lang="en-US" altLang="zh-CN" dirty="0"/>
              <a:t>5.7</a:t>
            </a:r>
            <a:r>
              <a:rPr kumimoji="1" lang="zh-CN" altLang="en-US" dirty="0"/>
              <a:t> </a:t>
            </a:r>
            <a:r>
              <a:rPr kumimoji="1" lang="en-US" altLang="zh-CN" dirty="0"/>
              <a:t>UI Toolkit</a:t>
            </a:r>
            <a:r>
              <a:rPr kumimoji="1" lang="zh-CN" altLang="en-US" dirty="0"/>
              <a:t>学习资料</a:t>
            </a:r>
          </a:p>
        </p:txBody>
      </p:sp>
    </p:spTree>
    <p:extLst>
      <p:ext uri="{BB962C8B-B14F-4D97-AF65-F5344CB8AC3E}">
        <p14:creationId xmlns:p14="http://schemas.microsoft.com/office/powerpoint/2010/main" val="95268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B62B9-83CF-9DB4-B851-DCAC64D83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5.1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UIToolkit</a:t>
            </a:r>
            <a:r>
              <a:rPr kumimoji="1" lang="zh-CN" altLang="en-US" dirty="0"/>
              <a:t>简介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01378B-BE3E-5BA4-E00D-67743E60C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前身</a:t>
            </a:r>
            <a:r>
              <a:rPr kumimoji="1" lang="en-US" altLang="zh-CN" dirty="0" err="1"/>
              <a:t>UIElement</a:t>
            </a:r>
            <a:r>
              <a:rPr kumimoji="1" lang="zh-CN" altLang="en-US" dirty="0"/>
              <a:t>仅支持编辑模式下</a:t>
            </a:r>
            <a:r>
              <a:rPr kumimoji="1" lang="en-US" altLang="zh-CN" dirty="0"/>
              <a:t>UI</a:t>
            </a:r>
          </a:p>
          <a:p>
            <a:r>
              <a:rPr kumimoji="1" lang="en-US" altLang="zh-CN" dirty="0"/>
              <a:t>Unity2019</a:t>
            </a:r>
            <a:r>
              <a:rPr kumimoji="1" lang="zh-CN" altLang="en-US" dirty="0"/>
              <a:t>后改成</a:t>
            </a:r>
            <a:r>
              <a:rPr kumimoji="1" lang="en-US" altLang="zh-CN" dirty="0" err="1"/>
              <a:t>UIToolkit</a:t>
            </a:r>
            <a:r>
              <a:rPr kumimoji="1" lang="zh-CN" altLang="en-US" dirty="0"/>
              <a:t>并且支持运行时</a:t>
            </a:r>
            <a:r>
              <a:rPr kumimoji="1" lang="en-US" altLang="zh-CN" dirty="0"/>
              <a:t>UI</a:t>
            </a:r>
          </a:p>
          <a:p>
            <a:r>
              <a:rPr kumimoji="1" lang="zh-CN" altLang="en-US" dirty="0"/>
              <a:t>基于</a:t>
            </a:r>
            <a:r>
              <a:rPr kumimoji="1" lang="en-US" altLang="zh-CN" dirty="0"/>
              <a:t>XMAL</a:t>
            </a:r>
            <a:r>
              <a:rPr kumimoji="1" lang="zh-CN" altLang="en-US" dirty="0"/>
              <a:t>和</a:t>
            </a:r>
            <a:r>
              <a:rPr kumimoji="1" lang="en-US" altLang="zh-CN" dirty="0"/>
              <a:t>CSS</a:t>
            </a:r>
            <a:r>
              <a:rPr kumimoji="1" lang="zh-CN" altLang="en-US" dirty="0"/>
              <a:t>制作方法</a:t>
            </a:r>
            <a:endParaRPr kumimoji="1" lang="en-US" altLang="zh-CN" dirty="0"/>
          </a:p>
          <a:p>
            <a:r>
              <a:rPr kumimoji="1" lang="en-US" altLang="zh-CN" dirty="0"/>
              <a:t>Unity2021.2</a:t>
            </a:r>
            <a:r>
              <a:rPr kumimoji="1" lang="zh-CN" altLang="en-US" dirty="0"/>
              <a:t>内置到引擎中（非</a:t>
            </a:r>
            <a:r>
              <a:rPr kumimoji="1" lang="en-US" altLang="zh-CN" dirty="0"/>
              <a:t>Package</a:t>
            </a:r>
            <a:r>
              <a:rPr kumimoji="1" lang="zh-CN" altLang="en-US" dirty="0"/>
              <a:t>包）</a:t>
            </a:r>
          </a:p>
        </p:txBody>
      </p:sp>
    </p:spTree>
    <p:extLst>
      <p:ext uri="{BB962C8B-B14F-4D97-AF65-F5344CB8AC3E}">
        <p14:creationId xmlns:p14="http://schemas.microsoft.com/office/powerpoint/2010/main" val="4046841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A2989E-06A2-3478-745A-D534518D6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5.2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UIBuilder</a:t>
            </a:r>
            <a:r>
              <a:rPr kumimoji="1" lang="zh-CN" altLang="en-US" dirty="0"/>
              <a:t>编辑器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95F94F-4C75-2035-F0E0-8F2CADDC2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919" y="1447252"/>
            <a:ext cx="4912765" cy="4764361"/>
          </a:xfrm>
        </p:spPr>
        <p:txBody>
          <a:bodyPr>
            <a:normAutofit/>
          </a:bodyPr>
          <a:lstStyle/>
          <a:p>
            <a:r>
              <a:rPr kumimoji="1" lang="zh-CN" altLang="en-US" sz="2000" dirty="0"/>
              <a:t>拖拽</a:t>
            </a:r>
            <a:r>
              <a:rPr kumimoji="1" lang="en-US" altLang="zh-CN" sz="2000" dirty="0"/>
              <a:t>UI</a:t>
            </a:r>
            <a:r>
              <a:rPr kumimoji="1" lang="zh-CN" altLang="en-US" sz="2000" dirty="0"/>
              <a:t>控件制作界面</a:t>
            </a:r>
            <a:endParaRPr kumimoji="1" lang="en-US" altLang="zh-CN" sz="2000" dirty="0"/>
          </a:p>
          <a:p>
            <a:pPr algn="just"/>
            <a:r>
              <a:rPr lang="en-US" altLang="zh-CN" sz="20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StyleSheets</a:t>
            </a:r>
            <a:r>
              <a:rPr lang="zh-CN" altLang="zh-CN" sz="20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：创建</a:t>
            </a:r>
            <a:r>
              <a:rPr lang="en-US" altLang="zh-CN" sz="20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USS</a:t>
            </a:r>
            <a:r>
              <a:rPr lang="zh-CN" altLang="zh-CN" sz="20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文件和选择器，</a:t>
            </a:r>
            <a:r>
              <a:rPr lang="en-US" altLang="zh-CN" sz="20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UI</a:t>
            </a:r>
            <a:r>
              <a:rPr lang="zh-CN" altLang="zh-CN" sz="20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元素通用样式和特殊样式都可以在这里配置</a:t>
            </a:r>
          </a:p>
          <a:p>
            <a:pPr algn="just"/>
            <a:r>
              <a:rPr lang="en-US" altLang="zh-CN" sz="20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Hierarchy</a:t>
            </a:r>
            <a:r>
              <a:rPr lang="zh-CN" altLang="zh-CN" sz="20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：层级视图，展示布局界面的父子层级结构以及渲染顺序。</a:t>
            </a:r>
          </a:p>
          <a:p>
            <a:pPr algn="just"/>
            <a:r>
              <a:rPr lang="en-US" altLang="zh-CN" sz="20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Library</a:t>
            </a:r>
            <a:r>
              <a:rPr lang="zh-CN" altLang="zh-CN" sz="20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：组件库，包括所有内置的</a:t>
            </a:r>
            <a:r>
              <a:rPr lang="en-US" altLang="zh-CN" sz="20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UI</a:t>
            </a:r>
            <a:r>
              <a:rPr lang="zh-CN" altLang="zh-CN" sz="20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组件以及</a:t>
            </a:r>
            <a:r>
              <a:rPr lang="en-US" altLang="zh-CN" sz="20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Editor</a:t>
            </a:r>
            <a:r>
              <a:rPr lang="zh-CN" altLang="zh-CN" sz="20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内置组件，也可以自由拓展</a:t>
            </a:r>
          </a:p>
          <a:p>
            <a:pPr algn="just"/>
            <a:r>
              <a:rPr lang="en-US" altLang="zh-CN" sz="20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Viewport</a:t>
            </a:r>
            <a:r>
              <a:rPr lang="zh-CN" altLang="zh-CN" sz="20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：视图预览窗口，预览游戏界面结果。</a:t>
            </a:r>
          </a:p>
          <a:p>
            <a:pPr algn="just"/>
            <a:r>
              <a:rPr lang="en-US" altLang="zh-CN" sz="20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UXML USS Preview</a:t>
            </a:r>
            <a:r>
              <a:rPr lang="zh-CN" altLang="zh-CN" sz="20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：查看具体</a:t>
            </a:r>
            <a:r>
              <a:rPr lang="en-US" altLang="zh-CN" sz="20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UXML</a:t>
            </a:r>
            <a:r>
              <a:rPr lang="zh-CN" altLang="zh-CN" sz="20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0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USS</a:t>
            </a:r>
            <a:r>
              <a:rPr lang="zh-CN" altLang="zh-CN" sz="20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的具体代码内容</a:t>
            </a:r>
          </a:p>
          <a:p>
            <a:pPr algn="just"/>
            <a:r>
              <a:rPr lang="en-US" altLang="zh-CN" sz="20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Inspector</a:t>
            </a:r>
            <a:r>
              <a:rPr lang="zh-CN" altLang="zh-CN" sz="20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：检查面板视图，用于显示每个</a:t>
            </a:r>
            <a:r>
              <a:rPr lang="en-US" altLang="zh-CN" sz="20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UI</a:t>
            </a:r>
            <a:r>
              <a:rPr lang="zh-CN" altLang="zh-CN" sz="20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组件的具体信息</a:t>
            </a:r>
          </a:p>
          <a:p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EED4D87-C9E5-F9D8-2FFF-6A6F283DC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820" y="1323657"/>
            <a:ext cx="5905116" cy="5169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755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5788A3-BAAB-3B64-832F-B7FD4414E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5.2.1</a:t>
            </a:r>
            <a:r>
              <a:rPr kumimoji="1" lang="zh-CN" altLang="en-US" dirty="0"/>
              <a:t> </a:t>
            </a:r>
            <a:r>
              <a:rPr kumimoji="1" lang="en-US" altLang="zh-CN" dirty="0"/>
              <a:t>Style Sheet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E95D53-F75B-C00F-C746-EC8C066C9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753157" cy="4351338"/>
          </a:xfrm>
        </p:spPr>
        <p:txBody>
          <a:bodyPr/>
          <a:lstStyle/>
          <a:p>
            <a:r>
              <a:rPr kumimoji="1" lang="zh-CN" altLang="en-US" dirty="0"/>
              <a:t>创建</a:t>
            </a:r>
            <a:r>
              <a:rPr kumimoji="1" lang="en-US" altLang="zh-CN" dirty="0"/>
              <a:t>USS</a:t>
            </a:r>
            <a:r>
              <a:rPr kumimoji="1" lang="zh-CN" altLang="en-US" dirty="0"/>
              <a:t>文件</a:t>
            </a:r>
            <a:endParaRPr kumimoji="1" lang="en-US" altLang="zh-CN" dirty="0"/>
          </a:p>
          <a:p>
            <a:r>
              <a:rPr kumimoji="1" lang="zh-CN" altLang="en-US" dirty="0"/>
              <a:t>编辑样式</a:t>
            </a:r>
            <a:endParaRPr kumimoji="1" lang="en-US" altLang="zh-CN" dirty="0"/>
          </a:p>
          <a:p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163E954-0FDE-0690-A9C5-F83DAD275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7157" y="1458830"/>
            <a:ext cx="3237187" cy="529796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41CC913-32B8-F779-54AB-85636A233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2328" y="1458830"/>
            <a:ext cx="5009286" cy="4383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859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DA892A-F20A-F331-E573-57B79CEB3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5.2.2</a:t>
            </a:r>
            <a:r>
              <a:rPr kumimoji="1" lang="zh-CN" altLang="en-US" dirty="0"/>
              <a:t> </a:t>
            </a:r>
            <a:r>
              <a:rPr kumimoji="1" lang="en-US" altLang="zh-CN" dirty="0"/>
              <a:t>Hierarchy</a:t>
            </a:r>
            <a:r>
              <a:rPr kumimoji="1" lang="zh-CN" altLang="en-US" dirty="0"/>
              <a:t>视图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6ED4C7-BC7E-5134-24C4-37E25CC53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79428" cy="4351338"/>
          </a:xfrm>
        </p:spPr>
        <p:txBody>
          <a:bodyPr/>
          <a:lstStyle/>
          <a:p>
            <a:r>
              <a:rPr kumimoji="1" lang="zh-CN" altLang="en-US" dirty="0"/>
              <a:t>常见</a:t>
            </a:r>
            <a:r>
              <a:rPr kumimoji="1" lang="en-US" altLang="zh-CN" dirty="0"/>
              <a:t>UI</a:t>
            </a:r>
            <a:r>
              <a:rPr kumimoji="1" lang="zh-CN" altLang="en-US" dirty="0"/>
              <a:t>组件</a:t>
            </a:r>
            <a:endParaRPr kumimoji="1" lang="en-US" altLang="zh-CN" dirty="0"/>
          </a:p>
          <a:p>
            <a:r>
              <a:rPr kumimoji="1" lang="zh-CN" altLang="en-US" dirty="0"/>
              <a:t>拖拽编辑层次结构</a:t>
            </a:r>
            <a:endParaRPr kumimoji="1" lang="en-US" altLang="zh-CN" dirty="0"/>
          </a:p>
          <a:p>
            <a:r>
              <a:rPr kumimoji="1" lang="zh-CN" altLang="en-US" dirty="0"/>
              <a:t>类似</a:t>
            </a:r>
            <a:r>
              <a:rPr kumimoji="1" lang="en-US" altLang="zh-CN" dirty="0"/>
              <a:t>UGUI</a:t>
            </a:r>
            <a:r>
              <a:rPr kumimoji="1" lang="zh-CN" altLang="en-US" dirty="0"/>
              <a:t>的组合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CAEAC1E-C657-3E3E-11B4-30B642F00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304" y="1605181"/>
            <a:ext cx="5771386" cy="364763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D3803B9-68D6-60CA-5FC9-A726FCBD6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757544"/>
            <a:ext cx="5274310" cy="735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12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36A2F9-E56E-3E91-9E10-846CD143E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5.2.3</a:t>
            </a:r>
            <a:r>
              <a:rPr kumimoji="1" lang="zh-CN" altLang="en-US" dirty="0"/>
              <a:t> </a:t>
            </a:r>
            <a:r>
              <a:rPr kumimoji="1" lang="en-US" altLang="zh-CN" dirty="0"/>
              <a:t>Library</a:t>
            </a:r>
            <a:r>
              <a:rPr kumimoji="1" lang="zh-CN" altLang="en-US" dirty="0"/>
              <a:t>视图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2F8325-E112-A151-5E8D-FB5504D30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16062" cy="4351338"/>
          </a:xfrm>
        </p:spPr>
        <p:txBody>
          <a:bodyPr/>
          <a:lstStyle/>
          <a:p>
            <a:r>
              <a:rPr kumimoji="1" lang="zh-CN" altLang="en-US" dirty="0"/>
              <a:t>涵盖所有</a:t>
            </a:r>
            <a:r>
              <a:rPr kumimoji="1" lang="en-US" altLang="zh-CN" dirty="0"/>
              <a:t>UI</a:t>
            </a:r>
            <a:r>
              <a:rPr kumimoji="1" lang="zh-CN" altLang="en-US" dirty="0"/>
              <a:t>控件</a:t>
            </a:r>
            <a:endParaRPr kumimoji="1" lang="en-US" altLang="zh-CN" dirty="0"/>
          </a:p>
          <a:p>
            <a:r>
              <a:rPr kumimoji="1" lang="zh-CN" altLang="en-US" dirty="0"/>
              <a:t>直接拖入</a:t>
            </a:r>
            <a:r>
              <a:rPr kumimoji="1" lang="en-US" altLang="zh-CN" dirty="0"/>
              <a:t>Hierarchy</a:t>
            </a:r>
            <a:r>
              <a:rPr kumimoji="1" lang="zh-CN" altLang="en-US" dirty="0"/>
              <a:t>视图即可</a:t>
            </a:r>
            <a:endParaRPr kumimoji="1" lang="en-US" altLang="zh-CN" dirty="0"/>
          </a:p>
          <a:p>
            <a:r>
              <a:rPr kumimoji="1" lang="zh-CN" altLang="en-US" dirty="0"/>
              <a:t>支持自定义控件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A6C7DCF-80AC-626B-59C9-791FBA3B0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190" y="266157"/>
            <a:ext cx="3545457" cy="6591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650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0ACABB-61A0-C45F-B0F8-8D2AD22DB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5.2.4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ViewPort</a:t>
            </a:r>
            <a:r>
              <a:rPr kumimoji="1" lang="zh-CN" altLang="en-US" dirty="0"/>
              <a:t>视图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EFB482-316D-B9DE-F457-69A5AC51C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kumimoji="1" lang="zh-CN" altLang="en-US" dirty="0"/>
              <a:t>预览界面</a:t>
            </a:r>
            <a:endParaRPr kumimoji="1" lang="en-US" altLang="zh-CN" dirty="0"/>
          </a:p>
          <a:p>
            <a:r>
              <a:rPr kumimoji="1" lang="zh-CN" altLang="en-US" dirty="0"/>
              <a:t>支持</a:t>
            </a:r>
            <a:r>
              <a:rPr kumimoji="1" lang="en-US" altLang="zh-CN" dirty="0"/>
              <a:t>Editor</a:t>
            </a:r>
            <a:r>
              <a:rPr kumimoji="1" lang="zh-CN" altLang="en-US" dirty="0"/>
              <a:t>和</a:t>
            </a:r>
            <a:r>
              <a:rPr kumimoji="1" lang="en-US" altLang="zh-CN" dirty="0"/>
              <a:t>Runtime</a:t>
            </a:r>
            <a:r>
              <a:rPr kumimoji="1" lang="zh-CN" altLang="en-US" dirty="0"/>
              <a:t>两种</a:t>
            </a:r>
            <a:endParaRPr kumimoji="1" lang="en-US" altLang="zh-CN" dirty="0"/>
          </a:p>
          <a:p>
            <a:r>
              <a:rPr kumimoji="1" lang="zh-CN" altLang="en-US" dirty="0"/>
              <a:t>方便切换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73E286B-3705-D848-71B3-DFF2CA19E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5528" y="0"/>
            <a:ext cx="3539033" cy="323718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8ECCAF2-0053-9E4D-7E2F-028FA6FE0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5528" y="3429000"/>
            <a:ext cx="3582946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234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1F0DC1-1508-455F-C371-A6E9AF1F9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5.2.5</a:t>
            </a:r>
            <a:r>
              <a:rPr kumimoji="1" lang="zh-CN" altLang="en-US" dirty="0"/>
              <a:t> </a:t>
            </a:r>
            <a:r>
              <a:rPr kumimoji="1" lang="en-US" altLang="zh-CN" dirty="0"/>
              <a:t>Inspector</a:t>
            </a:r>
            <a:r>
              <a:rPr kumimoji="1" lang="zh-CN" altLang="en-US" dirty="0"/>
              <a:t>视图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DD63D4-BA3E-019B-F4FD-8A3DF9645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54517" cy="4351338"/>
          </a:xfrm>
        </p:spPr>
        <p:txBody>
          <a:bodyPr/>
          <a:lstStyle/>
          <a:p>
            <a:r>
              <a:rPr kumimoji="1" lang="zh-CN" altLang="en-US" dirty="0"/>
              <a:t>属性面板</a:t>
            </a:r>
            <a:endParaRPr kumimoji="1" lang="en-US" altLang="zh-CN" dirty="0"/>
          </a:p>
          <a:p>
            <a:r>
              <a:rPr kumimoji="1" lang="en-US" altLang="zh-CN" dirty="0"/>
              <a:t>UI</a:t>
            </a:r>
            <a:r>
              <a:rPr kumimoji="1" lang="zh-CN" altLang="en-US" dirty="0"/>
              <a:t>组件所有的配置项</a:t>
            </a:r>
            <a:endParaRPr kumimoji="1" lang="en-US" altLang="zh-CN" dirty="0"/>
          </a:p>
          <a:p>
            <a:r>
              <a:rPr kumimoji="1" lang="zh-CN" altLang="en-US" dirty="0"/>
              <a:t>位置</a:t>
            </a:r>
            <a:endParaRPr kumimoji="1" lang="en-US" altLang="zh-CN" dirty="0"/>
          </a:p>
          <a:p>
            <a:r>
              <a:rPr kumimoji="1" lang="zh-CN" altLang="en-US" dirty="0"/>
              <a:t>锚点</a:t>
            </a:r>
            <a:endParaRPr kumimoji="1" lang="en-US" altLang="zh-CN" dirty="0"/>
          </a:p>
          <a:p>
            <a:r>
              <a:rPr kumimoji="1" lang="zh-CN" altLang="en-US" dirty="0"/>
              <a:t>边缘</a:t>
            </a:r>
            <a:endParaRPr kumimoji="1" lang="en-US" altLang="zh-CN" dirty="0"/>
          </a:p>
          <a:p>
            <a:r>
              <a:rPr kumimoji="1" lang="zh-CN" altLang="en-US" dirty="0"/>
              <a:t>动画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7C4D274-C55F-68CE-46A8-A4B95EB6D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65125"/>
            <a:ext cx="3954517" cy="638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593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D2E072-C1D4-7EF6-664D-DBB21C434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5.3</a:t>
            </a:r>
            <a:r>
              <a:rPr kumimoji="1" lang="zh-CN" altLang="en-US" dirty="0"/>
              <a:t> </a:t>
            </a:r>
            <a:r>
              <a:rPr kumimoji="1" lang="en-US" altLang="zh-CN" dirty="0"/>
              <a:t>UI</a:t>
            </a:r>
            <a:r>
              <a:rPr kumimoji="1" lang="zh-CN" altLang="en-US" dirty="0"/>
              <a:t>组件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A87B1C-AD9F-9C48-4D3D-1D43938BF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79124" cy="4351338"/>
          </a:xfrm>
        </p:spPr>
        <p:txBody>
          <a:bodyPr/>
          <a:lstStyle/>
          <a:p>
            <a:r>
              <a:rPr kumimoji="1" lang="zh-CN" altLang="en-US" dirty="0"/>
              <a:t>多个</a:t>
            </a:r>
            <a:r>
              <a:rPr kumimoji="1" lang="en-US" altLang="zh-CN" dirty="0"/>
              <a:t>UI</a:t>
            </a:r>
            <a:r>
              <a:rPr kumimoji="1" lang="zh-CN" altLang="en-US" dirty="0"/>
              <a:t>元素组合在一起</a:t>
            </a:r>
            <a:endParaRPr kumimoji="1" lang="en-US" altLang="zh-CN" dirty="0"/>
          </a:p>
          <a:p>
            <a:r>
              <a:rPr kumimoji="1" lang="zh-CN" altLang="en-US" dirty="0"/>
              <a:t>子节点置灰，不操作</a:t>
            </a:r>
            <a:endParaRPr kumimoji="1" lang="en-US" altLang="zh-CN" dirty="0"/>
          </a:p>
          <a:p>
            <a:r>
              <a:rPr kumimoji="1" lang="zh-CN" altLang="en-US" dirty="0"/>
              <a:t>类似</a:t>
            </a:r>
            <a:r>
              <a:rPr kumimoji="1" lang="en-US" altLang="zh-CN" dirty="0"/>
              <a:t>Prefab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A951A49-C823-1C8C-D3BE-142B4EFB5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132" y="2254141"/>
            <a:ext cx="5436257" cy="330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324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880834-7FCB-F463-E156-805F2615F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5.3.1 Text </a:t>
            </a:r>
            <a:r>
              <a:rPr kumimoji="1" lang="zh-CN" altLang="en-US" dirty="0"/>
              <a:t>组件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9F7996-0B59-FF5E-A71C-84381B322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72807" cy="4351338"/>
          </a:xfrm>
        </p:spPr>
        <p:txBody>
          <a:bodyPr/>
          <a:lstStyle/>
          <a:p>
            <a:r>
              <a:rPr kumimoji="1" lang="zh-CN" altLang="en-US" dirty="0"/>
              <a:t>底层是</a:t>
            </a:r>
            <a:r>
              <a:rPr kumimoji="1" lang="en-US" altLang="zh-CN" dirty="0"/>
              <a:t>Text mesh Pro</a:t>
            </a:r>
          </a:p>
          <a:p>
            <a:r>
              <a:rPr kumimoji="1" lang="zh-CN" altLang="en-US" dirty="0"/>
              <a:t>常用功能都支持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CF5703C-D6B9-73A8-BEB2-1403D2268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3354" y="1849273"/>
            <a:ext cx="4234246" cy="231923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435459C-9C6A-FEA8-55D8-9970229A9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742" y="4924151"/>
            <a:ext cx="5274310" cy="89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753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58D68D-4AA6-8F37-2468-F91FEEEBE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5.3.2</a:t>
            </a:r>
            <a:r>
              <a:rPr kumimoji="1" lang="zh-CN" altLang="en-US" dirty="0"/>
              <a:t> </a:t>
            </a:r>
            <a:r>
              <a:rPr kumimoji="1" lang="en-US" altLang="zh-CN" dirty="0"/>
              <a:t>Visual Element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36A02D-021F-0314-BC6E-C72657450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516665"/>
          </a:xfrm>
        </p:spPr>
        <p:txBody>
          <a:bodyPr/>
          <a:lstStyle/>
          <a:p>
            <a:r>
              <a:rPr kumimoji="1" lang="zh-CN" altLang="en-US" dirty="0"/>
              <a:t>最基础元素</a:t>
            </a:r>
            <a:endParaRPr kumimoji="1" lang="en-US" altLang="zh-CN" dirty="0"/>
          </a:p>
          <a:p>
            <a:r>
              <a:rPr kumimoji="1" lang="en-US" altLang="zh-CN" dirty="0"/>
              <a:t>Image</a:t>
            </a:r>
            <a:r>
              <a:rPr kumimoji="1" lang="zh-CN" altLang="en-US" dirty="0"/>
              <a:t>和</a:t>
            </a:r>
            <a:r>
              <a:rPr kumimoji="1" lang="en-US" altLang="zh-CN" dirty="0"/>
              <a:t>Text</a:t>
            </a:r>
            <a:r>
              <a:rPr kumimoji="1" lang="zh-CN" altLang="en-US" dirty="0"/>
              <a:t>都是靠它组合的</a:t>
            </a:r>
            <a:endParaRPr kumimoji="1" lang="en-US" altLang="zh-CN" dirty="0"/>
          </a:p>
          <a:p>
            <a:r>
              <a:rPr kumimoji="1" lang="zh-CN" altLang="en-US" dirty="0"/>
              <a:t>代码动态控制它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95C2289-354F-3723-0FFA-FA14874ECF91}"/>
              </a:ext>
            </a:extLst>
          </p:cNvPr>
          <p:cNvSpPr txBox="1"/>
          <p:nvPr/>
        </p:nvSpPr>
        <p:spPr>
          <a:xfrm>
            <a:off x="838200" y="3429000"/>
            <a:ext cx="753122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public Sprite sprite;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void Start()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{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UIDocument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document =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GetComponent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UIDocument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&gt;();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   var root =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document.rootVisualElement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   var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visualElement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root.Q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VisualElement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&gt;("image");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visualElement.style.backgroundImage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= new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StyleBackground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(sprite);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}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9657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546887-0EB0-B2AA-8294-3059A0A4B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5.3.3</a:t>
            </a:r>
            <a:r>
              <a:rPr kumimoji="1" lang="zh-CN" altLang="en-US" dirty="0"/>
              <a:t>其他</a:t>
            </a:r>
            <a:r>
              <a:rPr kumimoji="1" lang="en-US" altLang="zh-CN" dirty="0"/>
              <a:t>UI</a:t>
            </a:r>
            <a:r>
              <a:rPr kumimoji="1" lang="zh-CN" altLang="en-US" dirty="0"/>
              <a:t>组件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C8F1A8-50AD-3295-80FC-0B75A95D6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02269" cy="4351338"/>
          </a:xfrm>
        </p:spPr>
        <p:txBody>
          <a:bodyPr/>
          <a:lstStyle/>
          <a:p>
            <a:r>
              <a:rPr kumimoji="1" lang="zh-CN" altLang="en-US" dirty="0"/>
              <a:t>其他常见</a:t>
            </a:r>
            <a:r>
              <a:rPr kumimoji="1" lang="en-US" altLang="zh-CN" dirty="0"/>
              <a:t>UI</a:t>
            </a:r>
            <a:r>
              <a:rPr kumimoji="1" lang="zh-CN" altLang="en-US" dirty="0"/>
              <a:t>组件</a:t>
            </a:r>
            <a:endParaRPr kumimoji="1" lang="en-US" altLang="zh-CN" dirty="0"/>
          </a:p>
          <a:p>
            <a:r>
              <a:rPr kumimoji="1" lang="zh-CN" altLang="en-US" dirty="0"/>
              <a:t>和</a:t>
            </a:r>
            <a:r>
              <a:rPr kumimoji="1" lang="en-US" altLang="zh-CN" dirty="0"/>
              <a:t>UGUI</a:t>
            </a:r>
            <a:r>
              <a:rPr kumimoji="1" lang="zh-CN" altLang="en-US" dirty="0"/>
              <a:t>类似</a:t>
            </a:r>
            <a:endParaRPr kumimoji="1"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F601CE0-63D3-99FE-C239-45E01AABD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5392" y="1555689"/>
            <a:ext cx="5320567" cy="470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510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726B3D-2D88-E92A-CA68-5BB782AFF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5.3.4</a:t>
            </a:r>
            <a:r>
              <a:rPr kumimoji="1" lang="zh-CN" altLang="en-US" dirty="0"/>
              <a:t> 基础容器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E1D9DC-7AC2-C7AA-471A-38BB2052C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544614" cy="4351338"/>
          </a:xfrm>
        </p:spPr>
        <p:txBody>
          <a:bodyPr/>
          <a:lstStyle/>
          <a:p>
            <a:r>
              <a:rPr kumimoji="1" lang="en-US" altLang="zh-CN" dirty="0"/>
              <a:t>UI</a:t>
            </a:r>
            <a:r>
              <a:rPr kumimoji="1" lang="zh-CN" altLang="en-US" dirty="0"/>
              <a:t>拖入基础容器中</a:t>
            </a:r>
            <a:endParaRPr kumimoji="1" lang="en-US" altLang="zh-CN" dirty="0"/>
          </a:p>
          <a:p>
            <a:r>
              <a:rPr kumimoji="1" lang="zh-CN" altLang="en-US" dirty="0"/>
              <a:t>基础容器不可编辑</a:t>
            </a:r>
            <a:endParaRPr kumimoji="1" lang="en-US" altLang="zh-CN" dirty="0"/>
          </a:p>
          <a:p>
            <a:r>
              <a:rPr kumimoji="1" lang="en-US" altLang="zh-CN" dirty="0"/>
              <a:t>UI</a:t>
            </a:r>
            <a:r>
              <a:rPr kumimoji="1" lang="zh-CN" altLang="en-US" dirty="0"/>
              <a:t>可放入子节点中</a:t>
            </a:r>
            <a:endParaRPr kumimoji="1"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3527600-5AE9-5AD5-038F-16C10CFA3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566" y="1825625"/>
            <a:ext cx="6938306" cy="3109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6288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BC8DE6-E15C-0F6E-405E-286D6D692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5.3.5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ScrollView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C012ED-B278-107A-BD66-3E56AAB2D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16669" cy="833492"/>
          </a:xfrm>
        </p:spPr>
        <p:txBody>
          <a:bodyPr/>
          <a:lstStyle/>
          <a:p>
            <a:r>
              <a:rPr kumimoji="1" lang="zh-CN" altLang="en-US" dirty="0"/>
              <a:t>滑动列表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381B6FF-1974-9470-14CC-7AC3A26DC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2862" y="2002116"/>
            <a:ext cx="4464988" cy="328146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84FC8EE-E256-1712-EAB6-84C6ECD7C060}"/>
              </a:ext>
            </a:extLst>
          </p:cNvPr>
          <p:cNvSpPr txBox="1"/>
          <p:nvPr/>
        </p:nvSpPr>
        <p:spPr>
          <a:xfrm>
            <a:off x="599090" y="2569781"/>
            <a:ext cx="675377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ScrollView</a:t>
            </a:r>
            <a:r>
              <a:rPr kumimoji="1" lang="en" altLang="zh-CN" dirty="0"/>
              <a:t> </a:t>
            </a:r>
            <a:r>
              <a:rPr kumimoji="1" lang="en" altLang="zh-CN" dirty="0" err="1"/>
              <a:t>scrollview</a:t>
            </a:r>
            <a:r>
              <a:rPr kumimoji="1" lang="en" altLang="zh-CN" dirty="0"/>
              <a:t> = </a:t>
            </a:r>
            <a:r>
              <a:rPr kumimoji="1" lang="en" altLang="zh-CN" dirty="0" err="1"/>
              <a:t>root.Q</a:t>
            </a:r>
            <a:r>
              <a:rPr kumimoji="1" lang="en" altLang="zh-CN" dirty="0"/>
              <a:t>&lt;</a:t>
            </a:r>
            <a:r>
              <a:rPr kumimoji="1" lang="en" altLang="zh-CN" dirty="0" err="1"/>
              <a:t>ScrollView</a:t>
            </a:r>
            <a:r>
              <a:rPr kumimoji="1" lang="en" altLang="zh-CN" dirty="0"/>
              <a:t>&gt;();</a:t>
            </a:r>
          </a:p>
          <a:p>
            <a:r>
              <a:rPr kumimoji="1" lang="en" altLang="zh-CN" dirty="0"/>
              <a:t>for (int </a:t>
            </a:r>
            <a:r>
              <a:rPr kumimoji="1" lang="en" altLang="zh-CN" dirty="0" err="1"/>
              <a:t>i</a:t>
            </a:r>
            <a:r>
              <a:rPr kumimoji="1" lang="en" altLang="zh-CN" dirty="0"/>
              <a:t> = 0; </a:t>
            </a:r>
            <a:r>
              <a:rPr kumimoji="1" lang="en" altLang="zh-CN" dirty="0" err="1"/>
              <a:t>i</a:t>
            </a:r>
            <a:r>
              <a:rPr kumimoji="1" lang="en" altLang="zh-CN" dirty="0"/>
              <a:t> &lt; 100; </a:t>
            </a:r>
            <a:r>
              <a:rPr kumimoji="1" lang="en" altLang="zh-CN" dirty="0" err="1"/>
              <a:t>i</a:t>
            </a:r>
            <a:r>
              <a:rPr kumimoji="1" lang="en" altLang="zh-CN" dirty="0"/>
              <a:t>++)</a:t>
            </a:r>
          </a:p>
          <a:p>
            <a:r>
              <a:rPr kumimoji="1" lang="en" altLang="zh-CN" dirty="0"/>
              <a:t>{</a:t>
            </a:r>
          </a:p>
          <a:p>
            <a:r>
              <a:rPr kumimoji="1" lang="en" altLang="zh-CN" dirty="0"/>
              <a:t>    </a:t>
            </a:r>
            <a:r>
              <a:rPr kumimoji="1" lang="en" altLang="zh-CN" dirty="0" err="1"/>
              <a:t>TemplateContainer</a:t>
            </a:r>
            <a:r>
              <a:rPr kumimoji="1" lang="en" altLang="zh-CN" dirty="0"/>
              <a:t> </a:t>
            </a:r>
            <a:r>
              <a:rPr kumimoji="1" lang="en" altLang="zh-CN" dirty="0" err="1"/>
              <a:t>templateContainer</a:t>
            </a:r>
            <a:r>
              <a:rPr kumimoji="1" lang="en" altLang="zh-CN" dirty="0"/>
              <a:t> = </a:t>
            </a:r>
            <a:r>
              <a:rPr kumimoji="1" lang="en" altLang="zh-CN" dirty="0" err="1"/>
              <a:t>ItemAsset.CloneTree</a:t>
            </a:r>
            <a:r>
              <a:rPr kumimoji="1" lang="en" altLang="zh-CN" dirty="0"/>
              <a:t>();</a:t>
            </a:r>
          </a:p>
          <a:p>
            <a:r>
              <a:rPr kumimoji="1" lang="en" altLang="zh-CN" dirty="0"/>
              <a:t>    //</a:t>
            </a:r>
            <a:r>
              <a:rPr kumimoji="1" lang="zh-CN" altLang="en-US" dirty="0"/>
              <a:t>设置每个高度</a:t>
            </a:r>
          </a:p>
          <a:p>
            <a:r>
              <a:rPr kumimoji="1" lang="zh-CN" altLang="en-US" dirty="0"/>
              <a:t>    </a:t>
            </a:r>
            <a:r>
              <a:rPr kumimoji="1" lang="en" altLang="zh-CN" dirty="0" err="1"/>
              <a:t>templateContainer.style.height</a:t>
            </a:r>
            <a:r>
              <a:rPr kumimoji="1" lang="en" altLang="zh-CN" dirty="0"/>
              <a:t> = 100;</a:t>
            </a:r>
          </a:p>
          <a:p>
            <a:r>
              <a:rPr kumimoji="1" lang="en" altLang="zh-CN" dirty="0"/>
              <a:t>    </a:t>
            </a:r>
            <a:r>
              <a:rPr kumimoji="1" lang="en" altLang="zh-CN" dirty="0" err="1"/>
              <a:t>templateContainer.Q</a:t>
            </a:r>
            <a:r>
              <a:rPr kumimoji="1" lang="en" altLang="zh-CN" dirty="0"/>
              <a:t>&lt;Label&gt;().text = $"</a:t>
            </a:r>
            <a:r>
              <a:rPr kumimoji="1" lang="zh-CN" altLang="en-US" dirty="0"/>
              <a:t>我是第</a:t>
            </a:r>
            <a:r>
              <a:rPr kumimoji="1" lang="en-US" altLang="zh-CN" dirty="0"/>
              <a:t>{</a:t>
            </a:r>
            <a:r>
              <a:rPr kumimoji="1" lang="en" altLang="zh-CN" dirty="0" err="1"/>
              <a:t>i</a:t>
            </a:r>
            <a:r>
              <a:rPr kumimoji="1" lang="en" altLang="zh-CN" dirty="0"/>
              <a:t>}</a:t>
            </a:r>
            <a:r>
              <a:rPr kumimoji="1" lang="zh-CN" altLang="en-US" dirty="0"/>
              <a:t>个</a:t>
            </a:r>
            <a:r>
              <a:rPr kumimoji="1" lang="en-US" altLang="zh-CN" dirty="0"/>
              <a:t>&lt;</a:t>
            </a:r>
            <a:r>
              <a:rPr kumimoji="1" lang="en" altLang="zh-CN" dirty="0"/>
              <a:t>sprite=3&gt;";</a:t>
            </a:r>
          </a:p>
          <a:p>
            <a:r>
              <a:rPr kumimoji="1" lang="en" altLang="zh-CN" dirty="0"/>
              <a:t>    </a:t>
            </a:r>
            <a:r>
              <a:rPr kumimoji="1" lang="en" altLang="zh-CN" dirty="0" err="1"/>
              <a:t>scrollview.Add</a:t>
            </a:r>
            <a:r>
              <a:rPr kumimoji="1" lang="en" altLang="zh-CN" dirty="0"/>
              <a:t>(</a:t>
            </a:r>
            <a:r>
              <a:rPr kumimoji="1" lang="en" altLang="zh-CN" dirty="0" err="1"/>
              <a:t>templateContainer</a:t>
            </a:r>
            <a:r>
              <a:rPr kumimoji="1" lang="en" altLang="zh-CN" dirty="0"/>
              <a:t>);</a:t>
            </a:r>
          </a:p>
          <a:p>
            <a:r>
              <a:rPr kumimoji="1" lang="en" altLang="zh-CN" dirty="0"/>
              <a:t>}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82506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4CAACB-AA62-AEA5-F8F3-52ACB2A03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5.3.6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ListView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7DE1F6-4B9E-23D8-1163-43C4DC32A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70430"/>
          </a:xfrm>
        </p:spPr>
        <p:txBody>
          <a:bodyPr/>
          <a:lstStyle/>
          <a:p>
            <a:r>
              <a:rPr kumimoji="1" lang="en-US" altLang="zh-CN" dirty="0" err="1"/>
              <a:t>ScrollView</a:t>
            </a:r>
            <a:r>
              <a:rPr kumimoji="1" lang="zh-CN" altLang="en-US" dirty="0"/>
              <a:t>的区别是支持无限循环，同屏三角面少，性能更好</a:t>
            </a:r>
            <a:endParaRPr kumimoji="1" lang="en-US" altLang="zh-CN" dirty="0"/>
          </a:p>
          <a:p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D035940-FEFA-391D-30D0-31F1B899F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905" y="2730992"/>
            <a:ext cx="4475983" cy="400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226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61F9BF-1F9E-FCD0-0C90-AAA06704B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5.3.8 </a:t>
            </a:r>
            <a:r>
              <a:rPr kumimoji="1" lang="en-US" altLang="zh-CN" dirty="0" err="1"/>
              <a:t>TreeView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A36F6B-77E6-1159-CEEF-B8EDE1031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14545" cy="4351338"/>
          </a:xfrm>
        </p:spPr>
        <p:txBody>
          <a:bodyPr/>
          <a:lstStyle/>
          <a:p>
            <a:r>
              <a:rPr kumimoji="1" lang="zh-CN" altLang="en-US" dirty="0"/>
              <a:t>树结构</a:t>
            </a:r>
            <a:r>
              <a:rPr kumimoji="1" lang="en-US" altLang="zh-CN" dirty="0"/>
              <a:t>UI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4140648-14DA-B67A-C6E8-A47C15696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191" y="1564563"/>
            <a:ext cx="4901325" cy="451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1566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6D2D26-1F49-F09D-58FB-2A37D3D17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5.3.9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GroupBox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51796D-4BC0-0E30-2A28-FC92C9FF3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06159" cy="4351338"/>
          </a:xfrm>
        </p:spPr>
        <p:txBody>
          <a:bodyPr/>
          <a:lstStyle/>
          <a:p>
            <a:r>
              <a:rPr kumimoji="1" lang="zh-CN" altLang="en-US" dirty="0"/>
              <a:t>单项选择容器</a:t>
            </a:r>
            <a:endParaRPr kumimoji="1" lang="en-US" altLang="zh-CN" dirty="0"/>
          </a:p>
          <a:p>
            <a:r>
              <a:rPr kumimoji="1" lang="zh-CN" altLang="en-US" dirty="0"/>
              <a:t>单选后其他取消选中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CED0454-F22E-C279-BA68-0C382566D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3424" y="1825625"/>
            <a:ext cx="6241583" cy="327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6066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B3CE08-259D-6B3B-F9D2-C02458D5F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5.3.10</a:t>
            </a:r>
            <a:r>
              <a:rPr kumimoji="1" lang="zh-CN" altLang="en-US" dirty="0"/>
              <a:t> 控制组件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997AE4-C352-385A-DFCF-4221CD018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7244255" cy="2935560"/>
          </a:xfrm>
        </p:spPr>
        <p:txBody>
          <a:bodyPr/>
          <a:lstStyle/>
          <a:p>
            <a:r>
              <a:rPr kumimoji="1" lang="zh-CN" altLang="en-US" dirty="0"/>
              <a:t>按照层级获取组件</a:t>
            </a:r>
            <a:endParaRPr kumimoji="1" lang="en-US" altLang="zh-CN" dirty="0"/>
          </a:p>
          <a:p>
            <a:r>
              <a:rPr kumimoji="1" lang="zh-CN" altLang="en-US" dirty="0"/>
              <a:t>支持模糊查询</a:t>
            </a:r>
            <a:endParaRPr kumimoji="1" lang="en-US" altLang="zh-CN" dirty="0"/>
          </a:p>
          <a:p>
            <a:r>
              <a:rPr kumimoji="1" lang="zh-CN" altLang="en-US" dirty="0"/>
              <a:t>支持动态增删改查等功能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5DA196B-E443-F7D3-9821-FBE2ACCCF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1451" y="1825625"/>
            <a:ext cx="1695885" cy="181976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72176C1-A6A1-DB80-6E75-0E7B817F9716}"/>
              </a:ext>
            </a:extLst>
          </p:cNvPr>
          <p:cNvSpPr txBox="1"/>
          <p:nvPr/>
        </p:nvSpPr>
        <p:spPr>
          <a:xfrm>
            <a:off x="1163759" y="4761186"/>
            <a:ext cx="48381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var element = </a:t>
            </a:r>
            <a:r>
              <a:rPr kumimoji="1" lang="en" altLang="zh-CN" dirty="0" err="1"/>
              <a:t>root.Q</a:t>
            </a:r>
            <a:r>
              <a:rPr kumimoji="1" lang="en" altLang="zh-CN" dirty="0"/>
              <a:t>&lt;</a:t>
            </a:r>
            <a:r>
              <a:rPr kumimoji="1" lang="en" altLang="zh-CN" dirty="0" err="1"/>
              <a:t>VisualElement</a:t>
            </a:r>
            <a:r>
              <a:rPr kumimoji="1" lang="en" altLang="zh-CN" dirty="0"/>
              <a:t>&gt;("a/b/c");</a:t>
            </a:r>
          </a:p>
          <a:p>
            <a:r>
              <a:rPr kumimoji="1" lang="en" altLang="zh-CN" dirty="0"/>
              <a:t>var element2 = </a:t>
            </a:r>
            <a:r>
              <a:rPr kumimoji="1" lang="en" altLang="zh-CN" dirty="0" err="1"/>
              <a:t>root.Q</a:t>
            </a:r>
            <a:r>
              <a:rPr kumimoji="1" lang="en" altLang="zh-CN" dirty="0"/>
              <a:t>&lt;</a:t>
            </a:r>
            <a:r>
              <a:rPr kumimoji="1" lang="en" altLang="zh-CN" dirty="0" err="1"/>
              <a:t>VisualElement</a:t>
            </a:r>
            <a:r>
              <a:rPr kumimoji="1" lang="en" altLang="zh-CN" dirty="0"/>
              <a:t>&gt;("c");</a:t>
            </a:r>
          </a:p>
          <a:p>
            <a:r>
              <a:rPr kumimoji="1" lang="en" altLang="zh-CN" dirty="0"/>
              <a:t>var element3 = </a:t>
            </a:r>
            <a:r>
              <a:rPr kumimoji="1" lang="en" altLang="zh-CN" dirty="0" err="1"/>
              <a:t>root.Q</a:t>
            </a:r>
            <a:r>
              <a:rPr kumimoji="1" lang="en" altLang="zh-CN" dirty="0"/>
              <a:t>&lt;Button&gt;();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22274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333EC3-1C73-6A7B-E660-056C1F507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5.3.11</a:t>
            </a:r>
            <a:r>
              <a:rPr kumimoji="1" lang="zh-CN" altLang="en-US" dirty="0"/>
              <a:t> 加载与嵌套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A4D357-51FB-7AD0-7B6A-472ED8C3A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732283" cy="1603375"/>
          </a:xfrm>
        </p:spPr>
        <p:txBody>
          <a:bodyPr/>
          <a:lstStyle/>
          <a:p>
            <a:r>
              <a:rPr kumimoji="1" lang="zh-CN" altLang="en-US" dirty="0"/>
              <a:t>类似</a:t>
            </a:r>
            <a:r>
              <a:rPr kumimoji="1" lang="en-US" altLang="zh-CN" dirty="0"/>
              <a:t>Prefab</a:t>
            </a:r>
            <a:r>
              <a:rPr kumimoji="1" lang="zh-CN" altLang="en-US" dirty="0"/>
              <a:t>的功能</a:t>
            </a:r>
            <a:endParaRPr kumimoji="1" lang="en-US" altLang="zh-CN" dirty="0"/>
          </a:p>
          <a:p>
            <a:r>
              <a:rPr kumimoji="1" lang="zh-CN" altLang="en-US" dirty="0"/>
              <a:t>加载资源并且实例化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45A1385-A712-7939-0853-E873326FC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380" y="354615"/>
            <a:ext cx="3247695" cy="641567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DD191C5-8691-9DA5-2793-0EC818F152BD}"/>
              </a:ext>
            </a:extLst>
          </p:cNvPr>
          <p:cNvSpPr txBox="1"/>
          <p:nvPr/>
        </p:nvSpPr>
        <p:spPr>
          <a:xfrm>
            <a:off x="515744" y="4340772"/>
            <a:ext cx="786625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UIDocument</a:t>
            </a:r>
            <a:r>
              <a:rPr kumimoji="1" lang="en" altLang="zh-CN" dirty="0"/>
              <a:t> document = </a:t>
            </a:r>
            <a:r>
              <a:rPr kumimoji="1" lang="en" altLang="zh-CN" dirty="0" err="1"/>
              <a:t>GetComponent</a:t>
            </a:r>
            <a:r>
              <a:rPr kumimoji="1" lang="en" altLang="zh-CN" dirty="0"/>
              <a:t>&lt;</a:t>
            </a:r>
            <a:r>
              <a:rPr kumimoji="1" lang="en" altLang="zh-CN" dirty="0" err="1"/>
              <a:t>UIDocument</a:t>
            </a:r>
            <a:r>
              <a:rPr kumimoji="1" lang="en" altLang="zh-CN" dirty="0"/>
              <a:t>&gt;();</a:t>
            </a:r>
          </a:p>
          <a:p>
            <a:r>
              <a:rPr kumimoji="1" lang="en" altLang="zh-CN" dirty="0"/>
              <a:t>var root = </a:t>
            </a:r>
            <a:r>
              <a:rPr kumimoji="1" lang="en" altLang="zh-CN" dirty="0" err="1"/>
              <a:t>document.rootVisualElement</a:t>
            </a:r>
            <a:r>
              <a:rPr kumimoji="1" lang="en" altLang="zh-CN" dirty="0"/>
              <a:t>;</a:t>
            </a:r>
          </a:p>
          <a:p>
            <a:r>
              <a:rPr kumimoji="1" lang="en" altLang="zh-CN" dirty="0"/>
              <a:t>var </a:t>
            </a:r>
            <a:r>
              <a:rPr kumimoji="1" lang="en" altLang="zh-CN" dirty="0" err="1"/>
              <a:t>visualTreeAsset</a:t>
            </a:r>
            <a:r>
              <a:rPr kumimoji="1" lang="en" altLang="zh-CN" dirty="0"/>
              <a:t> = </a:t>
            </a:r>
            <a:r>
              <a:rPr kumimoji="1" lang="en" altLang="zh-CN" dirty="0" err="1"/>
              <a:t>Resources.Load</a:t>
            </a:r>
            <a:r>
              <a:rPr kumimoji="1" lang="en" altLang="zh-CN" dirty="0"/>
              <a:t>&lt;</a:t>
            </a:r>
            <a:r>
              <a:rPr kumimoji="1" lang="en" altLang="zh-CN" dirty="0" err="1"/>
              <a:t>VisualTreeAsset</a:t>
            </a:r>
            <a:r>
              <a:rPr kumimoji="1" lang="en" altLang="zh-CN" dirty="0"/>
              <a:t>&gt;("Script_05_11_Item");</a:t>
            </a:r>
          </a:p>
          <a:p>
            <a:r>
              <a:rPr kumimoji="1" lang="en" altLang="zh-CN" dirty="0"/>
              <a:t>var template = </a:t>
            </a:r>
            <a:r>
              <a:rPr kumimoji="1" lang="en" altLang="zh-CN" dirty="0" err="1"/>
              <a:t>visualTreeAsset.CloneTree</a:t>
            </a:r>
            <a:r>
              <a:rPr kumimoji="1" lang="en" altLang="zh-CN" dirty="0"/>
              <a:t>();</a:t>
            </a:r>
          </a:p>
          <a:p>
            <a:r>
              <a:rPr kumimoji="1" lang="en" altLang="zh-CN" dirty="0" err="1"/>
              <a:t>root.Add</a:t>
            </a:r>
            <a:r>
              <a:rPr kumimoji="1" lang="en" altLang="zh-CN" dirty="0"/>
              <a:t>(template);//</a:t>
            </a:r>
            <a:r>
              <a:rPr kumimoji="1" lang="zh-CN" altLang="en-US" dirty="0"/>
              <a:t>克隆到</a:t>
            </a:r>
            <a:r>
              <a:rPr kumimoji="1" lang="en" altLang="zh-CN" dirty="0"/>
              <a:t>Hierarchy</a:t>
            </a:r>
            <a:r>
              <a:rPr kumimoji="1" lang="zh-CN" altLang="en-US" dirty="0"/>
              <a:t>中</a:t>
            </a:r>
          </a:p>
          <a:p>
            <a:r>
              <a:rPr kumimoji="1" lang="en" altLang="zh-CN" dirty="0" err="1"/>
              <a:t>template.Q</a:t>
            </a:r>
            <a:r>
              <a:rPr kumimoji="1" lang="en" altLang="zh-CN" dirty="0"/>
              <a:t>&lt;Label&gt;().text = "</a:t>
            </a:r>
            <a:r>
              <a:rPr kumimoji="1" lang="zh-CN" altLang="en-US" dirty="0"/>
              <a:t>更换文字</a:t>
            </a:r>
            <a:r>
              <a:rPr kumimoji="1" lang="en-US" altLang="zh-CN" dirty="0"/>
              <a:t>";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58758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43C9CD-842D-E33B-90E2-42FCDC565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5.3.12</a:t>
            </a:r>
            <a:r>
              <a:rPr kumimoji="1" lang="zh-CN" altLang="en-US" dirty="0"/>
              <a:t> 自适应</a:t>
            </a:r>
            <a:r>
              <a:rPr kumimoji="1" lang="en-US" altLang="zh-CN" dirty="0"/>
              <a:t>UI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5A4724-C316-0CA5-D1BF-E97A19BFB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74628" cy="4351338"/>
          </a:xfrm>
        </p:spPr>
        <p:txBody>
          <a:bodyPr/>
          <a:lstStyle/>
          <a:p>
            <a:r>
              <a:rPr kumimoji="1" lang="zh-CN" altLang="en-US" dirty="0"/>
              <a:t>和</a:t>
            </a:r>
            <a:r>
              <a:rPr kumimoji="1" lang="en-US" altLang="zh-CN" dirty="0"/>
              <a:t>GUUI</a:t>
            </a:r>
            <a:r>
              <a:rPr kumimoji="1" lang="zh-CN" altLang="en-US" dirty="0"/>
              <a:t>自适应方法类似</a:t>
            </a:r>
            <a:endParaRPr kumimoji="1" lang="en-US" altLang="zh-CN" dirty="0"/>
          </a:p>
          <a:p>
            <a:r>
              <a:rPr kumimoji="1" lang="en-US" altLang="zh-CN" dirty="0"/>
              <a:t>Scale Mode</a:t>
            </a:r>
          </a:p>
          <a:p>
            <a:r>
              <a:rPr kumimoji="1" lang="zh-CN" altLang="en-US" dirty="0"/>
              <a:t>设置</a:t>
            </a:r>
            <a:r>
              <a:rPr kumimoji="1" lang="en-US" altLang="zh-CN" dirty="0"/>
              <a:t>Expand</a:t>
            </a:r>
            <a:r>
              <a:rPr kumimoji="1" lang="zh-CN" altLang="en-US" dirty="0"/>
              <a:t>模式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1AAF4BD-72D3-D56C-FE07-58567A1D4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9174" y="242832"/>
            <a:ext cx="4109545" cy="484470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4AECCAD-4CFD-D0C0-56DB-E9AE6C30C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176" y="4267754"/>
            <a:ext cx="5274310" cy="1639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7080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3A4530-794C-41DA-537D-99A04CCD6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5.3.13</a:t>
            </a:r>
            <a:r>
              <a:rPr kumimoji="1" lang="zh-CN" altLang="en-US" dirty="0"/>
              <a:t> 动态图集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019604-1088-AA9F-0F67-ACF2BE3BA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16366" cy="1821465"/>
          </a:xfrm>
        </p:spPr>
        <p:txBody>
          <a:bodyPr/>
          <a:lstStyle/>
          <a:p>
            <a:r>
              <a:rPr kumimoji="1" lang="zh-CN" altLang="en-US" dirty="0"/>
              <a:t>优化性能</a:t>
            </a:r>
            <a:endParaRPr kumimoji="1" lang="en-US" altLang="zh-CN" dirty="0"/>
          </a:p>
          <a:p>
            <a:r>
              <a:rPr kumimoji="1" lang="zh-CN" altLang="en-US" dirty="0"/>
              <a:t>运行时的</a:t>
            </a:r>
            <a:r>
              <a:rPr kumimoji="1" lang="en-US" altLang="zh-CN" dirty="0"/>
              <a:t>UI</a:t>
            </a:r>
            <a:r>
              <a:rPr kumimoji="1" lang="zh-CN" altLang="en-US" dirty="0"/>
              <a:t>合并在一张图中</a:t>
            </a:r>
            <a:endParaRPr kumimoji="1" lang="en-US" altLang="zh-CN" dirty="0"/>
          </a:p>
          <a:p>
            <a:r>
              <a:rPr kumimoji="1" lang="en-US" altLang="zh-CN" dirty="0"/>
              <a:t>Setting</a:t>
            </a:r>
            <a:r>
              <a:rPr kumimoji="1" lang="zh-CN" altLang="en-US" dirty="0"/>
              <a:t>中设置参数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BF2C5DD-A103-0E33-7C3A-5B9AE9AEE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06605"/>
            <a:ext cx="6067425" cy="443166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AD0B54F-90D3-D3DD-9332-0EBDF9282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00" y="4533167"/>
            <a:ext cx="5274310" cy="1252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9324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ABCEC5-847B-E464-C021-339B40BA5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5.3.14</a:t>
            </a:r>
            <a:r>
              <a:rPr kumimoji="1" lang="zh-CN" altLang="en-US" dirty="0"/>
              <a:t> 自定义</a:t>
            </a:r>
            <a:r>
              <a:rPr kumimoji="1" lang="en-US" altLang="zh-CN" dirty="0"/>
              <a:t>UI</a:t>
            </a:r>
            <a:r>
              <a:rPr kumimoji="1" lang="zh-CN" altLang="en-US" dirty="0"/>
              <a:t>组件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9F02E5-C891-E368-B35B-68E4B7A03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11566" cy="4351338"/>
          </a:xfrm>
        </p:spPr>
        <p:txBody>
          <a:bodyPr/>
          <a:lstStyle/>
          <a:p>
            <a:r>
              <a:rPr kumimoji="1" lang="zh-CN" altLang="en-US" dirty="0"/>
              <a:t>继承</a:t>
            </a:r>
            <a:r>
              <a:rPr kumimoji="1" lang="en" altLang="zh-CN" dirty="0" err="1"/>
              <a:t>TextElement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A311E64-9C0D-89A1-9C0B-8B874865D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4125" y="1825625"/>
            <a:ext cx="5078467" cy="464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3376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E019EF-7F12-A883-C8DB-8594F1BEF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5.4 </a:t>
            </a:r>
            <a:r>
              <a:rPr kumimoji="1" lang="zh-CN" altLang="en-US" dirty="0"/>
              <a:t>事件系统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39CB20-0E40-5D41-E458-EA5724860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按钮点击事件，如点击拖拽</a:t>
            </a:r>
            <a:endParaRPr kumimoji="1" lang="en-US" altLang="zh-CN" dirty="0"/>
          </a:p>
          <a:p>
            <a:r>
              <a:rPr kumimoji="1" lang="en-US" altLang="zh-CN" dirty="0"/>
              <a:t>UI</a:t>
            </a:r>
            <a:r>
              <a:rPr kumimoji="1" lang="zh-CN" altLang="en-US" dirty="0"/>
              <a:t>的变化事件，如</a:t>
            </a:r>
            <a:r>
              <a:rPr kumimoji="1" lang="en" altLang="zh-CN" dirty="0"/>
              <a:t>Slider</a:t>
            </a:r>
            <a:r>
              <a:rPr kumimoji="1" lang="zh-CN" altLang="en-US" dirty="0"/>
              <a:t>组件监听它的变化事件，或者输入框组件监听它输入的内容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57175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8428B3-C995-82FA-FADC-07190C7A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5.4.1</a:t>
            </a:r>
            <a:r>
              <a:rPr kumimoji="1" lang="zh-CN" altLang="en-US" dirty="0"/>
              <a:t> 点击事件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D36386-70E4-1609-8649-42D6A27B9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29547"/>
          </a:xfrm>
        </p:spPr>
        <p:txBody>
          <a:bodyPr>
            <a:normAutofit fontScale="70000" lnSpcReduction="20000"/>
          </a:bodyPr>
          <a:lstStyle/>
          <a:p>
            <a:r>
              <a:rPr kumimoji="1" lang="zh-CN" altLang="en-US" dirty="0"/>
              <a:t>添加点击事件</a:t>
            </a:r>
            <a:endParaRPr kumimoji="1" lang="en-US" altLang="zh-CN" dirty="0"/>
          </a:p>
          <a:p>
            <a:r>
              <a:rPr kumimoji="1" lang="en" altLang="zh-CN" dirty="0" err="1"/>
              <a:t>PointerDownEvent</a:t>
            </a:r>
            <a:r>
              <a:rPr kumimoji="1" lang="en" altLang="zh-CN" dirty="0"/>
              <a:t>     </a:t>
            </a:r>
            <a:r>
              <a:rPr kumimoji="1" lang="zh-CN" altLang="en-US" dirty="0"/>
              <a:t>按下事件</a:t>
            </a:r>
          </a:p>
          <a:p>
            <a:r>
              <a:rPr kumimoji="1" lang="en" altLang="zh-CN" dirty="0" err="1"/>
              <a:t>PointerUpEvent</a:t>
            </a:r>
            <a:r>
              <a:rPr kumimoji="1" lang="en" altLang="zh-CN" dirty="0"/>
              <a:t>  </a:t>
            </a:r>
            <a:r>
              <a:rPr kumimoji="1" lang="zh-CN" altLang="en-US" dirty="0"/>
              <a:t>抬起事件</a:t>
            </a:r>
          </a:p>
          <a:p>
            <a:r>
              <a:rPr kumimoji="1" lang="en" altLang="zh-CN" dirty="0" err="1"/>
              <a:t>PointerMoveEvent</a:t>
            </a:r>
            <a:r>
              <a:rPr kumimoji="1" lang="en" altLang="zh-CN" dirty="0"/>
              <a:t>     </a:t>
            </a:r>
            <a:r>
              <a:rPr kumimoji="1" lang="zh-CN" altLang="en-US" dirty="0"/>
              <a:t>移动事件</a:t>
            </a:r>
          </a:p>
          <a:p>
            <a:r>
              <a:rPr kumimoji="1" lang="en" altLang="zh-CN" dirty="0" err="1"/>
              <a:t>PointerEnterEvent</a:t>
            </a:r>
            <a:r>
              <a:rPr kumimoji="1" lang="en" altLang="zh-CN" dirty="0"/>
              <a:t>  </a:t>
            </a:r>
            <a:r>
              <a:rPr kumimoji="1" lang="zh-CN" altLang="en-US" dirty="0"/>
              <a:t>进入可视区域包括子节点事件</a:t>
            </a:r>
          </a:p>
          <a:p>
            <a:r>
              <a:rPr kumimoji="1" lang="en" altLang="zh-CN" dirty="0" err="1"/>
              <a:t>PointerLeaveEvent</a:t>
            </a:r>
            <a:r>
              <a:rPr kumimoji="1" lang="en" altLang="zh-CN" dirty="0"/>
              <a:t>  </a:t>
            </a:r>
            <a:r>
              <a:rPr kumimoji="1" lang="zh-CN" altLang="en-US" dirty="0"/>
              <a:t>离开可视区域包括子节点事件</a:t>
            </a:r>
          </a:p>
          <a:p>
            <a:r>
              <a:rPr kumimoji="1" lang="en" altLang="zh-CN" dirty="0" err="1"/>
              <a:t>PointerOverEvent</a:t>
            </a:r>
            <a:r>
              <a:rPr kumimoji="1" lang="en" altLang="zh-CN" dirty="0"/>
              <a:t>   </a:t>
            </a:r>
            <a:r>
              <a:rPr kumimoji="1" lang="zh-CN" altLang="en-US" dirty="0"/>
              <a:t>悬浮可视区域事件</a:t>
            </a:r>
          </a:p>
          <a:p>
            <a:r>
              <a:rPr kumimoji="1" lang="en" altLang="zh-CN" dirty="0" err="1"/>
              <a:t>PointerOutEvent</a:t>
            </a:r>
            <a:r>
              <a:rPr kumimoji="1" lang="en" altLang="zh-CN" dirty="0"/>
              <a:t>    </a:t>
            </a:r>
            <a:r>
              <a:rPr kumimoji="1" lang="zh-CN" altLang="en-US" dirty="0"/>
              <a:t>离开可视区域事件</a:t>
            </a:r>
          </a:p>
          <a:p>
            <a:r>
              <a:rPr kumimoji="1" lang="en" altLang="zh-CN" dirty="0" err="1"/>
              <a:t>PointerStationaryEvent</a:t>
            </a:r>
            <a:r>
              <a:rPr kumimoji="1" lang="en" altLang="zh-CN" dirty="0"/>
              <a:t> </a:t>
            </a:r>
            <a:r>
              <a:rPr kumimoji="1" lang="zh-CN" altLang="en-US" dirty="0"/>
              <a:t>停留事件，当鼠标或手指在系统确定的设定时间内没有变化时发送</a:t>
            </a:r>
          </a:p>
          <a:p>
            <a:r>
              <a:rPr kumimoji="1" lang="en" altLang="zh-CN" dirty="0" err="1"/>
              <a:t>PointerCancelEvent</a:t>
            </a:r>
            <a:r>
              <a:rPr kumimoji="1" lang="en" altLang="zh-CN" dirty="0"/>
              <a:t> </a:t>
            </a:r>
            <a:r>
              <a:rPr kumimoji="1" lang="zh-CN" altLang="en-US" dirty="0"/>
              <a:t>取消事件</a:t>
            </a:r>
          </a:p>
          <a:p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855B2A2-8C53-D24E-D50A-C9EB12936B78}"/>
              </a:ext>
            </a:extLst>
          </p:cNvPr>
          <p:cNvSpPr txBox="1"/>
          <p:nvPr/>
        </p:nvSpPr>
        <p:spPr>
          <a:xfrm>
            <a:off x="1072055" y="5370161"/>
            <a:ext cx="457689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var label = </a:t>
            </a:r>
            <a:r>
              <a:rPr kumimoji="1" lang="en" altLang="zh-CN" dirty="0" err="1"/>
              <a:t>root.Q</a:t>
            </a:r>
            <a:r>
              <a:rPr kumimoji="1" lang="en" altLang="zh-CN" dirty="0"/>
              <a:t>&lt;Label&gt;();</a:t>
            </a:r>
          </a:p>
          <a:p>
            <a:r>
              <a:rPr kumimoji="1" lang="en" altLang="zh-CN" dirty="0" err="1"/>
              <a:t>label.RegisterCallback</a:t>
            </a:r>
            <a:r>
              <a:rPr kumimoji="1" lang="en" altLang="zh-CN" dirty="0"/>
              <a:t>&lt;</a:t>
            </a:r>
            <a:r>
              <a:rPr kumimoji="1" lang="en" altLang="zh-CN" dirty="0" err="1"/>
              <a:t>ClickEvent</a:t>
            </a:r>
            <a:r>
              <a:rPr kumimoji="1" lang="en" altLang="zh-CN" dirty="0"/>
              <a:t>&gt;((</a:t>
            </a:r>
            <a:r>
              <a:rPr kumimoji="1" lang="en" altLang="zh-CN" dirty="0" err="1"/>
              <a:t>evt</a:t>
            </a:r>
            <a:r>
              <a:rPr kumimoji="1" lang="en" altLang="zh-CN" dirty="0"/>
              <a:t>)=&gt; {</a:t>
            </a:r>
          </a:p>
          <a:p>
            <a:r>
              <a:rPr kumimoji="1" lang="en" altLang="zh-CN" dirty="0"/>
              <a:t>    </a:t>
            </a:r>
            <a:r>
              <a:rPr kumimoji="1" lang="en" altLang="zh-CN" dirty="0" err="1"/>
              <a:t>Debug.Log</a:t>
            </a:r>
            <a:r>
              <a:rPr kumimoji="1" lang="en" altLang="zh-CN" dirty="0"/>
              <a:t>("click"); </a:t>
            </a:r>
          </a:p>
          <a:p>
            <a:r>
              <a:rPr kumimoji="1" lang="en" altLang="zh-CN" dirty="0"/>
              <a:t>});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29514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7B8BBA-CC86-3DFF-B774-7541A0FE0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5.4.2</a:t>
            </a:r>
            <a:r>
              <a:rPr kumimoji="1" lang="zh-CN" altLang="en-US" dirty="0"/>
              <a:t> 焦点事件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E25198-F793-F083-C03F-378ACB0CF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15152" cy="1117272"/>
          </a:xfrm>
        </p:spPr>
        <p:txBody>
          <a:bodyPr/>
          <a:lstStyle/>
          <a:p>
            <a:r>
              <a:rPr kumimoji="1" lang="zh-CN" altLang="en-US" dirty="0"/>
              <a:t>如：输入框需要焦点才能输入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1CA4FE6-FB75-A768-C9B3-E34AD31B3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6197" y="1761523"/>
            <a:ext cx="4732738" cy="333495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A9F8EFB-B430-3ECC-81D2-D17D5457E45F}"/>
              </a:ext>
            </a:extLst>
          </p:cNvPr>
          <p:cNvSpPr txBox="1"/>
          <p:nvPr/>
        </p:nvSpPr>
        <p:spPr>
          <a:xfrm>
            <a:off x="838200" y="2701159"/>
            <a:ext cx="5424883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var </a:t>
            </a:r>
            <a:r>
              <a:rPr kumimoji="1" lang="en" altLang="zh-CN" dirty="0" err="1"/>
              <a:t>textField</a:t>
            </a:r>
            <a:r>
              <a:rPr kumimoji="1" lang="en" altLang="zh-CN" dirty="0"/>
              <a:t> = </a:t>
            </a:r>
            <a:r>
              <a:rPr kumimoji="1" lang="en" altLang="zh-CN" dirty="0" err="1"/>
              <a:t>root.Q</a:t>
            </a:r>
            <a:r>
              <a:rPr kumimoji="1" lang="en" altLang="zh-CN" dirty="0"/>
              <a:t>&lt;</a:t>
            </a:r>
            <a:r>
              <a:rPr kumimoji="1" lang="en" altLang="zh-CN" dirty="0" err="1"/>
              <a:t>TextField</a:t>
            </a:r>
            <a:r>
              <a:rPr kumimoji="1" lang="en" altLang="zh-CN" dirty="0"/>
              <a:t>&gt;();</a:t>
            </a:r>
          </a:p>
          <a:p>
            <a:r>
              <a:rPr kumimoji="1" lang="en" altLang="zh-CN" dirty="0" err="1"/>
              <a:t>textField.RegisterCallback</a:t>
            </a:r>
            <a:r>
              <a:rPr kumimoji="1" lang="en" altLang="zh-CN" dirty="0"/>
              <a:t>&lt;</a:t>
            </a:r>
            <a:r>
              <a:rPr kumimoji="1" lang="en" altLang="zh-CN" dirty="0" err="1"/>
              <a:t>FocusOutEvent</a:t>
            </a:r>
            <a:r>
              <a:rPr kumimoji="1" lang="en" altLang="zh-CN" dirty="0"/>
              <a:t>&gt;((</a:t>
            </a:r>
            <a:r>
              <a:rPr kumimoji="1" lang="en" altLang="zh-CN" dirty="0" err="1"/>
              <a:t>evt</a:t>
            </a:r>
            <a:r>
              <a:rPr kumimoji="1" lang="en" altLang="zh-CN" dirty="0"/>
              <a:t>)=&gt; {</a:t>
            </a:r>
          </a:p>
          <a:p>
            <a:r>
              <a:rPr kumimoji="1" lang="en" altLang="zh-CN" dirty="0"/>
              <a:t>    </a:t>
            </a:r>
            <a:r>
              <a:rPr kumimoji="1" lang="en" altLang="zh-CN" dirty="0" err="1"/>
              <a:t>Debug.Log</a:t>
            </a:r>
            <a:r>
              <a:rPr kumimoji="1" lang="en" altLang="zh-CN" dirty="0"/>
              <a:t>("</a:t>
            </a:r>
            <a:r>
              <a:rPr kumimoji="1" lang="zh-CN" altLang="en-US" dirty="0"/>
              <a:t>失去焦点之前发送</a:t>
            </a:r>
            <a:r>
              <a:rPr kumimoji="1" lang="en-US" altLang="zh-CN" dirty="0"/>
              <a:t>"); </a:t>
            </a:r>
          </a:p>
          <a:p>
            <a:r>
              <a:rPr kumimoji="1" lang="en-US" altLang="zh-CN" dirty="0"/>
              <a:t>});</a:t>
            </a:r>
          </a:p>
          <a:p>
            <a:r>
              <a:rPr kumimoji="1" lang="en" altLang="zh-CN" dirty="0" err="1"/>
              <a:t>textField.RegisterCallback</a:t>
            </a:r>
            <a:r>
              <a:rPr kumimoji="1" lang="en" altLang="zh-CN" dirty="0"/>
              <a:t>&lt;</a:t>
            </a:r>
            <a:r>
              <a:rPr kumimoji="1" lang="en" altLang="zh-CN" dirty="0" err="1"/>
              <a:t>FocusInEvent</a:t>
            </a:r>
            <a:r>
              <a:rPr kumimoji="1" lang="en" altLang="zh-CN" dirty="0"/>
              <a:t>&gt;((</a:t>
            </a:r>
            <a:r>
              <a:rPr kumimoji="1" lang="en" altLang="zh-CN" dirty="0" err="1"/>
              <a:t>evt</a:t>
            </a:r>
            <a:r>
              <a:rPr kumimoji="1" lang="en" altLang="zh-CN" dirty="0"/>
              <a:t>) =&gt; {</a:t>
            </a:r>
          </a:p>
          <a:p>
            <a:r>
              <a:rPr kumimoji="1" lang="en" altLang="zh-CN" dirty="0"/>
              <a:t>    </a:t>
            </a:r>
            <a:r>
              <a:rPr kumimoji="1" lang="en" altLang="zh-CN" dirty="0" err="1"/>
              <a:t>Debug.Log</a:t>
            </a:r>
            <a:r>
              <a:rPr kumimoji="1" lang="en" altLang="zh-CN" dirty="0"/>
              <a:t>("</a:t>
            </a:r>
            <a:r>
              <a:rPr kumimoji="1" lang="zh-CN" altLang="en-US" dirty="0"/>
              <a:t>获得焦点之前发送</a:t>
            </a:r>
            <a:r>
              <a:rPr kumimoji="1" lang="en-US" altLang="zh-CN" dirty="0"/>
              <a:t>");</a:t>
            </a:r>
          </a:p>
          <a:p>
            <a:r>
              <a:rPr kumimoji="1" lang="en-US" altLang="zh-CN" dirty="0"/>
              <a:t>});</a:t>
            </a:r>
          </a:p>
          <a:p>
            <a:r>
              <a:rPr kumimoji="1" lang="en" altLang="zh-CN" dirty="0" err="1"/>
              <a:t>textField.RegisterCallback</a:t>
            </a:r>
            <a:r>
              <a:rPr kumimoji="1" lang="en" altLang="zh-CN" dirty="0"/>
              <a:t>&lt;</a:t>
            </a:r>
            <a:r>
              <a:rPr kumimoji="1" lang="en" altLang="zh-CN" dirty="0" err="1"/>
              <a:t>BlurEvent</a:t>
            </a:r>
            <a:r>
              <a:rPr kumimoji="1" lang="en" altLang="zh-CN" dirty="0"/>
              <a:t>&gt;((</a:t>
            </a:r>
            <a:r>
              <a:rPr kumimoji="1" lang="en" altLang="zh-CN" dirty="0" err="1"/>
              <a:t>evt</a:t>
            </a:r>
            <a:r>
              <a:rPr kumimoji="1" lang="en" altLang="zh-CN" dirty="0"/>
              <a:t>) =&gt; {</a:t>
            </a:r>
          </a:p>
          <a:p>
            <a:r>
              <a:rPr kumimoji="1" lang="en" altLang="zh-CN" dirty="0"/>
              <a:t>    </a:t>
            </a:r>
            <a:r>
              <a:rPr kumimoji="1" lang="en" altLang="zh-CN" dirty="0" err="1"/>
              <a:t>Debug.Log</a:t>
            </a:r>
            <a:r>
              <a:rPr kumimoji="1" lang="en" altLang="zh-CN" dirty="0"/>
              <a:t>("</a:t>
            </a:r>
            <a:r>
              <a:rPr kumimoji="1" lang="zh-CN" altLang="en-US" dirty="0"/>
              <a:t>失去焦点之后发送</a:t>
            </a:r>
            <a:r>
              <a:rPr kumimoji="1" lang="en-US" altLang="zh-CN" dirty="0"/>
              <a:t>");</a:t>
            </a:r>
          </a:p>
          <a:p>
            <a:r>
              <a:rPr kumimoji="1" lang="en-US" altLang="zh-CN" dirty="0"/>
              <a:t>});</a:t>
            </a:r>
          </a:p>
          <a:p>
            <a:r>
              <a:rPr kumimoji="1" lang="en" altLang="zh-CN" dirty="0" err="1"/>
              <a:t>textField.RegisterCallback</a:t>
            </a:r>
            <a:r>
              <a:rPr kumimoji="1" lang="en" altLang="zh-CN" dirty="0"/>
              <a:t>&lt;</a:t>
            </a:r>
            <a:r>
              <a:rPr kumimoji="1" lang="en" altLang="zh-CN" dirty="0" err="1"/>
              <a:t>FocusEvent</a:t>
            </a:r>
            <a:r>
              <a:rPr kumimoji="1" lang="en" altLang="zh-CN" dirty="0"/>
              <a:t>&gt;((</a:t>
            </a:r>
            <a:r>
              <a:rPr kumimoji="1" lang="en" altLang="zh-CN" dirty="0" err="1"/>
              <a:t>evt</a:t>
            </a:r>
            <a:r>
              <a:rPr kumimoji="1" lang="en" altLang="zh-CN" dirty="0"/>
              <a:t>) =&gt; {</a:t>
            </a:r>
          </a:p>
          <a:p>
            <a:r>
              <a:rPr kumimoji="1" lang="en" altLang="zh-CN" dirty="0"/>
              <a:t>    </a:t>
            </a:r>
            <a:r>
              <a:rPr kumimoji="1" lang="en" altLang="zh-CN" dirty="0" err="1"/>
              <a:t>Debug.Log</a:t>
            </a:r>
            <a:r>
              <a:rPr kumimoji="1" lang="en" altLang="zh-CN" dirty="0"/>
              <a:t>("</a:t>
            </a:r>
            <a:r>
              <a:rPr kumimoji="1" lang="zh-CN" altLang="en-US" dirty="0"/>
              <a:t>获取焦点之后发送</a:t>
            </a:r>
            <a:r>
              <a:rPr kumimoji="1" lang="en-US" altLang="zh-CN" dirty="0"/>
              <a:t>");</a:t>
            </a:r>
          </a:p>
          <a:p>
            <a:r>
              <a:rPr kumimoji="1" lang="en-US" altLang="zh-CN" dirty="0"/>
              <a:t>});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886014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A8E287-1794-9537-F215-3BA6F272A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5.4.3</a:t>
            </a:r>
            <a:r>
              <a:rPr kumimoji="1" lang="zh-CN" altLang="en-US" dirty="0"/>
              <a:t> 键盘事件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666BB4C-CE08-6510-3DE9-040EE435EA13}"/>
              </a:ext>
            </a:extLst>
          </p:cNvPr>
          <p:cNvSpPr txBox="1"/>
          <p:nvPr/>
        </p:nvSpPr>
        <p:spPr>
          <a:xfrm>
            <a:off x="838200" y="2007477"/>
            <a:ext cx="807625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UIDocument</a:t>
            </a:r>
            <a:r>
              <a:rPr kumimoji="1" lang="en" altLang="zh-CN" dirty="0"/>
              <a:t> document = </a:t>
            </a:r>
            <a:r>
              <a:rPr kumimoji="1" lang="en" altLang="zh-CN" dirty="0" err="1"/>
              <a:t>GetComponent</a:t>
            </a:r>
            <a:r>
              <a:rPr kumimoji="1" lang="en" altLang="zh-CN" dirty="0"/>
              <a:t>&lt;</a:t>
            </a:r>
            <a:r>
              <a:rPr kumimoji="1" lang="en" altLang="zh-CN" dirty="0" err="1"/>
              <a:t>UIDocument</a:t>
            </a:r>
            <a:r>
              <a:rPr kumimoji="1" lang="en" altLang="zh-CN" dirty="0"/>
              <a:t>&gt;();</a:t>
            </a:r>
          </a:p>
          <a:p>
            <a:r>
              <a:rPr kumimoji="1" lang="en" altLang="zh-CN" dirty="0"/>
              <a:t>var root = </a:t>
            </a:r>
            <a:r>
              <a:rPr kumimoji="1" lang="en" altLang="zh-CN" dirty="0" err="1"/>
              <a:t>document.rootVisualElement</a:t>
            </a:r>
            <a:r>
              <a:rPr kumimoji="1" lang="en" altLang="zh-CN" dirty="0"/>
              <a:t>;</a:t>
            </a:r>
          </a:p>
          <a:p>
            <a:r>
              <a:rPr kumimoji="1" lang="en" altLang="zh-CN" dirty="0"/>
              <a:t>//</a:t>
            </a:r>
            <a:r>
              <a:rPr kumimoji="1" lang="zh-CN" altLang="en-US" dirty="0"/>
              <a:t>强制让顶层布局获得焦点</a:t>
            </a:r>
          </a:p>
          <a:p>
            <a:r>
              <a:rPr kumimoji="1" lang="en" altLang="zh-CN" dirty="0" err="1"/>
              <a:t>root.focusable</a:t>
            </a:r>
            <a:r>
              <a:rPr kumimoji="1" lang="en" altLang="zh-CN" dirty="0"/>
              <a:t> = true;</a:t>
            </a:r>
          </a:p>
          <a:p>
            <a:r>
              <a:rPr kumimoji="1" lang="en" altLang="zh-CN" dirty="0" err="1"/>
              <a:t>root.Focus</a:t>
            </a:r>
            <a:r>
              <a:rPr kumimoji="1" lang="en" altLang="zh-CN" dirty="0"/>
              <a:t>();</a:t>
            </a:r>
          </a:p>
          <a:p>
            <a:r>
              <a:rPr kumimoji="1" lang="en" altLang="zh-CN" dirty="0"/>
              <a:t>//</a:t>
            </a:r>
            <a:r>
              <a:rPr kumimoji="1" lang="zh-CN" altLang="en-US" dirty="0"/>
              <a:t>监听按下抬起事件</a:t>
            </a:r>
          </a:p>
          <a:p>
            <a:r>
              <a:rPr kumimoji="1" lang="en" altLang="zh-CN" dirty="0" err="1"/>
              <a:t>root.RegisterCallback</a:t>
            </a:r>
            <a:r>
              <a:rPr kumimoji="1" lang="en" altLang="zh-CN" dirty="0"/>
              <a:t>&lt;</a:t>
            </a:r>
            <a:r>
              <a:rPr kumimoji="1" lang="en" altLang="zh-CN" dirty="0" err="1"/>
              <a:t>KeyDownEvent</a:t>
            </a:r>
            <a:r>
              <a:rPr kumimoji="1" lang="en" altLang="zh-CN" dirty="0"/>
              <a:t>&gt;(</a:t>
            </a:r>
            <a:r>
              <a:rPr kumimoji="1" lang="en" altLang="zh-CN" dirty="0" err="1"/>
              <a:t>OnKeyDown</a:t>
            </a:r>
            <a:r>
              <a:rPr kumimoji="1" lang="en" altLang="zh-CN" dirty="0"/>
              <a:t>, </a:t>
            </a:r>
            <a:r>
              <a:rPr kumimoji="1" lang="en" altLang="zh-CN" dirty="0" err="1"/>
              <a:t>TrickleDown.TrickleDown</a:t>
            </a:r>
            <a:r>
              <a:rPr kumimoji="1" lang="en" altLang="zh-CN" dirty="0"/>
              <a:t>);</a:t>
            </a:r>
          </a:p>
          <a:p>
            <a:r>
              <a:rPr kumimoji="1" lang="en" altLang="zh-CN" dirty="0" err="1"/>
              <a:t>root.RegisterCallback</a:t>
            </a:r>
            <a:r>
              <a:rPr kumimoji="1" lang="en" altLang="zh-CN" dirty="0"/>
              <a:t>&lt;</a:t>
            </a:r>
            <a:r>
              <a:rPr kumimoji="1" lang="en" altLang="zh-CN" dirty="0" err="1"/>
              <a:t>KeyUpEvent</a:t>
            </a:r>
            <a:r>
              <a:rPr kumimoji="1" lang="en" altLang="zh-CN" dirty="0"/>
              <a:t>&gt;(</a:t>
            </a:r>
            <a:r>
              <a:rPr kumimoji="1" lang="en" altLang="zh-CN" dirty="0" err="1"/>
              <a:t>OnKeyUp</a:t>
            </a:r>
            <a:r>
              <a:rPr kumimoji="1" lang="en" altLang="zh-CN" dirty="0"/>
              <a:t>, </a:t>
            </a:r>
            <a:r>
              <a:rPr kumimoji="1" lang="en" altLang="zh-CN" dirty="0" err="1"/>
              <a:t>TrickleDown.TrickleDown</a:t>
            </a:r>
            <a:r>
              <a:rPr kumimoji="1" lang="en" altLang="zh-CN" dirty="0"/>
              <a:t>);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28929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C00888-2180-B9EE-4E9B-177260A68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5.4.4</a:t>
            </a:r>
            <a:r>
              <a:rPr kumimoji="1" lang="zh-CN" altLang="en-US" dirty="0"/>
              <a:t> 拖动事件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3E0FCE2-7F7A-117C-7566-388777E77802}"/>
              </a:ext>
            </a:extLst>
          </p:cNvPr>
          <p:cNvSpPr txBox="1"/>
          <p:nvPr/>
        </p:nvSpPr>
        <p:spPr>
          <a:xfrm>
            <a:off x="924910" y="2249213"/>
            <a:ext cx="668324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UIDocument</a:t>
            </a:r>
            <a:r>
              <a:rPr kumimoji="1" lang="en" altLang="zh-CN" dirty="0"/>
              <a:t> document = </a:t>
            </a:r>
            <a:r>
              <a:rPr kumimoji="1" lang="en" altLang="zh-CN" dirty="0" err="1"/>
              <a:t>GetComponent</a:t>
            </a:r>
            <a:r>
              <a:rPr kumimoji="1" lang="en" altLang="zh-CN" dirty="0"/>
              <a:t>&lt;</a:t>
            </a:r>
            <a:r>
              <a:rPr kumimoji="1" lang="en" altLang="zh-CN" dirty="0" err="1"/>
              <a:t>UIDocument</a:t>
            </a:r>
            <a:r>
              <a:rPr kumimoji="1" lang="en" altLang="zh-CN" dirty="0"/>
              <a:t>&gt;();</a:t>
            </a:r>
          </a:p>
          <a:p>
            <a:r>
              <a:rPr kumimoji="1" lang="en" altLang="zh-CN" dirty="0"/>
              <a:t>var root = </a:t>
            </a:r>
            <a:r>
              <a:rPr kumimoji="1" lang="en" altLang="zh-CN" dirty="0" err="1"/>
              <a:t>document.rootVisualElement</a:t>
            </a:r>
            <a:r>
              <a:rPr kumimoji="1" lang="en" altLang="zh-CN" dirty="0"/>
              <a:t>;</a:t>
            </a:r>
          </a:p>
          <a:p>
            <a:r>
              <a:rPr kumimoji="1" lang="en" altLang="zh-CN" dirty="0" err="1"/>
              <a:t>m_Image</a:t>
            </a:r>
            <a:r>
              <a:rPr kumimoji="1" lang="en" altLang="zh-CN" dirty="0"/>
              <a:t> = </a:t>
            </a:r>
            <a:r>
              <a:rPr kumimoji="1" lang="en" altLang="zh-CN" dirty="0" err="1"/>
              <a:t>root.Q</a:t>
            </a:r>
            <a:r>
              <a:rPr kumimoji="1" lang="en" altLang="zh-CN" dirty="0"/>
              <a:t>&lt;</a:t>
            </a:r>
            <a:r>
              <a:rPr kumimoji="1" lang="en" altLang="zh-CN" dirty="0" err="1"/>
              <a:t>VisualElement</a:t>
            </a:r>
            <a:r>
              <a:rPr kumimoji="1" lang="en" altLang="zh-CN" dirty="0"/>
              <a:t>&gt;();</a:t>
            </a:r>
          </a:p>
          <a:p>
            <a:r>
              <a:rPr kumimoji="1" lang="en" altLang="zh-CN" dirty="0" err="1"/>
              <a:t>m_Image.RegisterCallback</a:t>
            </a:r>
            <a:r>
              <a:rPr kumimoji="1" lang="en" altLang="zh-CN" dirty="0"/>
              <a:t>&lt;</a:t>
            </a:r>
            <a:r>
              <a:rPr kumimoji="1" lang="en" altLang="zh-CN" dirty="0" err="1"/>
              <a:t>PointerDownEvent</a:t>
            </a:r>
            <a:r>
              <a:rPr kumimoji="1" lang="en" altLang="zh-CN" dirty="0"/>
              <a:t>&gt;(</a:t>
            </a:r>
            <a:r>
              <a:rPr kumimoji="1" lang="en" altLang="zh-CN" dirty="0" err="1"/>
              <a:t>OnPointerDown</a:t>
            </a:r>
            <a:r>
              <a:rPr kumimoji="1" lang="en" altLang="zh-CN" dirty="0"/>
              <a:t>);</a:t>
            </a:r>
          </a:p>
          <a:p>
            <a:r>
              <a:rPr kumimoji="1" lang="en" altLang="zh-CN" dirty="0" err="1"/>
              <a:t>m_Image.RegisterCallback</a:t>
            </a:r>
            <a:r>
              <a:rPr kumimoji="1" lang="en" altLang="zh-CN" dirty="0"/>
              <a:t>&lt;</a:t>
            </a:r>
            <a:r>
              <a:rPr kumimoji="1" lang="en" altLang="zh-CN" dirty="0" err="1"/>
              <a:t>PointerMoveEvent</a:t>
            </a:r>
            <a:r>
              <a:rPr kumimoji="1" lang="en" altLang="zh-CN" dirty="0"/>
              <a:t>&gt;(</a:t>
            </a:r>
            <a:r>
              <a:rPr kumimoji="1" lang="en" altLang="zh-CN" dirty="0" err="1"/>
              <a:t>OnPointerMove</a:t>
            </a:r>
            <a:r>
              <a:rPr kumimoji="1" lang="en" altLang="zh-CN" dirty="0"/>
              <a:t>);</a:t>
            </a:r>
          </a:p>
          <a:p>
            <a:r>
              <a:rPr kumimoji="1" lang="en" altLang="zh-CN" dirty="0" err="1"/>
              <a:t>m_Image.RegisterCallback</a:t>
            </a:r>
            <a:r>
              <a:rPr kumimoji="1" lang="en" altLang="zh-CN" dirty="0"/>
              <a:t>&lt;</a:t>
            </a:r>
            <a:r>
              <a:rPr kumimoji="1" lang="en" altLang="zh-CN" dirty="0" err="1"/>
              <a:t>PointerUpEvent</a:t>
            </a:r>
            <a:r>
              <a:rPr kumimoji="1" lang="en" altLang="zh-CN" dirty="0"/>
              <a:t>&gt;(</a:t>
            </a:r>
            <a:r>
              <a:rPr kumimoji="1" lang="en" altLang="zh-CN" dirty="0" err="1"/>
              <a:t>OnPointerUp</a:t>
            </a:r>
            <a:r>
              <a:rPr kumimoji="1" lang="en" altLang="zh-CN" dirty="0"/>
              <a:t>);</a:t>
            </a:r>
          </a:p>
          <a:p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905E557-2415-BBD4-1B30-23CA87CA090F}"/>
              </a:ext>
            </a:extLst>
          </p:cNvPr>
          <p:cNvSpPr txBox="1"/>
          <p:nvPr/>
        </p:nvSpPr>
        <p:spPr>
          <a:xfrm>
            <a:off x="924910" y="4438953"/>
            <a:ext cx="40991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键盘和拖动事件整体和</a:t>
            </a:r>
            <a:r>
              <a:rPr kumimoji="1" lang="en-US" altLang="zh-CN" sz="2000" dirty="0"/>
              <a:t>UGUI</a:t>
            </a:r>
            <a:r>
              <a:rPr kumimoji="1" lang="zh-CN" altLang="en-US" sz="2000" dirty="0"/>
              <a:t>都类似</a:t>
            </a:r>
          </a:p>
        </p:txBody>
      </p:sp>
    </p:spTree>
    <p:extLst>
      <p:ext uri="{BB962C8B-B14F-4D97-AF65-F5344CB8AC3E}">
        <p14:creationId xmlns:p14="http://schemas.microsoft.com/office/powerpoint/2010/main" val="22254887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539AA8-7ECB-5397-CDD5-E78A390E6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5.5</a:t>
            </a:r>
            <a:r>
              <a:rPr kumimoji="1" lang="zh-CN" altLang="en-US" dirty="0"/>
              <a:t> 进阶技巧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7DCEA9-F32A-6B8F-863D-E8E04C4F8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85741"/>
          </a:xfrm>
        </p:spPr>
        <p:txBody>
          <a:bodyPr/>
          <a:lstStyle/>
          <a:p>
            <a:r>
              <a:rPr kumimoji="1" lang="en-US" altLang="zh-CN" dirty="0"/>
              <a:t>UI</a:t>
            </a:r>
            <a:r>
              <a:rPr kumimoji="1" lang="zh-CN" altLang="en-US" dirty="0"/>
              <a:t>头顶血条</a:t>
            </a:r>
            <a:endParaRPr kumimoji="1" lang="en-US" altLang="zh-CN" dirty="0"/>
          </a:p>
          <a:p>
            <a:r>
              <a:rPr kumimoji="1" lang="zh-CN" altLang="en-US" dirty="0"/>
              <a:t>跟随角色移动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C9D6B85-8CF4-8576-1344-4DED82F34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710" y="4535027"/>
            <a:ext cx="4281805" cy="115125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3E9CD84-24CC-5D7F-8693-398BF70E0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954" y="3543409"/>
            <a:ext cx="3126105" cy="248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4552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A7E6DA-D24D-3B42-35B7-9F16F48E4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5.5.2</a:t>
            </a:r>
            <a:r>
              <a:rPr kumimoji="1" lang="zh-CN" altLang="en-US" dirty="0"/>
              <a:t> 样式覆盖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4E676C-BB37-74C9-78E2-5E2A59A02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06766" cy="4351338"/>
          </a:xfrm>
        </p:spPr>
        <p:txBody>
          <a:bodyPr/>
          <a:lstStyle/>
          <a:p>
            <a:r>
              <a:rPr kumimoji="1" lang="zh-CN" altLang="en-US" dirty="0"/>
              <a:t>覆盖原本</a:t>
            </a:r>
            <a:r>
              <a:rPr kumimoji="1" lang="en-US" altLang="zh-CN" dirty="0"/>
              <a:t>UI</a:t>
            </a:r>
            <a:r>
              <a:rPr kumimoji="1" lang="zh-CN" altLang="en-US" dirty="0"/>
              <a:t>的样式</a:t>
            </a:r>
            <a:endParaRPr kumimoji="1" lang="en-US" altLang="zh-CN" dirty="0"/>
          </a:p>
          <a:p>
            <a:r>
              <a:rPr kumimoji="1" lang="zh-CN" altLang="en-US" dirty="0"/>
              <a:t>如按钮换个默认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68ED764-38A4-3C7F-3633-CD825FBF9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1175" y="1825624"/>
            <a:ext cx="5233156" cy="4212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6058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3490FA-237A-7D11-AA9E-146EF483D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5.5.3</a:t>
            </a:r>
            <a:r>
              <a:rPr kumimoji="1" lang="zh-CN" altLang="en-US" dirty="0"/>
              <a:t> 多样式管理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3BB098-576F-5A1D-1CB7-891B94D11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69823"/>
          </a:xfrm>
        </p:spPr>
        <p:txBody>
          <a:bodyPr/>
          <a:lstStyle/>
          <a:p>
            <a:r>
              <a:rPr kumimoji="1" lang="zh-CN" altLang="en-US" dirty="0"/>
              <a:t>类似状态切换，每个状态可以配置多条样式属性</a:t>
            </a:r>
            <a:endParaRPr kumimoji="1" lang="en-US" altLang="zh-CN" dirty="0"/>
          </a:p>
          <a:p>
            <a:r>
              <a:rPr kumimoji="1" lang="zh-CN" altLang="en-US" dirty="0"/>
              <a:t>避免写一堆</a:t>
            </a:r>
            <a:r>
              <a:rPr kumimoji="1" lang="en-US" altLang="zh-CN" dirty="0"/>
              <a:t>if else</a:t>
            </a:r>
            <a:r>
              <a:rPr kumimoji="1" lang="zh-CN" altLang="en-US" dirty="0"/>
              <a:t>控制的代码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28D5223-2F2A-E19A-B860-6937D67F883E}"/>
              </a:ext>
            </a:extLst>
          </p:cNvPr>
          <p:cNvSpPr txBox="1"/>
          <p:nvPr/>
        </p:nvSpPr>
        <p:spPr>
          <a:xfrm>
            <a:off x="1019504" y="3130385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m_Root.Q&lt;Button&gt;("style1").clicked += () =&gt; {</a:t>
            </a:r>
          </a:p>
          <a:p>
            <a:r>
              <a:rPr lang="zh-CN" altLang="en-US" dirty="0"/>
              <a:t>    SetState(StyleSheet1);</a:t>
            </a:r>
          </a:p>
          <a:p>
            <a:r>
              <a:rPr lang="zh-CN" altLang="en-US" dirty="0"/>
              <a:t>};</a:t>
            </a:r>
          </a:p>
          <a:p>
            <a:r>
              <a:rPr lang="zh-CN" altLang="en-US" dirty="0"/>
              <a:t>m_Root.Q&lt;Button&gt;("style2").clicked += () =&gt; {</a:t>
            </a:r>
          </a:p>
          <a:p>
            <a:r>
              <a:rPr lang="zh-CN" altLang="en-US" dirty="0"/>
              <a:t>    SetState(StyleSheet2);</a:t>
            </a:r>
          </a:p>
          <a:p>
            <a:r>
              <a:rPr lang="zh-CN" altLang="en-US" dirty="0"/>
              <a:t>};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650C258-EE21-0863-B63D-A8835D98B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9274" y="2867405"/>
            <a:ext cx="3301277" cy="3440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3610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656EFC-F769-97C4-2F9E-CBCC677EF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5.5.4</a:t>
            </a:r>
            <a:r>
              <a:rPr kumimoji="1" lang="zh-CN" altLang="en-US" dirty="0"/>
              <a:t> 调试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1705B0-27C6-02C7-E790-84539EFFC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903372" cy="1222375"/>
          </a:xfrm>
        </p:spPr>
        <p:txBody>
          <a:bodyPr/>
          <a:lstStyle/>
          <a:p>
            <a:r>
              <a:rPr kumimoji="1" lang="en" altLang="zh-CN" dirty="0"/>
              <a:t>Windows -&gt;</a:t>
            </a:r>
            <a:r>
              <a:rPr kumimoji="1" lang="en" altLang="zh-CN" dirty="0" err="1"/>
              <a:t>UIToolkit</a:t>
            </a:r>
            <a:r>
              <a:rPr kumimoji="1" lang="en" altLang="zh-CN" dirty="0"/>
              <a:t> -&gt;Debugger</a:t>
            </a:r>
          </a:p>
          <a:p>
            <a:r>
              <a:rPr kumimoji="1" lang="zh-CN" altLang="en-US" dirty="0"/>
              <a:t>查看界面中到底是如何布局设置样式的。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73514C5-962B-1CD2-8D35-D2AA03824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26086"/>
            <a:ext cx="7153481" cy="3166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3762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5D438A-F2DC-E991-4FE0-F9B008258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5.5.5</a:t>
            </a:r>
            <a:r>
              <a:rPr kumimoji="1" lang="zh-CN" altLang="en-US" dirty="0"/>
              <a:t> 编辑器窗口面板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717E6F-EA30-0A39-AF12-377FB2A52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74324" cy="4351338"/>
          </a:xfrm>
        </p:spPr>
        <p:txBody>
          <a:bodyPr/>
          <a:lstStyle/>
          <a:p>
            <a:r>
              <a:rPr kumimoji="1" lang="zh-CN" altLang="en-US" dirty="0"/>
              <a:t>制作传统编辑界面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459E7E1-DC1A-7B84-4772-174C42AF3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0612" y="2299657"/>
            <a:ext cx="4774324" cy="439833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6FE25E2-309F-EA79-6A99-FD9993863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740" y="3502657"/>
            <a:ext cx="6584150" cy="3281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7866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0C1082-ED2F-23E7-91CA-D69A8FAA9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5.5.6</a:t>
            </a:r>
            <a:r>
              <a:rPr kumimoji="1" lang="zh-CN" altLang="en-US" dirty="0"/>
              <a:t> 编辑器脚本面板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8025A6-CA9C-C32D-2C45-FF6A8C735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r>
              <a:rPr kumimoji="1" lang="zh-CN" altLang="en-US" dirty="0"/>
              <a:t>支持脚本的拓展面板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F5F70A0-EA23-F82E-35F9-DDFB36089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807" y="3831972"/>
            <a:ext cx="3976326" cy="209586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BF28EC3-8AF4-2E25-8D4D-20B99A707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024" y="3831972"/>
            <a:ext cx="7414063" cy="2095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6378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EFCA56-F1F2-F91A-D815-C319D689C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5.5.7</a:t>
            </a:r>
            <a:r>
              <a:rPr kumimoji="1" lang="zh-CN" altLang="en-US" dirty="0"/>
              <a:t> 编辑器组合面板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368EB5-E599-8770-B1B3-C6A8A2098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一部分用默认的渲染，另一部分用自己代码来渲染</a:t>
            </a:r>
            <a:endParaRPr kumimoji="1" lang="en-US" altLang="zh-CN" dirty="0"/>
          </a:p>
          <a:p>
            <a:r>
              <a:rPr kumimoji="1" lang="zh-CN" altLang="en-US" dirty="0"/>
              <a:t>注意看数组这一栏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A7D5126-5F47-67F8-EBBE-533A0F0D2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236" y="4127291"/>
            <a:ext cx="3331845" cy="131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4692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096242-B5CB-85EB-0648-145EE6BB9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5.5.8</a:t>
            </a:r>
            <a:r>
              <a:rPr kumimoji="1" lang="zh-CN" altLang="en-US" dirty="0"/>
              <a:t> 布局与裁剪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2C33A3-3ED0-6C99-FF4C-58811101E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r>
              <a:rPr kumimoji="1" lang="en-US" altLang="zh-CN" dirty="0"/>
              <a:t>UGUI</a:t>
            </a:r>
            <a:r>
              <a:rPr kumimoji="1" lang="zh-CN" altLang="en-US" dirty="0"/>
              <a:t>的</a:t>
            </a:r>
            <a:r>
              <a:rPr kumimoji="1" lang="en-US" altLang="zh-CN" dirty="0"/>
              <a:t>Mask</a:t>
            </a:r>
            <a:r>
              <a:rPr kumimoji="1" lang="zh-CN" altLang="en-US" dirty="0"/>
              <a:t>或者</a:t>
            </a:r>
            <a:r>
              <a:rPr kumimoji="1" lang="en-US" altLang="zh-CN" dirty="0"/>
              <a:t>RectMask2D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EC6BBB8-1BEF-917F-C1CC-2CBDFB3E6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614" y="3582812"/>
            <a:ext cx="4910455" cy="242506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8EE497B-A367-966D-2BBF-6C2AA3948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1368" y="2599098"/>
            <a:ext cx="2874010" cy="3719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8916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E4528B-4F27-625B-A31D-EC7FAA5BD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5.5.9 </a:t>
            </a:r>
            <a:r>
              <a:rPr kumimoji="1" lang="zh-CN" altLang="en-US" dirty="0"/>
              <a:t>与</a:t>
            </a:r>
            <a:r>
              <a:rPr kumimoji="1" lang="en-US" altLang="zh-CN" dirty="0"/>
              <a:t>UGUI</a:t>
            </a:r>
            <a:r>
              <a:rPr kumimoji="1" lang="zh-CN" altLang="en-US" dirty="0"/>
              <a:t>混合使用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F60EBC-AAE3-903E-C62A-8C24DDA77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00444"/>
          </a:xfrm>
        </p:spPr>
        <p:txBody>
          <a:bodyPr/>
          <a:lstStyle/>
          <a:p>
            <a:r>
              <a:rPr kumimoji="1" lang="zh-CN" altLang="en-US" dirty="0"/>
              <a:t>通过</a:t>
            </a:r>
            <a:r>
              <a:rPr kumimoji="1" lang="en-US" altLang="zh-CN" dirty="0"/>
              <a:t>Sort Order</a:t>
            </a:r>
            <a:r>
              <a:rPr kumimoji="1" lang="zh-CN" altLang="en-US" dirty="0"/>
              <a:t>来排序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1866238-4E8E-D552-7462-5601D69B3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319" y="4012893"/>
            <a:ext cx="7013696" cy="155759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07DAC70-D31A-732C-BFCE-B9E546104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482" y="4332474"/>
            <a:ext cx="3284855" cy="1156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8497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4AE80E-9092-D452-74D3-45D06317F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5.5.10</a:t>
            </a:r>
            <a:r>
              <a:rPr kumimoji="1" lang="zh-CN" altLang="en-US" dirty="0"/>
              <a:t> 动画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4D3F3F-BE89-D771-E8B3-9829D97A8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49409"/>
          </a:xfrm>
        </p:spPr>
        <p:txBody>
          <a:bodyPr/>
          <a:lstStyle/>
          <a:p>
            <a:r>
              <a:rPr kumimoji="1" lang="zh-CN" altLang="en-US" dirty="0"/>
              <a:t>向</a:t>
            </a:r>
            <a:r>
              <a:rPr kumimoji="1" lang="en-US" altLang="zh-CN" dirty="0" err="1"/>
              <a:t>DoTween</a:t>
            </a:r>
            <a:r>
              <a:rPr kumimoji="1" lang="zh-CN" altLang="en-US" dirty="0"/>
              <a:t>一样内置的动画系统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5CAADDD-6DF0-BD43-B856-F2E8354AFDEE}"/>
              </a:ext>
            </a:extLst>
          </p:cNvPr>
          <p:cNvSpPr txBox="1"/>
          <p:nvPr/>
        </p:nvSpPr>
        <p:spPr>
          <a:xfrm>
            <a:off x="921509" y="2851806"/>
            <a:ext cx="993413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//</a:t>
            </a:r>
            <a:r>
              <a:rPr kumimoji="1" lang="zh-CN" altLang="en-US" dirty="0"/>
              <a:t>设置坐标</a:t>
            </a:r>
          </a:p>
          <a:p>
            <a:r>
              <a:rPr kumimoji="1" lang="en" altLang="zh-CN" dirty="0" err="1"/>
              <a:t>button.experimental.animation.TopLeft</a:t>
            </a:r>
            <a:r>
              <a:rPr kumimoji="1" lang="en" altLang="zh-CN" dirty="0"/>
              <a:t>(new Vector2(500, 300), 1000).Ease(</a:t>
            </a:r>
            <a:r>
              <a:rPr kumimoji="1" lang="en" altLang="zh-CN" dirty="0" err="1"/>
              <a:t>Easing.Linear</a:t>
            </a:r>
            <a:r>
              <a:rPr kumimoji="1" lang="en" altLang="zh-CN" dirty="0"/>
              <a:t>);</a:t>
            </a:r>
          </a:p>
          <a:p>
            <a:r>
              <a:rPr kumimoji="1" lang="en" altLang="zh-CN" dirty="0"/>
              <a:t>//</a:t>
            </a:r>
            <a:r>
              <a:rPr kumimoji="1" lang="zh-CN" altLang="en-US" dirty="0"/>
              <a:t>设置缩放</a:t>
            </a:r>
          </a:p>
          <a:p>
            <a:r>
              <a:rPr kumimoji="1" lang="en" altLang="zh-CN" dirty="0" err="1"/>
              <a:t>button.experimental.animation.Scale</a:t>
            </a:r>
            <a:r>
              <a:rPr kumimoji="1" lang="en" altLang="zh-CN" dirty="0"/>
              <a:t>(2f, 1000).Ease(</a:t>
            </a:r>
            <a:r>
              <a:rPr kumimoji="1" lang="en" altLang="zh-CN" dirty="0" err="1"/>
              <a:t>Easing.Linear</a:t>
            </a:r>
            <a:r>
              <a:rPr kumimoji="1" lang="en" altLang="zh-CN" dirty="0"/>
              <a:t>);</a:t>
            </a:r>
          </a:p>
          <a:p>
            <a:r>
              <a:rPr kumimoji="1" lang="en" altLang="zh-CN" dirty="0"/>
              <a:t>//</a:t>
            </a:r>
            <a:r>
              <a:rPr kumimoji="1" lang="zh-CN" altLang="en-US" dirty="0"/>
              <a:t>设置颜色</a:t>
            </a:r>
          </a:p>
          <a:p>
            <a:r>
              <a:rPr kumimoji="1" lang="en" altLang="zh-CN" dirty="0" err="1"/>
              <a:t>button.experimental.animation.Start</a:t>
            </a:r>
            <a:r>
              <a:rPr kumimoji="1" lang="en" altLang="zh-CN" dirty="0"/>
              <a:t>(</a:t>
            </a:r>
            <a:r>
              <a:rPr kumimoji="1" lang="en" altLang="zh-CN" dirty="0" err="1"/>
              <a:t>button.style.backgroundColor.value</a:t>
            </a:r>
            <a:r>
              <a:rPr kumimoji="1" lang="en" altLang="zh-CN" dirty="0"/>
              <a:t>, </a:t>
            </a:r>
            <a:r>
              <a:rPr kumimoji="1" lang="en" altLang="zh-CN" dirty="0" err="1"/>
              <a:t>Color.red</a:t>
            </a:r>
            <a:r>
              <a:rPr kumimoji="1" lang="en" altLang="zh-CN" dirty="0"/>
              <a:t>, 1000, (a, b) =&gt;</a:t>
            </a:r>
          </a:p>
          <a:p>
            <a:r>
              <a:rPr kumimoji="1" lang="en" altLang="zh-CN" dirty="0"/>
              <a:t>{</a:t>
            </a:r>
          </a:p>
          <a:p>
            <a:r>
              <a:rPr kumimoji="1" lang="en" altLang="zh-CN" dirty="0"/>
              <a:t>    </a:t>
            </a:r>
            <a:r>
              <a:rPr kumimoji="1" lang="en" altLang="zh-CN" dirty="0" err="1"/>
              <a:t>a.style.backgroundColor</a:t>
            </a:r>
            <a:r>
              <a:rPr kumimoji="1" lang="en" altLang="zh-CN" dirty="0"/>
              <a:t> = b;</a:t>
            </a:r>
          </a:p>
          <a:p>
            <a:r>
              <a:rPr kumimoji="1" lang="en" altLang="zh-CN" dirty="0"/>
              <a:t>}).Ease(</a:t>
            </a:r>
            <a:r>
              <a:rPr kumimoji="1" lang="en" altLang="zh-CN" dirty="0" err="1"/>
              <a:t>Easing.Linear</a:t>
            </a:r>
            <a:r>
              <a:rPr kumimoji="1" lang="en" altLang="zh-CN" dirty="0"/>
              <a:t>);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32054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D769F9-0239-42C7-8F6A-94F73D1D2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5.6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UIToolkit</a:t>
            </a:r>
            <a:r>
              <a:rPr kumimoji="1" lang="zh-CN" altLang="en-US" dirty="0"/>
              <a:t> 渲染</a:t>
            </a:r>
            <a:r>
              <a:rPr kumimoji="1" lang="en-US" altLang="zh-CN" dirty="0"/>
              <a:t>-</a:t>
            </a:r>
            <a:r>
              <a:rPr kumimoji="1" lang="zh-CN" altLang="en-US" dirty="0"/>
              <a:t>性能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CF598E-717B-E18A-7C50-B10FAF9DB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CN" dirty="0"/>
              <a:t>UGUI</a:t>
            </a:r>
            <a:r>
              <a:rPr kumimoji="1" lang="zh-CN" altLang="en-US" dirty="0"/>
              <a:t>虽然将</a:t>
            </a:r>
            <a:r>
              <a:rPr kumimoji="1" lang="en" altLang="zh-CN" dirty="0"/>
              <a:t>Mesh</a:t>
            </a:r>
            <a:r>
              <a:rPr kumimoji="1" lang="zh-CN" altLang="en-US" dirty="0"/>
              <a:t>合并在一起，因为图集是分开的，所以需要单独提交不同的纹理给</a:t>
            </a:r>
            <a:r>
              <a:rPr kumimoji="1" lang="en" altLang="zh-CN" dirty="0"/>
              <a:t>GPU</a:t>
            </a:r>
            <a:r>
              <a:rPr kumimoji="1" lang="zh-CN" altLang="en" dirty="0"/>
              <a:t>，</a:t>
            </a:r>
            <a:r>
              <a:rPr kumimoji="1" lang="zh-CN" altLang="en-US" dirty="0"/>
              <a:t>导致</a:t>
            </a:r>
            <a:r>
              <a:rPr kumimoji="1" lang="en" altLang="zh-CN" dirty="0" err="1"/>
              <a:t>DrawCall</a:t>
            </a:r>
            <a:r>
              <a:rPr kumimoji="1" lang="zh-CN" altLang="en-US" dirty="0"/>
              <a:t>可能依然很多。</a:t>
            </a:r>
          </a:p>
          <a:p>
            <a:r>
              <a:rPr kumimoji="1" lang="en" altLang="zh-CN" dirty="0"/>
              <a:t>UGUI</a:t>
            </a:r>
            <a:r>
              <a:rPr kumimoji="1" lang="zh-CN" altLang="en-US" dirty="0"/>
              <a:t>图片和文字无法合并在一起，最终由于界面叠层的原因依然会产生较多的</a:t>
            </a:r>
            <a:r>
              <a:rPr kumimoji="1" lang="en" altLang="zh-CN" dirty="0" err="1"/>
              <a:t>DrawCall</a:t>
            </a:r>
            <a:endParaRPr kumimoji="1" lang="en" altLang="zh-CN" dirty="0"/>
          </a:p>
          <a:p>
            <a:r>
              <a:rPr kumimoji="1" lang="en" altLang="zh-CN" dirty="0" err="1"/>
              <a:t>UIToolkit</a:t>
            </a:r>
            <a:r>
              <a:rPr kumimoji="1" lang="zh-CN" altLang="en-US" dirty="0"/>
              <a:t>在</a:t>
            </a:r>
            <a:r>
              <a:rPr kumimoji="1" lang="en" altLang="zh-CN" dirty="0"/>
              <a:t>GPU</a:t>
            </a:r>
            <a:r>
              <a:rPr kumimoji="1" lang="zh-CN" altLang="en-US" dirty="0"/>
              <a:t>中分配了一块</a:t>
            </a:r>
            <a:r>
              <a:rPr kumimoji="1" lang="en" altLang="zh-CN" dirty="0"/>
              <a:t>Buffer</a:t>
            </a:r>
            <a:r>
              <a:rPr kumimoji="1" lang="zh-CN" altLang="en-US" dirty="0"/>
              <a:t>来保存</a:t>
            </a:r>
            <a:r>
              <a:rPr kumimoji="1" lang="en" altLang="zh-CN" dirty="0"/>
              <a:t>VB/IB</a:t>
            </a:r>
            <a:r>
              <a:rPr kumimoji="1" lang="zh-CN" altLang="en" dirty="0"/>
              <a:t>（</a:t>
            </a:r>
            <a:r>
              <a:rPr kumimoji="1" lang="zh-CN" altLang="en-US" dirty="0"/>
              <a:t>顶点缓冲和索引缓存）当界面变化时西需要将变化的</a:t>
            </a:r>
            <a:r>
              <a:rPr kumimoji="1" lang="en" altLang="zh-CN" dirty="0"/>
              <a:t>VB/IB</a:t>
            </a:r>
            <a:r>
              <a:rPr kumimoji="1" lang="zh-CN" altLang="en-US" dirty="0"/>
              <a:t>传入</a:t>
            </a:r>
            <a:r>
              <a:rPr kumimoji="1" lang="en" altLang="zh-CN" dirty="0"/>
              <a:t>GPU</a:t>
            </a:r>
            <a:r>
              <a:rPr kumimoji="1" lang="zh-CN" altLang="en-US" dirty="0"/>
              <a:t>中，界面元素发生变化后只需要将内存偏移传入，这样只需要较小的代价就能绘制出游戏界面。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054694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D22167-DDBB-6C69-1125-6084C82BE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5.6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UIToolkit</a:t>
            </a:r>
            <a:r>
              <a:rPr kumimoji="1" lang="zh-CN" altLang="en-US" dirty="0"/>
              <a:t> 渲染</a:t>
            </a:r>
            <a:r>
              <a:rPr kumimoji="1" lang="en-US" altLang="zh-CN" dirty="0"/>
              <a:t>-</a:t>
            </a:r>
            <a:r>
              <a:rPr kumimoji="1" lang="zh-CN" altLang="en-US" dirty="0"/>
              <a:t>使用区别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A49F54-D8ED-A79D-BF44-A952C33A3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CN" dirty="0" err="1"/>
              <a:t>UIToolkit</a:t>
            </a:r>
            <a:r>
              <a:rPr kumimoji="1" lang="zh-CN" altLang="en-US" dirty="0"/>
              <a:t>支持运行时动态图集，大部分零散的小图都可以动态合并在一张图中减少</a:t>
            </a:r>
            <a:r>
              <a:rPr kumimoji="1" lang="en" altLang="zh-CN" dirty="0" err="1"/>
              <a:t>DrawCall</a:t>
            </a:r>
            <a:r>
              <a:rPr kumimoji="1" lang="zh-CN" altLang="en-US" dirty="0"/>
              <a:t>的数量。</a:t>
            </a:r>
            <a:r>
              <a:rPr kumimoji="1" lang="en" altLang="zh-CN" dirty="0"/>
              <a:t>UGUI</a:t>
            </a:r>
            <a:r>
              <a:rPr kumimoji="1" lang="zh-CN" altLang="en-US" dirty="0"/>
              <a:t>则只支持静态图集。</a:t>
            </a:r>
          </a:p>
          <a:p>
            <a:r>
              <a:rPr kumimoji="1" lang="en" altLang="zh-CN" dirty="0" err="1"/>
              <a:t>UIToolkit</a:t>
            </a:r>
            <a:r>
              <a:rPr kumimoji="1" lang="zh-CN" altLang="en-US" dirty="0"/>
              <a:t>支持</a:t>
            </a:r>
            <a:r>
              <a:rPr kumimoji="1" lang="en" altLang="zh-CN" dirty="0"/>
              <a:t>UI</a:t>
            </a:r>
            <a:r>
              <a:rPr kumimoji="1" lang="zh-CN" altLang="en-US" dirty="0"/>
              <a:t>的抗锯齿，</a:t>
            </a:r>
            <a:r>
              <a:rPr kumimoji="1" lang="en" altLang="zh-CN" dirty="0"/>
              <a:t>UGUI</a:t>
            </a:r>
            <a:r>
              <a:rPr kumimoji="1" lang="zh-CN" altLang="en-US" dirty="0"/>
              <a:t>不支持</a:t>
            </a:r>
          </a:p>
          <a:p>
            <a:r>
              <a:rPr kumimoji="1" lang="en" altLang="zh-CN" dirty="0" err="1"/>
              <a:t>UIToolkit</a:t>
            </a:r>
            <a:r>
              <a:rPr kumimoji="1" lang="zh-CN" altLang="en-US" dirty="0"/>
              <a:t>支持全局样式修改，</a:t>
            </a:r>
            <a:r>
              <a:rPr kumimoji="1" lang="en" altLang="zh-CN" dirty="0"/>
              <a:t>UGUI</a:t>
            </a:r>
            <a:r>
              <a:rPr kumimoji="1" lang="zh-CN" altLang="en-US" dirty="0"/>
              <a:t>如果开始没有使用</a:t>
            </a:r>
            <a:r>
              <a:rPr kumimoji="1" lang="en" altLang="zh-CN" dirty="0"/>
              <a:t>Prefab</a:t>
            </a:r>
            <a:r>
              <a:rPr kumimoji="1" lang="zh-CN" altLang="en-US" dirty="0"/>
              <a:t>嵌套很难后期批量修改。</a:t>
            </a:r>
          </a:p>
          <a:p>
            <a:r>
              <a:rPr kumimoji="1" lang="en" altLang="zh-CN" dirty="0" err="1"/>
              <a:t>UIToolkit</a:t>
            </a:r>
            <a:r>
              <a:rPr kumimoji="1" lang="zh-CN" altLang="en-US" dirty="0"/>
              <a:t>支持支持矢量图，程序边框、圆角、减少内存</a:t>
            </a:r>
          </a:p>
          <a:p>
            <a:r>
              <a:rPr kumimoji="1" lang="en" altLang="zh-CN" dirty="0" err="1"/>
              <a:t>UIToolkit</a:t>
            </a:r>
            <a:r>
              <a:rPr kumimoji="1" lang="zh-CN" altLang="en-US" dirty="0"/>
              <a:t>支持支持</a:t>
            </a:r>
            <a:r>
              <a:rPr kumimoji="1" lang="en" altLang="zh-CN" dirty="0"/>
              <a:t>CSS</a:t>
            </a:r>
            <a:r>
              <a:rPr kumimoji="1" lang="zh-CN" altLang="en-US" dirty="0"/>
              <a:t>过渡动画，</a:t>
            </a:r>
            <a:r>
              <a:rPr kumimoji="1" lang="en" altLang="zh-CN" dirty="0"/>
              <a:t>UGUI</a:t>
            </a:r>
            <a:r>
              <a:rPr kumimoji="1" lang="zh-CN" altLang="en-US" dirty="0"/>
              <a:t>需要接入第三方插件</a:t>
            </a:r>
          </a:p>
          <a:p>
            <a:r>
              <a:rPr kumimoji="1" lang="zh-CN" altLang="en-US" dirty="0"/>
              <a:t>全新</a:t>
            </a:r>
            <a:r>
              <a:rPr kumimoji="1" lang="en" altLang="zh-CN" dirty="0"/>
              <a:t>UI</a:t>
            </a:r>
            <a:r>
              <a:rPr kumimoji="1" lang="zh-CN" altLang="en-US" dirty="0"/>
              <a:t>渲染引擎提高性能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15153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82B857-B286-64EA-8A48-499444107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5.6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UIToolkit</a:t>
            </a:r>
            <a:r>
              <a:rPr kumimoji="1" lang="zh-CN" altLang="en-US" dirty="0"/>
              <a:t> 渲染</a:t>
            </a:r>
            <a:r>
              <a:rPr kumimoji="1" lang="en-US" altLang="zh-CN" dirty="0"/>
              <a:t>-</a:t>
            </a:r>
            <a:r>
              <a:rPr kumimoji="1" lang="zh-CN" altLang="en-US" dirty="0"/>
              <a:t>不足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F550E0-B595-C36D-C4B3-772D974B3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不支持自定义材质和</a:t>
            </a:r>
            <a:r>
              <a:rPr kumimoji="1" lang="en" altLang="zh-CN" dirty="0"/>
              <a:t>Shader</a:t>
            </a:r>
          </a:p>
          <a:p>
            <a:r>
              <a:rPr kumimoji="1" lang="zh-CN" altLang="en-US" dirty="0"/>
              <a:t>不支持</a:t>
            </a:r>
            <a:r>
              <a:rPr kumimoji="1" lang="en" altLang="zh-CN" dirty="0"/>
              <a:t>Camera</a:t>
            </a:r>
            <a:r>
              <a:rPr kumimoji="1" lang="zh-CN" altLang="en-US" dirty="0"/>
              <a:t>模式，无法实现</a:t>
            </a:r>
            <a:r>
              <a:rPr kumimoji="1" lang="en" altLang="zh-CN" dirty="0"/>
              <a:t>UI</a:t>
            </a:r>
            <a:r>
              <a:rPr kumimoji="1" lang="zh-CN" altLang="en-US" dirty="0"/>
              <a:t>与</a:t>
            </a:r>
            <a:r>
              <a:rPr kumimoji="1" lang="en-US" altLang="zh-CN" dirty="0"/>
              <a:t>3</a:t>
            </a:r>
            <a:r>
              <a:rPr kumimoji="1" lang="en" altLang="zh-CN" dirty="0"/>
              <a:t>D</a:t>
            </a:r>
            <a:r>
              <a:rPr kumimoji="1" lang="zh-CN" altLang="en-US" dirty="0"/>
              <a:t>或者粒子之间的叠层</a:t>
            </a:r>
          </a:p>
          <a:p>
            <a:r>
              <a:rPr kumimoji="1" lang="zh-CN" altLang="en-US" dirty="0"/>
              <a:t>不支持</a:t>
            </a:r>
            <a:r>
              <a:rPr kumimoji="1" lang="en" altLang="zh-CN" dirty="0"/>
              <a:t>Mask</a:t>
            </a:r>
            <a:r>
              <a:rPr kumimoji="1" lang="zh-CN" altLang="en-US" dirty="0"/>
              <a:t>模板裁剪，只支持矩形裁剪</a:t>
            </a:r>
          </a:p>
          <a:p>
            <a:r>
              <a:rPr kumimoji="1" lang="zh-CN" altLang="en-US" dirty="0"/>
              <a:t>不支持</a:t>
            </a:r>
            <a:r>
              <a:rPr kumimoji="1" lang="en" altLang="zh-CN" dirty="0"/>
              <a:t>Timeline</a:t>
            </a:r>
            <a:r>
              <a:rPr kumimoji="1" lang="zh-CN" altLang="en-US" dirty="0"/>
              <a:t>和</a:t>
            </a:r>
            <a:r>
              <a:rPr kumimoji="1" lang="en" altLang="zh-CN" dirty="0" err="1"/>
              <a:t>Aniamtion</a:t>
            </a:r>
            <a:r>
              <a:rPr kumimoji="1" lang="zh-CN" altLang="en-US" dirty="0"/>
              <a:t>中</a:t>
            </a:r>
            <a:r>
              <a:rPr kumimoji="1" lang="en" altLang="zh-CN" dirty="0"/>
              <a:t>K</a:t>
            </a:r>
            <a:r>
              <a:rPr kumimoji="1" lang="zh-CN" altLang="en-US" dirty="0"/>
              <a:t>帧动画</a:t>
            </a:r>
          </a:p>
          <a:p>
            <a:r>
              <a:rPr kumimoji="1" lang="zh-CN" altLang="en-US" dirty="0"/>
              <a:t>以上内容</a:t>
            </a:r>
            <a:r>
              <a:rPr kumimoji="1" lang="en" altLang="zh-CN" dirty="0" err="1"/>
              <a:t>UIToolkit</a:t>
            </a:r>
            <a:r>
              <a:rPr kumimoji="1" lang="zh-CN" altLang="en-US" dirty="0"/>
              <a:t>的</a:t>
            </a:r>
            <a:r>
              <a:rPr kumimoji="1" lang="en" altLang="zh-CN" dirty="0"/>
              <a:t>roadmap</a:t>
            </a:r>
            <a:r>
              <a:rPr kumimoji="1" lang="zh-CN" altLang="en-US" dirty="0"/>
              <a:t>中都有提到未来会陆续支持，大家耐心的等待吧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82119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363C59-3419-8172-2919-7D3CB16E1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5.6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UIToolkit</a:t>
            </a:r>
            <a:r>
              <a:rPr kumimoji="1" lang="zh-CN" altLang="en-US" dirty="0"/>
              <a:t> 渲染</a:t>
            </a:r>
            <a:r>
              <a:rPr kumimoji="1" lang="en-US" altLang="zh-CN" dirty="0"/>
              <a:t>-</a:t>
            </a:r>
            <a:r>
              <a:rPr kumimoji="1" lang="zh-CN" altLang="en-US" dirty="0"/>
              <a:t>使用场景推荐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467562-BEEE-9D45-DBA9-4686C7771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大量人物头顶血条</a:t>
            </a:r>
            <a:r>
              <a:rPr kumimoji="1" lang="en-US" altLang="zh-CN" dirty="0"/>
              <a:t>+</a:t>
            </a:r>
            <a:r>
              <a:rPr kumimoji="1" lang="zh-CN" altLang="en-US" dirty="0"/>
              <a:t>名字</a:t>
            </a:r>
          </a:p>
          <a:p>
            <a:r>
              <a:rPr kumimoji="1" lang="zh-CN" altLang="en-US" dirty="0"/>
              <a:t>大量冒血数字图文混排</a:t>
            </a:r>
          </a:p>
          <a:p>
            <a:r>
              <a:rPr kumimoji="1" lang="zh-CN" altLang="en-US" dirty="0"/>
              <a:t>对性能问题有要求的界面</a:t>
            </a:r>
          </a:p>
          <a:p>
            <a:r>
              <a:rPr kumimoji="1" lang="zh-CN" altLang="en-US" dirty="0"/>
              <a:t>如：战斗界面优化，配合动态图集让战斗界面</a:t>
            </a:r>
            <a:r>
              <a:rPr kumimoji="1" lang="en-US" altLang="zh-CN" dirty="0"/>
              <a:t>1</a:t>
            </a:r>
            <a:r>
              <a:rPr kumimoji="1" lang="zh-CN" altLang="en-US" dirty="0"/>
              <a:t>个</a:t>
            </a:r>
            <a:r>
              <a:rPr kumimoji="1" lang="en" altLang="zh-CN" dirty="0" err="1"/>
              <a:t>Drawcall</a:t>
            </a:r>
            <a:r>
              <a:rPr kumimoji="1" lang="zh-CN" altLang="en-US" dirty="0"/>
              <a:t>画完</a:t>
            </a:r>
          </a:p>
          <a:p>
            <a:r>
              <a:rPr kumimoji="1" lang="zh-CN" altLang="en-US" dirty="0"/>
              <a:t>如：</a:t>
            </a:r>
            <a:r>
              <a:rPr kumimoji="1" lang="en" altLang="zh-CN" dirty="0"/>
              <a:t>MMO</a:t>
            </a:r>
            <a:r>
              <a:rPr kumimoji="1" lang="zh-CN" altLang="en" dirty="0"/>
              <a:t>、</a:t>
            </a:r>
            <a:r>
              <a:rPr kumimoji="1" lang="en" altLang="zh-CN" dirty="0"/>
              <a:t>SLG</a:t>
            </a:r>
            <a:r>
              <a:rPr kumimoji="1" lang="zh-CN" altLang="en-US" dirty="0"/>
              <a:t>游戏全屏的头顶文字图文混排</a:t>
            </a:r>
            <a:r>
              <a:rPr kumimoji="1" lang="en-US" altLang="zh-CN" dirty="0"/>
              <a:t>1</a:t>
            </a:r>
            <a:r>
              <a:rPr kumimoji="1" lang="zh-CN" altLang="en-US" dirty="0"/>
              <a:t>个</a:t>
            </a:r>
            <a:r>
              <a:rPr kumimoji="1" lang="en" altLang="zh-CN" dirty="0" err="1"/>
              <a:t>Drawcall</a:t>
            </a:r>
            <a:r>
              <a:rPr kumimoji="1" lang="zh-CN" altLang="en-US" dirty="0"/>
              <a:t>画完</a:t>
            </a:r>
          </a:p>
          <a:p>
            <a:r>
              <a:rPr kumimoji="1" lang="zh-CN" altLang="en-US" dirty="0"/>
              <a:t>如：打怪频繁跳动的冒血数字，低成本提交</a:t>
            </a:r>
            <a:r>
              <a:rPr kumimoji="1" lang="en" altLang="zh-CN" dirty="0"/>
              <a:t>VB/IB</a:t>
            </a:r>
            <a:r>
              <a:rPr kumimoji="1" lang="zh-CN" altLang="en-US" dirty="0"/>
              <a:t>方案，</a:t>
            </a:r>
            <a:r>
              <a:rPr kumimoji="1" lang="en-US" altLang="zh-CN" dirty="0"/>
              <a:t>1</a:t>
            </a:r>
            <a:r>
              <a:rPr kumimoji="1" lang="zh-CN" altLang="en-US" dirty="0"/>
              <a:t>个</a:t>
            </a:r>
            <a:r>
              <a:rPr kumimoji="1" lang="en" altLang="zh-CN" dirty="0" err="1"/>
              <a:t>Drawcall</a:t>
            </a:r>
            <a:r>
              <a:rPr kumimoji="1" lang="zh-CN" altLang="en-US" dirty="0"/>
              <a:t>画完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98392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899614-5353-B3B5-BB0F-C6C14865E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5.7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UIToolkit</a:t>
            </a:r>
            <a:r>
              <a:rPr kumimoji="1" lang="zh-CN" altLang="en-US" dirty="0"/>
              <a:t> 学习资料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18C9D7DA-7B84-8027-2384-A4C78E77D8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4606" y="1468273"/>
            <a:ext cx="8435202" cy="435133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ED0BC9E-7A2D-FDEC-6BA3-318199B1C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7294" y="3339661"/>
            <a:ext cx="6944706" cy="3518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291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1681</Words>
  <Application>Microsoft Macintosh PowerPoint</Application>
  <PresentationFormat>宽屏</PresentationFormat>
  <Paragraphs>230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48" baseType="lpstr">
      <vt:lpstr>等线</vt:lpstr>
      <vt:lpstr>等线</vt:lpstr>
      <vt:lpstr>等线 Light</vt:lpstr>
      <vt:lpstr>Arial</vt:lpstr>
      <vt:lpstr>Office 主题​​</vt:lpstr>
      <vt:lpstr>Unity3D游戏开发第三版</vt:lpstr>
      <vt:lpstr>第5章 UI Toolkit</vt:lpstr>
      <vt:lpstr>5.1 UIToolkit简介</vt:lpstr>
      <vt:lpstr>5.2 UIBuilder编辑器</vt:lpstr>
      <vt:lpstr>5.2.1 Style Sheet</vt:lpstr>
      <vt:lpstr>5.2.2 Hierarchy视图</vt:lpstr>
      <vt:lpstr>5.2.3 Library视图</vt:lpstr>
      <vt:lpstr>5.2.4 ViewPort视图</vt:lpstr>
      <vt:lpstr>5.2.5 Inspector视图</vt:lpstr>
      <vt:lpstr>5.3 UI组件</vt:lpstr>
      <vt:lpstr>5.3.1 Text 组件</vt:lpstr>
      <vt:lpstr>5.3.2 Visual Element</vt:lpstr>
      <vt:lpstr>5.3.3其他UI组件</vt:lpstr>
      <vt:lpstr>5.3.4 基础容器</vt:lpstr>
      <vt:lpstr>5.3.5 ScrollView</vt:lpstr>
      <vt:lpstr>5.3.6 ListView</vt:lpstr>
      <vt:lpstr>5.3.8 TreeView</vt:lpstr>
      <vt:lpstr>5.3.9 GroupBox</vt:lpstr>
      <vt:lpstr>5.3.10 控制组件</vt:lpstr>
      <vt:lpstr>5.3.11 加载与嵌套</vt:lpstr>
      <vt:lpstr>5.3.12 自适应UI</vt:lpstr>
      <vt:lpstr>5.3.13 动态图集</vt:lpstr>
      <vt:lpstr>5.3.14 自定义UI组件</vt:lpstr>
      <vt:lpstr>5.4 事件系统</vt:lpstr>
      <vt:lpstr>5.4.1 点击事件</vt:lpstr>
      <vt:lpstr>5.4.2 焦点事件</vt:lpstr>
      <vt:lpstr>5.4.3 键盘事件</vt:lpstr>
      <vt:lpstr>5.4.4 拖动事件</vt:lpstr>
      <vt:lpstr>5.5 进阶技巧</vt:lpstr>
      <vt:lpstr>5.5.2 样式覆盖</vt:lpstr>
      <vt:lpstr>5.5.3 多样式管理</vt:lpstr>
      <vt:lpstr>5.5.4 调试</vt:lpstr>
      <vt:lpstr>5.5.5 编辑器窗口面板</vt:lpstr>
      <vt:lpstr>5.5.6 编辑器脚本面板</vt:lpstr>
      <vt:lpstr>5.5.7 编辑器组合面板</vt:lpstr>
      <vt:lpstr>5.5.8 布局与裁剪</vt:lpstr>
      <vt:lpstr>5.5.9 与UGUI混合使用</vt:lpstr>
      <vt:lpstr>5.5.10 动画</vt:lpstr>
      <vt:lpstr>5.6 UIToolkit 渲染-性能</vt:lpstr>
      <vt:lpstr>5.6 UIToolkit 渲染-使用区别</vt:lpstr>
      <vt:lpstr>5.6 UIToolkit 渲染-不足</vt:lpstr>
      <vt:lpstr>5.6 UIToolkit 渲染-使用场景推荐</vt:lpstr>
      <vt:lpstr>5.7 UIToolkit 学习资料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Unity3D游戏开发第三版</dc:title>
  <dc:creator>雨松momo</dc:creator>
  <cp:lastModifiedBy>雨松momo</cp:lastModifiedBy>
  <cp:revision>3</cp:revision>
  <dcterms:created xsi:type="dcterms:W3CDTF">2023-10-21T17:26:51Z</dcterms:created>
  <dcterms:modified xsi:type="dcterms:W3CDTF">2023-10-21T18:43:27Z</dcterms:modified>
</cp:coreProperties>
</file>