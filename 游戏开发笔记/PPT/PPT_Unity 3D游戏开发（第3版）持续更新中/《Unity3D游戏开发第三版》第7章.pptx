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0E9867-BAAD-999C-FABB-C5D7050ED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5EF44F4-F2BA-BFCA-F724-AF140BC165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5D1338-CBE5-7776-E518-14D33FFED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E97D-183D-3740-A705-54886C08A734}" type="datetimeFigureOut">
              <a:rPr kumimoji="1" lang="zh-CN" altLang="en-US" smtClean="0"/>
              <a:t>2024/1/3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D3CC66-5D49-D42D-2870-186285F91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72E25E-3B08-AF36-C6C9-44A619EE3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C184-4E1D-004E-90F9-EC83675E46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045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77A23A-C40A-87E4-FA99-184322B5D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1294EB-52D3-5D64-EFA5-B4D26EB7C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E4C6BB-4329-0192-B660-3AC3F6796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E97D-183D-3740-A705-54886C08A734}" type="datetimeFigureOut">
              <a:rPr kumimoji="1" lang="zh-CN" altLang="en-US" smtClean="0"/>
              <a:t>2024/1/3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2E63AA-0611-9AA4-D0E0-4B2F7EC13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040EBD-712B-1EFE-48CC-B4A963496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C184-4E1D-004E-90F9-EC83675E46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5307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364D44-BDA4-4D4F-61A0-D3B039284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494F48-014B-AC5B-90C9-39C621764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600DCB-72CB-EF66-2A91-E5CC3E6CB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E97D-183D-3740-A705-54886C08A734}" type="datetimeFigureOut">
              <a:rPr kumimoji="1" lang="zh-CN" altLang="en-US" smtClean="0"/>
              <a:t>2024/1/3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F4D218-1F4F-2419-7825-B8EB8DE09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B4FAE1-B881-8F89-48CA-9A131FC9A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C184-4E1D-004E-90F9-EC83675E46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6725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6347BD-4E76-4420-3F69-AF7454407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680183-A435-500D-C14E-5B25D00C9D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C1F84D-5727-2143-4175-851BC730F0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F4727B-1E64-4819-E7CA-196DABC79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E97D-183D-3740-A705-54886C08A734}" type="datetimeFigureOut">
              <a:rPr kumimoji="1" lang="zh-CN" altLang="en-US" smtClean="0"/>
              <a:t>2024/1/3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F640C0-18BB-D3E6-2E5A-332DB1F41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27E26B-B692-6670-195A-36A7CF39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C184-4E1D-004E-90F9-EC83675E46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50291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A02193-B1BE-09B2-1140-06BC1721F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06EBDC-490C-0456-470D-1103CA4C8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4A5A43-D8BE-4BB0-5A74-58095FBFB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1C0538-3103-64B4-61D5-A1A36F7AA7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E52E79E-F61E-E433-E1B1-34255B0CC5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AFE1AC8-910E-DBDB-A2BB-73A4C848B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E97D-183D-3740-A705-54886C08A734}" type="datetimeFigureOut">
              <a:rPr kumimoji="1" lang="zh-CN" altLang="en-US" smtClean="0"/>
              <a:t>2024/1/3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5A5226-70A6-520C-77AA-E037F886D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8E669E7-9260-8EA0-4F4C-BBA7A5F7B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C184-4E1D-004E-90F9-EC83675E46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4579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23DF73-9896-7EEB-1AC8-CB9A29CD3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449B38-FC58-0F02-1B62-391370B4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E97D-183D-3740-A705-54886C08A734}" type="datetimeFigureOut">
              <a:rPr kumimoji="1" lang="zh-CN" altLang="en-US" smtClean="0"/>
              <a:t>2024/1/3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EFCFA8-4C47-A90E-4A25-0F9FC334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AA5153-B673-F43D-D43B-9BC69B3A8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C184-4E1D-004E-90F9-EC83675E46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9520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4EA2048-08E6-711A-06DE-280087B2E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E97D-183D-3740-A705-54886C08A734}" type="datetimeFigureOut">
              <a:rPr kumimoji="1" lang="zh-CN" altLang="en-US" smtClean="0"/>
              <a:t>2024/1/3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A5984A1-5876-F8B3-AB74-3B7358972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181AB-98EE-7147-CE46-8CA9E7FA3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C184-4E1D-004E-90F9-EC83675E46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1185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BB1490-0C27-9BB4-FA09-5C25D56BE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7E89D4-F3B2-B2B1-8EED-27003A56A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222754-3624-0E8C-FB14-13DD0B7A84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620BB8-A762-4B98-E850-C19FAD89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E97D-183D-3740-A705-54886C08A734}" type="datetimeFigureOut">
              <a:rPr kumimoji="1" lang="zh-CN" altLang="en-US" smtClean="0"/>
              <a:t>2024/1/3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111068-2DBD-5E2F-88F0-DB3E7602C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3BD3B7-E493-3EFE-9CD1-C139675AB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C184-4E1D-004E-90F9-EC83675E46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8936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BD2756-50AD-411D-9025-717A830F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7A8992C-260D-EB36-9D42-4A69B3A371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B3D34D-EC13-1AF4-A155-874A84D0F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01DE2D-F4D2-B580-51EE-DF01E8D82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E97D-183D-3740-A705-54886C08A734}" type="datetimeFigureOut">
              <a:rPr kumimoji="1" lang="zh-CN" altLang="en-US" smtClean="0"/>
              <a:t>2024/1/3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78EE8E-2D0D-F1C4-73C7-7D78069FE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A0C1ED-4551-59F6-D612-76A948670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C184-4E1D-004E-90F9-EC83675E46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0764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191364-8B63-77AF-0042-9D936F4A6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B3D80F-CF77-11F7-CD5D-5C95C79A9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102C3A-F8D9-99AF-77DE-D8F6A0D93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E97D-183D-3740-A705-54886C08A734}" type="datetimeFigureOut">
              <a:rPr kumimoji="1" lang="zh-CN" altLang="en-US" smtClean="0"/>
              <a:t>2024/1/3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207CB9-C907-FE4A-FA0A-0DCE3D965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1A2719-DCA4-AEA8-CF27-807F161BB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C184-4E1D-004E-90F9-EC83675E46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5773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B62528-4108-9DA4-C854-E3A4E95F2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AA2CD2-971E-CCAD-265F-ADB9D8416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1E3278-8D3F-F349-0C25-EC1498AE5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6E97D-183D-3740-A705-54886C08A734}" type="datetimeFigureOut">
              <a:rPr kumimoji="1" lang="zh-CN" altLang="en-US" smtClean="0"/>
              <a:t>2024/1/3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050334-1DB8-F8DE-4C9A-ED8070487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6EDAEB-17A6-EB80-8299-848927028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C184-4E1D-004E-90F9-EC83675E46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710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3B33665-3799-209C-1057-887104C3C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DC1A30-C19D-F5FB-BAAC-2EBF482D9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ED1FE3-ECFB-8F3C-BAEC-45C757C293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6E97D-183D-3740-A705-54886C08A734}" type="datetimeFigureOut">
              <a:rPr kumimoji="1" lang="zh-CN" altLang="en-US" smtClean="0"/>
              <a:t>2024/1/3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8E311D-EFE5-0078-776B-DC3C6109B4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C2AB50-05EE-4314-1BB5-22D0839E27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4C184-4E1D-004E-90F9-EC83675E465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4395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D937A4-68DA-28C4-865F-366C970843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Unity3D</a:t>
            </a:r>
            <a:r>
              <a:rPr kumimoji="1" lang="zh-CN" altLang="en-US" dirty="0"/>
              <a:t>游戏开发第三版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4B4052-DCC7-484E-A8A5-7E72599A51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第七章</a:t>
            </a:r>
          </a:p>
        </p:txBody>
      </p:sp>
    </p:spTree>
    <p:extLst>
      <p:ext uri="{BB962C8B-B14F-4D97-AF65-F5344CB8AC3E}">
        <p14:creationId xmlns:p14="http://schemas.microsoft.com/office/powerpoint/2010/main" val="3154538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040473-6926-514D-B78E-1FC569E46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7</a:t>
            </a:r>
            <a:r>
              <a:rPr kumimoji="1" lang="zh-CN" altLang="en-US" dirty="0"/>
              <a:t>章 </a:t>
            </a:r>
            <a:r>
              <a:rPr kumimoji="1" lang="en-US" altLang="zh-CN" dirty="0"/>
              <a:t>3D</a:t>
            </a:r>
            <a:r>
              <a:rPr kumimoji="1" lang="zh-CN" altLang="en-US" dirty="0"/>
              <a:t>游戏开发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448915-01B5-EA77-D9E8-BA6ACD28D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7.1</a:t>
            </a:r>
            <a:r>
              <a:rPr kumimoji="1" lang="zh-CN" altLang="en-US" dirty="0"/>
              <a:t> </a:t>
            </a:r>
            <a:r>
              <a:rPr kumimoji="1" lang="en-US" altLang="zh-CN" dirty="0"/>
              <a:t>Renderer</a:t>
            </a:r>
          </a:p>
          <a:p>
            <a:r>
              <a:rPr kumimoji="1" lang="en-US" altLang="zh-CN" dirty="0"/>
              <a:t>7.2 </a:t>
            </a:r>
            <a:r>
              <a:rPr kumimoji="1" lang="zh-CN" altLang="en-US" dirty="0"/>
              <a:t>游戏对象和资源</a:t>
            </a:r>
            <a:endParaRPr kumimoji="1" lang="en-US" altLang="zh-CN" dirty="0"/>
          </a:p>
          <a:p>
            <a:r>
              <a:rPr kumimoji="1" lang="en-US" altLang="zh-CN" dirty="0"/>
              <a:t>7.3</a:t>
            </a:r>
            <a:r>
              <a:rPr kumimoji="1" lang="zh-CN" altLang="en-US" dirty="0"/>
              <a:t> 动画系统</a:t>
            </a:r>
            <a:endParaRPr kumimoji="1" lang="en-US" altLang="zh-CN" dirty="0"/>
          </a:p>
          <a:p>
            <a:r>
              <a:rPr kumimoji="1" lang="en-US" altLang="zh-CN" dirty="0"/>
              <a:t>7.4</a:t>
            </a:r>
            <a:r>
              <a:rPr kumimoji="1" lang="zh-CN" altLang="en-US" dirty="0"/>
              <a:t> </a:t>
            </a:r>
            <a:r>
              <a:rPr kumimoji="1" lang="en-US" altLang="zh-CN" dirty="0"/>
              <a:t>3D</a:t>
            </a:r>
            <a:r>
              <a:rPr kumimoji="1" lang="zh-CN" altLang="en-US" dirty="0"/>
              <a:t>物理系统</a:t>
            </a:r>
            <a:endParaRPr kumimoji="1" lang="en-US" altLang="zh-CN" dirty="0"/>
          </a:p>
          <a:p>
            <a:r>
              <a:rPr kumimoji="1" lang="en-US" altLang="zh-CN" dirty="0"/>
              <a:t>7.5</a:t>
            </a:r>
            <a:r>
              <a:rPr kumimoji="1" lang="zh-CN" altLang="en-US" dirty="0"/>
              <a:t> 输入系统</a:t>
            </a:r>
            <a:endParaRPr kumimoji="1" lang="en-US" altLang="zh-CN" dirty="0"/>
          </a:p>
          <a:p>
            <a:r>
              <a:rPr kumimoji="1" lang="en-US" altLang="zh-CN" dirty="0"/>
              <a:t>7.6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Transform</a:t>
            </a:r>
            <a:r>
              <a:rPr kumimoji="1" lang="zh-CN" altLang="en-US" dirty="0"/>
              <a:t>组件</a:t>
            </a:r>
          </a:p>
        </p:txBody>
      </p:sp>
    </p:spTree>
    <p:extLst>
      <p:ext uri="{BB962C8B-B14F-4D97-AF65-F5344CB8AC3E}">
        <p14:creationId xmlns:p14="http://schemas.microsoft.com/office/powerpoint/2010/main" val="38288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4AF3A3-6259-15C7-55F1-2E3F7CD71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7.1</a:t>
            </a:r>
            <a:r>
              <a:rPr kumimoji="1" lang="zh-CN" altLang="en-US" dirty="0"/>
              <a:t> </a:t>
            </a:r>
            <a:r>
              <a:rPr kumimoji="1" lang="en-US" altLang="zh-CN" dirty="0"/>
              <a:t>Renderer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EE65C6-0EB1-1265-4851-3539F579B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3D</a:t>
            </a:r>
            <a:r>
              <a:rPr kumimoji="1" lang="zh-CN" altLang="en-US" dirty="0"/>
              <a:t>游戏中基础的渲染组件 </a:t>
            </a:r>
            <a:r>
              <a:rPr kumimoji="1" lang="en-US" altLang="zh-CN" dirty="0"/>
              <a:t>Renderer</a:t>
            </a:r>
          </a:p>
          <a:p>
            <a:r>
              <a:rPr kumimoji="1" lang="en-US" altLang="zh-CN" dirty="0"/>
              <a:t>Mesh Renderer </a:t>
            </a:r>
            <a:r>
              <a:rPr kumimoji="1" lang="zh-CN" altLang="en-US" dirty="0"/>
              <a:t>（网格渲染器）</a:t>
            </a:r>
            <a:endParaRPr kumimoji="1" lang="en-US" altLang="zh-CN" dirty="0"/>
          </a:p>
          <a:p>
            <a:r>
              <a:rPr kumimoji="1" lang="en-US" altLang="zh-CN" dirty="0"/>
              <a:t>Skinned Mesh Renderer</a:t>
            </a:r>
            <a:r>
              <a:rPr kumimoji="1" lang="zh-CN" altLang="en-US" dirty="0"/>
              <a:t> （蒙皮渲染器）</a:t>
            </a:r>
            <a:endParaRPr kumimoji="1" lang="en-US" altLang="zh-CN" dirty="0"/>
          </a:p>
          <a:p>
            <a:r>
              <a:rPr kumimoji="1" lang="en-US" altLang="zh-CN" dirty="0"/>
              <a:t>Particle System</a:t>
            </a:r>
            <a:r>
              <a:rPr kumimoji="1" lang="zh-CN" altLang="en-US" dirty="0"/>
              <a:t>（粒子系统）</a:t>
            </a:r>
            <a:endParaRPr kumimoji="1" lang="en-US" altLang="zh-CN" dirty="0"/>
          </a:p>
          <a:p>
            <a:r>
              <a:rPr kumimoji="1" lang="en-US" altLang="zh-CN" dirty="0"/>
              <a:t>Trail Renderer</a:t>
            </a:r>
            <a:r>
              <a:rPr kumimoji="1" lang="zh-CN" altLang="en-US" dirty="0"/>
              <a:t>（拖尾渲染器）</a:t>
            </a:r>
            <a:endParaRPr kumimoji="1" lang="en-US" altLang="zh-CN" dirty="0"/>
          </a:p>
          <a:p>
            <a:r>
              <a:rPr kumimoji="1" lang="en-US" altLang="zh-CN" dirty="0"/>
              <a:t>Line Renderer</a:t>
            </a:r>
            <a:r>
              <a:rPr kumimoji="1" lang="zh-CN" altLang="en-US" dirty="0"/>
              <a:t>（画线渲染器）</a:t>
            </a:r>
            <a:endParaRPr kumimoji="1" lang="en-US" altLang="zh-CN" dirty="0"/>
          </a:p>
          <a:p>
            <a:r>
              <a:rPr kumimoji="1" lang="en-US" altLang="zh-CN" dirty="0"/>
              <a:t>Terrain</a:t>
            </a:r>
            <a:r>
              <a:rPr kumimoji="1" lang="zh-CN" altLang="en-US" dirty="0"/>
              <a:t>（地形）</a:t>
            </a:r>
          </a:p>
        </p:txBody>
      </p:sp>
    </p:spTree>
    <p:extLst>
      <p:ext uri="{BB962C8B-B14F-4D97-AF65-F5344CB8AC3E}">
        <p14:creationId xmlns:p14="http://schemas.microsoft.com/office/powerpoint/2010/main" val="2542247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337D4B-FADA-9277-6C97-195758B6C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7.1.1</a:t>
            </a:r>
            <a:r>
              <a:rPr kumimoji="1" lang="zh-CN" altLang="en-US" dirty="0"/>
              <a:t> </a:t>
            </a:r>
            <a:r>
              <a:rPr kumimoji="1" lang="en-US" altLang="zh-CN" dirty="0"/>
              <a:t>Mesh Renderer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98594F-E3A1-2895-0987-CFEC91C6E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3166241" cy="4280885"/>
          </a:xfrm>
        </p:spPr>
        <p:txBody>
          <a:bodyPr/>
          <a:lstStyle/>
          <a:p>
            <a:r>
              <a:rPr kumimoji="1" lang="en-US" altLang="zh-CN" dirty="0"/>
              <a:t>Mesh Filter </a:t>
            </a:r>
            <a:r>
              <a:rPr kumimoji="1" lang="zh-CN" altLang="en-US" dirty="0"/>
              <a:t>网格</a:t>
            </a:r>
            <a:endParaRPr kumimoji="1" lang="en-US" altLang="zh-CN" dirty="0"/>
          </a:p>
          <a:p>
            <a:r>
              <a:rPr kumimoji="1" lang="en-US" altLang="zh-CN" dirty="0"/>
              <a:t>Mesh</a:t>
            </a:r>
            <a:r>
              <a:rPr kumimoji="1" lang="zh-CN" altLang="en-US" dirty="0"/>
              <a:t> </a:t>
            </a:r>
            <a:r>
              <a:rPr kumimoji="1" lang="en-US" altLang="zh-CN" dirty="0"/>
              <a:t>Renderer</a:t>
            </a:r>
            <a:r>
              <a:rPr kumimoji="1" lang="zh-CN" altLang="en-US" dirty="0"/>
              <a:t>渲染，绑定材质</a:t>
            </a:r>
            <a:endParaRPr kumimoji="1"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6499DF3-7916-03BA-BABE-7CE7E15AE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508" y="1825625"/>
            <a:ext cx="7590168" cy="338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480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577E6D-3342-B56D-80E2-089CDD87B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7.1.2</a:t>
            </a:r>
            <a:r>
              <a:rPr kumimoji="1" lang="zh-CN" altLang="en-US" dirty="0"/>
              <a:t> </a:t>
            </a:r>
            <a:r>
              <a:rPr kumimoji="1" lang="en-US" altLang="zh-CN" dirty="0"/>
              <a:t>Skinned Mesh Renderer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D7E682-459C-8E01-986C-8056FD129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46076" cy="4351338"/>
          </a:xfrm>
        </p:spPr>
        <p:txBody>
          <a:bodyPr/>
          <a:lstStyle/>
          <a:p>
            <a:r>
              <a:rPr kumimoji="1" lang="zh-CN" altLang="en-US" dirty="0"/>
              <a:t>蒙皮动画</a:t>
            </a:r>
            <a:endParaRPr kumimoji="1" lang="en-US" altLang="zh-CN" dirty="0"/>
          </a:p>
          <a:p>
            <a:r>
              <a:rPr kumimoji="1" lang="zh-CN" altLang="en-US" dirty="0"/>
              <a:t>艺术家将动画导出</a:t>
            </a:r>
            <a:r>
              <a:rPr kumimoji="1" lang="en-US" altLang="zh-CN" dirty="0"/>
              <a:t>FBX</a:t>
            </a:r>
            <a:r>
              <a:rPr kumimoji="1" lang="zh-CN" altLang="en-US" dirty="0"/>
              <a:t>文件</a:t>
            </a:r>
            <a:endParaRPr kumimoji="1" lang="en-US" altLang="zh-CN" dirty="0"/>
          </a:p>
          <a:p>
            <a:r>
              <a:rPr kumimoji="1" lang="zh-CN" altLang="en-US" dirty="0"/>
              <a:t>通过</a:t>
            </a:r>
            <a:r>
              <a:rPr kumimoji="1" lang="en-US" altLang="zh-CN" dirty="0"/>
              <a:t>Animator</a:t>
            </a:r>
            <a:r>
              <a:rPr kumimoji="1" lang="zh-CN" altLang="en-US" dirty="0"/>
              <a:t>或者</a:t>
            </a:r>
            <a:r>
              <a:rPr kumimoji="1" lang="en-US" altLang="zh-CN" dirty="0"/>
              <a:t>Animation</a:t>
            </a:r>
            <a:r>
              <a:rPr kumimoji="1" lang="zh-CN" altLang="en-US" dirty="0"/>
              <a:t>组件进行播放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C7F8032-03F5-CD7A-262A-0221DC2B6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155" y="292811"/>
            <a:ext cx="3245342" cy="405238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2339A4E-35FC-6CBA-1FE0-E53A52CEE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317" y="4625252"/>
            <a:ext cx="4529017" cy="209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433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1A3C58-15E9-6C8A-196E-FDBD9A3DA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7.1.3</a:t>
            </a:r>
            <a:r>
              <a:rPr kumimoji="1" lang="zh-CN" altLang="en-US" dirty="0"/>
              <a:t> </a:t>
            </a:r>
            <a:r>
              <a:rPr kumimoji="1" lang="en-US" altLang="zh-CN" dirty="0"/>
              <a:t>Particle System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19EE13-86E8-293E-729B-B91584AD1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17772" cy="4351338"/>
          </a:xfrm>
        </p:spPr>
        <p:txBody>
          <a:bodyPr/>
          <a:lstStyle/>
          <a:p>
            <a:r>
              <a:rPr kumimoji="1" lang="zh-CN" altLang="en-US" dirty="0"/>
              <a:t>粒子系统</a:t>
            </a:r>
            <a:endParaRPr kumimoji="1" lang="en-US" altLang="zh-CN" dirty="0"/>
          </a:p>
          <a:p>
            <a:r>
              <a:rPr kumimoji="1" lang="zh-CN" altLang="en-US" dirty="0"/>
              <a:t>程序动态创建</a:t>
            </a:r>
            <a:r>
              <a:rPr kumimoji="1" lang="en-US" altLang="zh-CN" dirty="0"/>
              <a:t>Mesh</a:t>
            </a:r>
            <a:r>
              <a:rPr kumimoji="1" lang="zh-CN" altLang="en-US" dirty="0"/>
              <a:t>通过数学算法来计算它的轨迹</a:t>
            </a:r>
            <a:endParaRPr kumimoji="1" lang="en-US" altLang="zh-CN" dirty="0"/>
          </a:p>
          <a:p>
            <a:r>
              <a:rPr kumimoji="1" lang="zh-CN" altLang="en-US" dirty="0"/>
              <a:t>用于游戏中的特效等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5EC4162-447A-D217-F6DA-7B52F14D8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466" y="3279228"/>
            <a:ext cx="5591506" cy="2795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891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7B6799-9A10-B1F3-5D31-F74572054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7.1.4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Trail Renderer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5A266D-9281-89BA-DF41-7D6A9C881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28890" cy="4351338"/>
          </a:xfrm>
        </p:spPr>
        <p:txBody>
          <a:bodyPr/>
          <a:lstStyle/>
          <a:p>
            <a:r>
              <a:rPr kumimoji="1" lang="zh-CN" altLang="en-US" dirty="0"/>
              <a:t>拖尾渲染器</a:t>
            </a:r>
            <a:endParaRPr kumimoji="1" lang="en-US" altLang="zh-CN" dirty="0"/>
          </a:p>
          <a:p>
            <a:r>
              <a:rPr kumimoji="1" lang="zh-CN" altLang="en-US" dirty="0"/>
              <a:t>在物体移动的轨迹上添加拖尾特效</a:t>
            </a:r>
            <a:endParaRPr kumimoji="1" lang="en-US" altLang="zh-CN" dirty="0"/>
          </a:p>
          <a:p>
            <a:r>
              <a:rPr kumimoji="1" lang="zh-CN" altLang="en-US" dirty="0"/>
              <a:t>可配置时间、宽度、颜色等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2482269-5003-266E-BAAD-97A2375B6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141" y="3205321"/>
            <a:ext cx="6024559" cy="310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93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644237-1CAC-0A56-AEEB-CFA807BF4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7.1.5</a:t>
            </a:r>
            <a:r>
              <a:rPr kumimoji="1" lang="zh-CN" altLang="en-US" dirty="0"/>
              <a:t> </a:t>
            </a:r>
            <a:r>
              <a:rPr kumimoji="1" lang="en-US" altLang="zh-CN" dirty="0"/>
              <a:t>Line Renderer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AFB13F-6212-BC51-E15B-BF81159D1C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线渲染器，用于画线。</a:t>
            </a:r>
            <a:endParaRPr kumimoji="1" lang="en-US" altLang="zh-CN" dirty="0"/>
          </a:p>
          <a:p>
            <a:r>
              <a:rPr kumimoji="1" lang="zh-CN" altLang="en-US" dirty="0"/>
              <a:t>程序需要提供线每个点的世界坐标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681167A-9474-2CDD-27AF-46709D409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599" y="2995952"/>
            <a:ext cx="6100883" cy="327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711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AE486A-5D5E-DC22-D5F0-D228E9F7E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7.1.6</a:t>
            </a:r>
            <a:r>
              <a:rPr kumimoji="1" lang="zh-CN" altLang="en-US" dirty="0"/>
              <a:t> </a:t>
            </a:r>
            <a:r>
              <a:rPr kumimoji="1" lang="en-US" altLang="zh-CN" dirty="0"/>
              <a:t>Terrain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0911E5-DEEE-15A3-BEAB-EC8964D4D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地形。</a:t>
            </a:r>
            <a:endParaRPr kumimoji="1" lang="en-US" altLang="zh-CN" dirty="0"/>
          </a:p>
          <a:p>
            <a:r>
              <a:rPr kumimoji="1" lang="zh-CN" altLang="en-US" dirty="0"/>
              <a:t>通过工具在游戏中创作高低起伏的地形</a:t>
            </a:r>
            <a:endParaRPr kumimoji="1" lang="en-US" altLang="zh-CN" dirty="0"/>
          </a:p>
          <a:p>
            <a:r>
              <a:rPr kumimoji="1" lang="en-US" altLang="zh-CN" dirty="0"/>
              <a:t>Unity</a:t>
            </a:r>
            <a:r>
              <a:rPr kumimoji="1" lang="zh-CN" altLang="en-US" dirty="0"/>
              <a:t>地形采用高度图来生成</a:t>
            </a:r>
            <a:r>
              <a:rPr kumimoji="1" lang="en-US" altLang="zh-CN" dirty="0"/>
              <a:t>Mesh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1CE5A18-A0EA-7471-5960-B88F4EC7F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931" y="3262366"/>
            <a:ext cx="4550980" cy="323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577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8B8D39-207A-B63A-D9F3-CB5100FA1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7.2</a:t>
            </a:r>
            <a:r>
              <a:rPr kumimoji="1" lang="zh-CN" altLang="en-US" dirty="0"/>
              <a:t> 游戏对象和资源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DBB154-6657-9483-C9F0-8D4A79B3F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游戏对象负责将多个游戏组件组合在一起</a:t>
            </a:r>
          </a:p>
        </p:txBody>
      </p:sp>
    </p:spTree>
    <p:extLst>
      <p:ext uri="{BB962C8B-B14F-4D97-AF65-F5344CB8AC3E}">
        <p14:creationId xmlns:p14="http://schemas.microsoft.com/office/powerpoint/2010/main" val="1434805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5214C6-F280-1967-E469-950BC68E1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7.2.1</a:t>
            </a:r>
            <a:r>
              <a:rPr kumimoji="1" lang="zh-CN" altLang="en-US" dirty="0"/>
              <a:t> 静态对象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4A2E96-46CF-3884-6268-D923E0DE7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Contribute GI </a:t>
            </a:r>
            <a:r>
              <a:rPr kumimoji="1" lang="zh-CN" altLang="en-US" dirty="0"/>
              <a:t>：标记</a:t>
            </a:r>
            <a:r>
              <a:rPr kumimoji="1" lang="en-US" altLang="zh-CN" dirty="0"/>
              <a:t>Lightmap</a:t>
            </a:r>
            <a:r>
              <a:rPr kumimoji="1" lang="zh-CN" altLang="en-US" dirty="0"/>
              <a:t>烘焙</a:t>
            </a:r>
            <a:endParaRPr kumimoji="1" lang="en-US" altLang="zh-CN" dirty="0"/>
          </a:p>
          <a:p>
            <a:r>
              <a:rPr kumimoji="1" lang="en-US" altLang="zh-CN" dirty="0" err="1"/>
              <a:t>Occluder</a:t>
            </a:r>
            <a:r>
              <a:rPr kumimoji="1" lang="en-US" altLang="zh-CN" dirty="0"/>
              <a:t> Static </a:t>
            </a:r>
            <a:r>
              <a:rPr kumimoji="1" lang="zh-CN" altLang="en-US" dirty="0"/>
              <a:t>：遮挡剔除的遮挡者</a:t>
            </a:r>
            <a:endParaRPr kumimoji="1" lang="en-US" altLang="zh-CN" dirty="0"/>
          </a:p>
          <a:p>
            <a:r>
              <a:rPr kumimoji="1" lang="en-US" altLang="zh-CN" dirty="0"/>
              <a:t>Batching Static </a:t>
            </a:r>
            <a:r>
              <a:rPr kumimoji="1" lang="zh-CN" altLang="en-US" dirty="0"/>
              <a:t>：静态合批物体</a:t>
            </a:r>
            <a:endParaRPr kumimoji="1" lang="en-US" altLang="zh-CN" dirty="0"/>
          </a:p>
          <a:p>
            <a:r>
              <a:rPr kumimoji="1" lang="en-US" altLang="zh-CN" dirty="0"/>
              <a:t>Navigation Static</a:t>
            </a:r>
            <a:r>
              <a:rPr kumimoji="1" lang="zh-CN" altLang="en-US" dirty="0"/>
              <a:t>：导航网格寻路标记</a:t>
            </a:r>
            <a:endParaRPr kumimoji="1" lang="en-US" altLang="zh-CN" dirty="0"/>
          </a:p>
          <a:p>
            <a:r>
              <a:rPr kumimoji="1" lang="en-US" altLang="zh-CN" dirty="0" err="1"/>
              <a:t>Occludee</a:t>
            </a:r>
            <a:r>
              <a:rPr kumimoji="1" lang="en-US" altLang="zh-CN" dirty="0"/>
              <a:t> Static </a:t>
            </a:r>
            <a:r>
              <a:rPr kumimoji="1" lang="zh-CN" altLang="en-US" dirty="0"/>
              <a:t>：遮挡剔除的被遮挡者</a:t>
            </a:r>
            <a:endParaRPr kumimoji="1" lang="en-US" altLang="zh-CN" dirty="0"/>
          </a:p>
          <a:p>
            <a:r>
              <a:rPr kumimoji="1" lang="en-US" altLang="zh-CN" dirty="0"/>
              <a:t>Off Mesh link Generation</a:t>
            </a:r>
            <a:r>
              <a:rPr kumimoji="1" lang="zh-CN" altLang="en-US" dirty="0"/>
              <a:t>：导航寻路传送标记</a:t>
            </a:r>
            <a:endParaRPr kumimoji="1" lang="en-US" altLang="zh-CN" dirty="0"/>
          </a:p>
          <a:p>
            <a:r>
              <a:rPr kumimoji="1" lang="en-US" altLang="zh-CN" dirty="0"/>
              <a:t>Reflection Probe Static:</a:t>
            </a:r>
            <a:r>
              <a:rPr kumimoji="1" lang="zh-CN" altLang="en-US" dirty="0"/>
              <a:t>反射探针</a:t>
            </a:r>
            <a:endParaRPr kumimoji="1"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F1EFA9-A3F3-4442-37EE-BD6666656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872" y="165418"/>
            <a:ext cx="5274310" cy="152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289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314EDA-8199-DDA8-AF35-F02BF3AAE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7.2.2</a:t>
            </a:r>
            <a:r>
              <a:rPr kumimoji="1" lang="zh-CN" altLang="en-US" dirty="0"/>
              <a:t> 标记</a:t>
            </a:r>
            <a:r>
              <a:rPr kumimoji="1" lang="en-US" altLang="zh-CN" dirty="0"/>
              <a:t>Tag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2971BC-AC69-CE25-C96F-1342DEA2B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Editor Only</a:t>
            </a:r>
            <a:r>
              <a:rPr kumimoji="1" lang="zh-CN" altLang="en-US" dirty="0"/>
              <a:t>：表示只在编辑器模式下存在，打包后剥离</a:t>
            </a:r>
            <a:endParaRPr kumimoji="1" lang="en-US" altLang="zh-CN" dirty="0"/>
          </a:p>
          <a:p>
            <a:r>
              <a:rPr kumimoji="1" lang="en-US" altLang="zh-CN" dirty="0"/>
              <a:t>Main Camera </a:t>
            </a:r>
            <a:r>
              <a:rPr kumimoji="1" lang="zh-CN" altLang="en-US" dirty="0"/>
              <a:t>：标记主摄像机。 </a:t>
            </a:r>
            <a:r>
              <a:rPr kumimoji="1" lang="en-US" altLang="zh-CN" dirty="0" err="1"/>
              <a:t>Camera.main</a:t>
            </a:r>
            <a:r>
              <a:rPr kumimoji="1" lang="zh-CN" altLang="en-US" dirty="0"/>
              <a:t> 获取</a:t>
            </a:r>
            <a:endParaRPr kumimoji="1" lang="en-US" altLang="zh-CN" dirty="0"/>
          </a:p>
          <a:p>
            <a:r>
              <a:rPr kumimoji="1" lang="zh-CN" altLang="en-US" dirty="0"/>
              <a:t>其余都是遗留标记</a:t>
            </a:r>
            <a:endParaRPr kumimoji="1" lang="en-US" altLang="zh-CN" dirty="0"/>
          </a:p>
          <a:p>
            <a:r>
              <a:rPr kumimoji="1" lang="en" altLang="zh-CN" dirty="0" err="1"/>
              <a:t>GameObject.FindGameObjectsWithTag</a:t>
            </a:r>
            <a:r>
              <a:rPr kumimoji="1" lang="en" altLang="zh-CN" dirty="0"/>
              <a:t>("Player", list);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889D820-224E-23A8-15A2-523C1B942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31" y="4144010"/>
            <a:ext cx="2861945" cy="216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82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6EECFC-7527-EEB8-42BB-5CD3CE5D4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7.2.3</a:t>
            </a:r>
            <a:r>
              <a:rPr kumimoji="1" lang="zh-CN" altLang="en-US" dirty="0"/>
              <a:t> 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DCD62A-7FF9-44EF-83D2-1CB9A4159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TransparentFx</a:t>
            </a:r>
            <a:r>
              <a:rPr kumimoji="1" lang="zh-CN" altLang="en-US" dirty="0"/>
              <a:t> ：当光晕被透明物体挡住时，它可以产生效果</a:t>
            </a:r>
            <a:endParaRPr kumimoji="1" lang="en-US" altLang="zh-CN" dirty="0"/>
          </a:p>
          <a:p>
            <a:r>
              <a:rPr kumimoji="1" lang="en-US" altLang="zh-CN" dirty="0"/>
              <a:t>Ignore </a:t>
            </a:r>
            <a:r>
              <a:rPr kumimoji="1" lang="en-US" altLang="zh-CN" dirty="0" err="1"/>
              <a:t>Raycast</a:t>
            </a:r>
            <a:r>
              <a:rPr kumimoji="1" lang="en-US" altLang="zh-CN" dirty="0"/>
              <a:t> </a:t>
            </a:r>
            <a:r>
              <a:rPr kumimoji="1" lang="zh-CN" altLang="en-US" dirty="0"/>
              <a:t>：忽略射线检测</a:t>
            </a:r>
            <a:endParaRPr kumimoji="1" lang="en-US" altLang="zh-CN" dirty="0"/>
          </a:p>
          <a:p>
            <a:r>
              <a:rPr kumimoji="1" lang="en-US" altLang="zh-CN" dirty="0"/>
              <a:t>Water</a:t>
            </a:r>
            <a:r>
              <a:rPr kumimoji="1" lang="zh-CN" altLang="en-US" dirty="0"/>
              <a:t>：在</a:t>
            </a:r>
            <a:r>
              <a:rPr kumimoji="1" lang="en-US" altLang="zh-CN" dirty="0"/>
              <a:t>Standard Assets</a:t>
            </a:r>
            <a:r>
              <a:rPr kumimoji="1" lang="zh-CN" altLang="en-US" dirty="0"/>
              <a:t>资源中使用</a:t>
            </a:r>
            <a:endParaRPr kumimoji="1" lang="en-US" altLang="zh-CN" dirty="0"/>
          </a:p>
          <a:p>
            <a:r>
              <a:rPr kumimoji="1" lang="en-US" altLang="zh-CN" dirty="0"/>
              <a:t>UI</a:t>
            </a:r>
            <a:r>
              <a:rPr kumimoji="1" lang="zh-CN" altLang="en-US" dirty="0"/>
              <a:t>：</a:t>
            </a:r>
            <a:r>
              <a:rPr kumimoji="1" lang="en-US" altLang="zh-CN" dirty="0"/>
              <a:t>UGUI</a:t>
            </a:r>
            <a:r>
              <a:rPr kumimoji="1" lang="zh-CN" altLang="en-US" dirty="0"/>
              <a:t>的默认使用层</a:t>
            </a:r>
            <a:endParaRPr kumimoji="1" lang="en-US" altLang="zh-CN" dirty="0"/>
          </a:p>
          <a:p>
            <a:r>
              <a:rPr kumimoji="1" lang="zh-CN" altLang="en-US" dirty="0"/>
              <a:t>也可以添加自定义层标记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49F374A-B1C9-F8A0-9FDD-C264785BD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296" y="3921520"/>
            <a:ext cx="3925504" cy="2491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226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6F1C5F-DC82-BBA2-3859-63C8FB3E8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7.2.4</a:t>
            </a:r>
            <a:r>
              <a:rPr kumimoji="1" lang="zh-CN" altLang="en-US" dirty="0"/>
              <a:t> 预制体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A4D0AC-69E4-B8CA-27D3-A426840F9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430407" cy="4351338"/>
          </a:xfrm>
        </p:spPr>
        <p:txBody>
          <a:bodyPr/>
          <a:lstStyle/>
          <a:p>
            <a:r>
              <a:rPr kumimoji="1" lang="zh-CN" altLang="en-US" dirty="0"/>
              <a:t>将资源标记成</a:t>
            </a:r>
            <a:r>
              <a:rPr kumimoji="1" lang="en-US" altLang="zh-CN" dirty="0"/>
              <a:t>Prefab</a:t>
            </a:r>
            <a:r>
              <a:rPr kumimoji="1" lang="zh-CN" altLang="en-US" dirty="0"/>
              <a:t>保存在本地</a:t>
            </a:r>
            <a:endParaRPr kumimoji="1" lang="en-US" altLang="zh-CN" dirty="0"/>
          </a:p>
          <a:p>
            <a:r>
              <a:rPr kumimoji="1" lang="en-US" altLang="zh-CN" dirty="0"/>
              <a:t>Prefab</a:t>
            </a:r>
            <a:r>
              <a:rPr kumimoji="1" lang="zh-CN" altLang="en-US" dirty="0"/>
              <a:t>中包含所有资源的引用关系</a:t>
            </a:r>
            <a:endParaRPr kumimoji="1" lang="en-US" altLang="zh-CN" dirty="0"/>
          </a:p>
          <a:p>
            <a:r>
              <a:rPr kumimoji="1" lang="zh-CN" altLang="en-US" dirty="0"/>
              <a:t>加载、销毁通过</a:t>
            </a:r>
            <a:r>
              <a:rPr kumimoji="1" lang="en-US" altLang="zh-CN" dirty="0"/>
              <a:t>Unity</a:t>
            </a:r>
            <a:r>
              <a:rPr kumimoji="1" lang="zh-CN" altLang="en-US" dirty="0"/>
              <a:t>的</a:t>
            </a:r>
            <a:r>
              <a:rPr kumimoji="1" lang="en-US" altLang="zh-CN" dirty="0"/>
              <a:t>API</a:t>
            </a:r>
            <a:r>
              <a:rPr kumimoji="1" lang="zh-CN" altLang="en-US" dirty="0"/>
              <a:t>，相对方便</a:t>
            </a:r>
            <a:endParaRPr kumimoji="1" lang="en-US" altLang="zh-CN" dirty="0"/>
          </a:p>
          <a:p>
            <a:r>
              <a:rPr kumimoji="1" lang="zh-CN" altLang="en-US" dirty="0"/>
              <a:t>预制体支持嵌套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98166F-4F3A-4521-C1AD-78FEB0154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211" y="3869460"/>
            <a:ext cx="5641078" cy="205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347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05BA1-CF06-2E3A-1714-715E2E7C8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7.2.5</a:t>
            </a:r>
            <a:r>
              <a:rPr kumimoji="1" lang="zh-CN" altLang="en-US" dirty="0"/>
              <a:t> 预制体嵌套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75D97E-D4B6-6264-5D49-888AD2CFC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74021" cy="4351338"/>
          </a:xfrm>
        </p:spPr>
        <p:txBody>
          <a:bodyPr/>
          <a:lstStyle/>
          <a:p>
            <a:r>
              <a:rPr kumimoji="1" lang="en-US" altLang="zh-CN" dirty="0"/>
              <a:t>Prefab</a:t>
            </a:r>
            <a:r>
              <a:rPr kumimoji="1" lang="zh-CN" altLang="en-US" dirty="0"/>
              <a:t>通过</a:t>
            </a:r>
            <a:r>
              <a:rPr kumimoji="1" lang="en-US" altLang="zh-CN" dirty="0"/>
              <a:t>GUID</a:t>
            </a:r>
            <a:r>
              <a:rPr kumimoji="1" lang="zh-CN" altLang="en-US" dirty="0"/>
              <a:t>进行嵌套</a:t>
            </a:r>
            <a:endParaRPr kumimoji="1" lang="en-US" altLang="zh-CN" dirty="0"/>
          </a:p>
          <a:p>
            <a:r>
              <a:rPr kumimoji="1" lang="zh-CN" altLang="en-US" dirty="0"/>
              <a:t>支持嵌套预制中修改一些属性</a:t>
            </a:r>
            <a:endParaRPr kumimoji="1" lang="en-US" altLang="zh-CN" dirty="0"/>
          </a:p>
          <a:p>
            <a:r>
              <a:rPr kumimoji="1" lang="zh-CN" altLang="en-US" dirty="0"/>
              <a:t>使用上灵活方便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9BD7C0-9FA8-8112-5972-C60DF0000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52" y="1902892"/>
            <a:ext cx="6349166" cy="419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596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36403F-5575-B68B-7EA7-6F440343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7.2.6</a:t>
            </a:r>
            <a:r>
              <a:rPr kumimoji="1" lang="zh-CN" altLang="en-US" dirty="0"/>
              <a:t> 预制体和游戏对象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943E5E-9792-5477-20C9-EF700845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预制体可以保存在硬盘上</a:t>
            </a:r>
            <a:endParaRPr kumimoji="1" lang="en-US" altLang="zh-CN" dirty="0"/>
          </a:p>
          <a:p>
            <a:r>
              <a:rPr kumimoji="1" lang="zh-CN" altLang="en-US" dirty="0"/>
              <a:t>游戏对象只能保存在内存中</a:t>
            </a:r>
            <a:endParaRPr kumimoji="1" lang="en-US" altLang="zh-CN" dirty="0"/>
          </a:p>
          <a:p>
            <a:r>
              <a:rPr kumimoji="1" lang="zh-CN" altLang="en-US" dirty="0"/>
              <a:t>游戏对象保存在场景中，它以文件的形式存在。</a:t>
            </a:r>
          </a:p>
        </p:txBody>
      </p:sp>
    </p:spTree>
    <p:extLst>
      <p:ext uri="{BB962C8B-B14F-4D97-AF65-F5344CB8AC3E}">
        <p14:creationId xmlns:p14="http://schemas.microsoft.com/office/powerpoint/2010/main" val="2711166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E07937-0019-A132-FBA2-001088384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7.2.7</a:t>
            </a:r>
            <a:r>
              <a:rPr kumimoji="1" lang="zh-CN" altLang="en-US" dirty="0"/>
              <a:t> 实例化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87FEE8-3964-1E5F-9177-279ADC567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//</a:t>
            </a:r>
            <a:r>
              <a:rPr kumimoji="1" lang="zh-CN" altLang="en-US" dirty="0"/>
              <a:t>加载游戏资源</a:t>
            </a:r>
            <a:endParaRPr kumimoji="1" lang="en" altLang="zh-CN" dirty="0"/>
          </a:p>
          <a:p>
            <a:r>
              <a:rPr kumimoji="1" lang="en" altLang="zh-CN" dirty="0" err="1"/>
              <a:t>GameObject</a:t>
            </a:r>
            <a:r>
              <a:rPr kumimoji="1" lang="en" altLang="zh-CN" dirty="0"/>
              <a:t> prefab = </a:t>
            </a:r>
            <a:r>
              <a:rPr kumimoji="1" lang="en" altLang="zh-CN" dirty="0" err="1"/>
              <a:t>Resources.Load</a:t>
            </a:r>
            <a:r>
              <a:rPr kumimoji="1" lang="en" altLang="zh-CN" dirty="0"/>
              <a:t>&lt;</a:t>
            </a:r>
            <a:r>
              <a:rPr kumimoji="1" lang="en" altLang="zh-CN" dirty="0" err="1"/>
              <a:t>GameObject</a:t>
            </a:r>
            <a:r>
              <a:rPr kumimoji="1" lang="en" altLang="zh-CN" dirty="0"/>
              <a:t>&gt;("Prefab");</a:t>
            </a:r>
          </a:p>
          <a:p>
            <a:r>
              <a:rPr kumimoji="1" lang="en" altLang="zh-CN" dirty="0"/>
              <a:t>//</a:t>
            </a:r>
            <a:r>
              <a:rPr kumimoji="1" lang="zh-CN" altLang="en" dirty="0"/>
              <a:t>实例化</a:t>
            </a:r>
            <a:r>
              <a:rPr kumimoji="1" lang="zh-CN" altLang="en-US" dirty="0"/>
              <a:t>游戏资源</a:t>
            </a:r>
            <a:endParaRPr kumimoji="1" lang="en" altLang="zh-CN" dirty="0"/>
          </a:p>
          <a:p>
            <a:r>
              <a:rPr kumimoji="1" lang="en" altLang="zh-CN" dirty="0" err="1"/>
              <a:t>GameObject</a:t>
            </a:r>
            <a:r>
              <a:rPr kumimoji="1" lang="en" altLang="zh-CN" dirty="0"/>
              <a:t> clone = Instantiate(prefab);</a:t>
            </a:r>
          </a:p>
          <a:p>
            <a:r>
              <a:rPr kumimoji="1" lang="zh-CN" altLang="en-US" dirty="0"/>
              <a:t>此时</a:t>
            </a:r>
            <a:r>
              <a:rPr kumimoji="1" lang="en-US" altLang="zh-CN" dirty="0"/>
              <a:t>clone</a:t>
            </a:r>
            <a:r>
              <a:rPr kumimoji="1" lang="zh-CN" altLang="en-US" dirty="0"/>
              <a:t>就是内存中的游戏对象，退出游戏将被删除</a:t>
            </a:r>
          </a:p>
        </p:txBody>
      </p:sp>
    </p:spTree>
    <p:extLst>
      <p:ext uri="{BB962C8B-B14F-4D97-AF65-F5344CB8AC3E}">
        <p14:creationId xmlns:p14="http://schemas.microsoft.com/office/powerpoint/2010/main" val="540213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63B8E-F93B-1DF7-20C7-0868C6AA3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7.2.8</a:t>
            </a:r>
            <a:r>
              <a:rPr kumimoji="1" lang="zh-CN" altLang="en-US" dirty="0"/>
              <a:t> 游戏资源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57BDCE-A6AF-1185-57E8-30F6B4FA3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模型文件</a:t>
            </a:r>
            <a:endParaRPr kumimoji="1" lang="en-US" altLang="zh-CN" dirty="0"/>
          </a:p>
          <a:p>
            <a:r>
              <a:rPr kumimoji="1" lang="zh-CN" altLang="en-US" dirty="0"/>
              <a:t>贴图文件</a:t>
            </a:r>
            <a:endParaRPr kumimoji="1" lang="en-US" altLang="zh-CN" dirty="0"/>
          </a:p>
          <a:p>
            <a:r>
              <a:rPr kumimoji="1" lang="zh-CN" altLang="en-US" dirty="0"/>
              <a:t>音频文件</a:t>
            </a:r>
            <a:endParaRPr kumimoji="1" lang="en-US" altLang="zh-CN" dirty="0"/>
          </a:p>
          <a:p>
            <a:r>
              <a:rPr kumimoji="1" lang="zh-CN" altLang="en-US" dirty="0"/>
              <a:t>文本文件</a:t>
            </a:r>
            <a:endParaRPr kumimoji="1" lang="en-US" altLang="zh-CN" dirty="0"/>
          </a:p>
          <a:p>
            <a:r>
              <a:rPr kumimoji="1" lang="zh-CN" altLang="en-US" dirty="0"/>
              <a:t>第三方工具编辑的文件，在</a:t>
            </a:r>
            <a:r>
              <a:rPr kumimoji="1" lang="en-US" altLang="zh-CN" dirty="0"/>
              <a:t>Unity</a:t>
            </a:r>
            <a:r>
              <a:rPr kumimoji="1" lang="zh-CN" altLang="en-US" dirty="0"/>
              <a:t>中有对应的资源类型，可直接记载</a:t>
            </a:r>
            <a:endParaRPr kumimoji="1" lang="en-US" altLang="zh-CN" dirty="0"/>
          </a:p>
          <a:p>
            <a:r>
              <a:rPr kumimoji="1" lang="zh-CN" altLang="en-US" dirty="0"/>
              <a:t>如 </a:t>
            </a:r>
            <a:r>
              <a:rPr kumimoji="1" lang="en-US" altLang="zh-CN" dirty="0"/>
              <a:t>Texture/Audio/</a:t>
            </a:r>
            <a:r>
              <a:rPr kumimoji="1" lang="en-US" altLang="zh-CN" dirty="0" err="1"/>
              <a:t>TextAsset</a:t>
            </a:r>
            <a:r>
              <a:rPr kumimoji="1" lang="en-US" altLang="zh-CN" dirty="0"/>
              <a:t> </a:t>
            </a:r>
            <a:r>
              <a:rPr kumimoji="1" lang="zh-CN" altLang="en-US" dirty="0"/>
              <a:t>等</a:t>
            </a:r>
          </a:p>
        </p:txBody>
      </p:sp>
    </p:spTree>
    <p:extLst>
      <p:ext uri="{BB962C8B-B14F-4D97-AF65-F5344CB8AC3E}">
        <p14:creationId xmlns:p14="http://schemas.microsoft.com/office/powerpoint/2010/main" val="2180728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869B13-9F52-B919-DDBE-18C1700D8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7.2.9</a:t>
            </a:r>
            <a:r>
              <a:rPr kumimoji="1" lang="zh-CN" altLang="en-US" dirty="0"/>
              <a:t> 场景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989418-3440-8025-EACF-DCF15DDCA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有对象可保存在场景中</a:t>
            </a:r>
            <a:endParaRPr kumimoji="1" lang="en-US" altLang="zh-CN" dirty="0"/>
          </a:p>
          <a:p>
            <a:r>
              <a:rPr kumimoji="1" lang="en-US" altLang="zh-CN" dirty="0"/>
              <a:t>Prefab</a:t>
            </a:r>
            <a:r>
              <a:rPr kumimoji="1" lang="zh-CN" altLang="en-US" dirty="0"/>
              <a:t>也可以保存在场景中（通过</a:t>
            </a:r>
            <a:r>
              <a:rPr kumimoji="1" lang="en-US" altLang="zh-CN" dirty="0"/>
              <a:t>GUID</a:t>
            </a:r>
            <a:r>
              <a:rPr kumimoji="1" lang="zh-CN" altLang="en-US" dirty="0"/>
              <a:t>引用）</a:t>
            </a:r>
            <a:endParaRPr kumimoji="1" lang="en-US" altLang="zh-CN" dirty="0"/>
          </a:p>
          <a:p>
            <a:r>
              <a:rPr kumimoji="1" lang="zh-CN" altLang="en-US" dirty="0"/>
              <a:t>支持多场景编辑打开。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610BAA-9D84-E622-D98A-D8148B031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378" y="3699122"/>
            <a:ext cx="3053080" cy="236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549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2E71D5-FDF7-649F-8FCC-494DA164E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7.2.10</a:t>
            </a:r>
            <a:r>
              <a:rPr kumimoji="1" lang="zh-CN" altLang="en-US" dirty="0"/>
              <a:t> 场景模版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51453F-4E5A-416E-10BE-B9D63DCCF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 err="1"/>
              <a:t>Create→Scene</a:t>
            </a:r>
            <a:r>
              <a:rPr kumimoji="1" lang="en" altLang="zh-CN" dirty="0"/>
              <a:t> Template</a:t>
            </a:r>
            <a:r>
              <a:rPr kumimoji="1" lang="zh-CN" altLang="en-US" dirty="0"/>
              <a:t> 创建场景模板</a:t>
            </a:r>
            <a:endParaRPr kumimoji="1" lang="en-US" altLang="zh-CN" dirty="0"/>
          </a:p>
          <a:p>
            <a:r>
              <a:rPr kumimoji="1" lang="zh-CN" altLang="en-US" dirty="0"/>
              <a:t>监听场景模版的事件</a:t>
            </a:r>
            <a:endParaRPr kumimoji="1" lang="en-US" altLang="zh-CN" dirty="0"/>
          </a:p>
          <a:p>
            <a:r>
              <a:rPr kumimoji="1" lang="zh-CN" altLang="en-US" dirty="0"/>
              <a:t>创建之前事件</a:t>
            </a:r>
            <a:endParaRPr kumimoji="1" lang="en-US" altLang="zh-CN" dirty="0"/>
          </a:p>
          <a:p>
            <a:r>
              <a:rPr kumimoji="1" lang="zh-CN" altLang="en-US"/>
              <a:t>创建之后事件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8798DB4-357A-338D-1FD4-29F5EEB88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247" y="3684270"/>
            <a:ext cx="3592830" cy="280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9821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D21A45-F513-D1CF-E4E8-F77E56878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7.3 </a:t>
            </a:r>
            <a:r>
              <a:rPr kumimoji="1" lang="zh-CN" altLang="en-US" dirty="0"/>
              <a:t>动画系统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D9FF2E-CB96-C4B7-3A59-5C5150421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支持外部导入的</a:t>
            </a:r>
            <a:r>
              <a:rPr kumimoji="1" lang="en-US" altLang="zh-CN" dirty="0"/>
              <a:t>FBX</a:t>
            </a:r>
            <a:r>
              <a:rPr kumimoji="1" lang="zh-CN" altLang="en-US" dirty="0"/>
              <a:t>动画</a:t>
            </a:r>
            <a:endParaRPr kumimoji="1" lang="en-US" altLang="zh-CN" dirty="0"/>
          </a:p>
          <a:p>
            <a:r>
              <a:rPr kumimoji="1" lang="en-US" altLang="zh-CN" dirty="0"/>
              <a:t>Unity</a:t>
            </a:r>
            <a:r>
              <a:rPr kumimoji="1" lang="zh-CN" altLang="en-US" dirty="0"/>
              <a:t>也支持内置的</a:t>
            </a:r>
            <a:r>
              <a:rPr kumimoji="1" lang="en-US" altLang="zh-CN" dirty="0"/>
              <a:t>K</a:t>
            </a:r>
            <a:r>
              <a:rPr kumimoji="1" lang="zh-CN" altLang="en-US" dirty="0"/>
              <a:t>帧动画</a:t>
            </a:r>
            <a:endParaRPr kumimoji="1" lang="en-US" altLang="zh-CN" dirty="0"/>
          </a:p>
          <a:p>
            <a:r>
              <a:rPr kumimoji="1" lang="zh-CN" altLang="en-US" dirty="0"/>
              <a:t>动画可配合</a:t>
            </a:r>
            <a:r>
              <a:rPr kumimoji="1" lang="en-US" altLang="zh-CN" dirty="0"/>
              <a:t>Timeline</a:t>
            </a:r>
            <a:r>
              <a:rPr kumimoji="1" lang="zh-CN" altLang="en-US" dirty="0"/>
              <a:t>进行播放</a:t>
            </a:r>
          </a:p>
        </p:txBody>
      </p:sp>
    </p:spTree>
    <p:extLst>
      <p:ext uri="{BB962C8B-B14F-4D97-AF65-F5344CB8AC3E}">
        <p14:creationId xmlns:p14="http://schemas.microsoft.com/office/powerpoint/2010/main" val="139625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6D43C6-4934-1E49-6054-186AAF3ED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7.3.1</a:t>
            </a:r>
            <a:r>
              <a:rPr kumimoji="1" lang="zh-CN" altLang="en-US" dirty="0"/>
              <a:t> 动画文件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CA8F8E-0D5E-701B-1DBE-5728754C2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支持</a:t>
            </a:r>
            <a:r>
              <a:rPr kumimoji="1" lang="en-US" altLang="zh-CN" dirty="0"/>
              <a:t>Animation</a:t>
            </a:r>
            <a:r>
              <a:rPr kumimoji="1" lang="zh-CN" altLang="en-US" dirty="0"/>
              <a:t>和</a:t>
            </a:r>
            <a:r>
              <a:rPr kumimoji="1" lang="en-US" altLang="zh-CN" dirty="0"/>
              <a:t>Animator</a:t>
            </a:r>
            <a:r>
              <a:rPr kumimoji="1" lang="zh-CN" altLang="en-US" dirty="0"/>
              <a:t>两种。</a:t>
            </a:r>
            <a:endParaRPr kumimoji="1" lang="en-US" altLang="zh-CN" dirty="0"/>
          </a:p>
          <a:p>
            <a:r>
              <a:rPr kumimoji="1" lang="zh-CN" altLang="en-US" dirty="0"/>
              <a:t>代表老版动画和新版动画。</a:t>
            </a:r>
            <a:endParaRPr kumimoji="1" lang="en-US" altLang="zh-CN" dirty="0"/>
          </a:p>
          <a:p>
            <a:r>
              <a:rPr kumimoji="1" lang="zh-CN" altLang="en-US" dirty="0"/>
              <a:t>新版动画需要配合</a:t>
            </a:r>
            <a:r>
              <a:rPr kumimoji="1" lang="en-US" altLang="zh-CN" dirty="0"/>
              <a:t>Animation Controller</a:t>
            </a:r>
            <a:r>
              <a:rPr kumimoji="1" lang="zh-CN" altLang="en-US" dirty="0"/>
              <a:t>文件</a:t>
            </a:r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2A2984-D1E3-EBC1-3CD9-AFB5199A4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498" y="4316391"/>
            <a:ext cx="3788849" cy="168904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D3A8DCB-85CE-10E4-4D9D-1F50543BE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833" y="4316391"/>
            <a:ext cx="5274310" cy="148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735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87A845-28F6-F81D-C9C7-A109BF732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7.3.2 </a:t>
            </a:r>
            <a:r>
              <a:rPr kumimoji="1" lang="zh-CN" altLang="en-US" dirty="0"/>
              <a:t>制作动画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48E10A-69D6-D7E0-85A2-8C106753B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选中游戏对象，</a:t>
            </a:r>
            <a:r>
              <a:rPr kumimoji="1" lang="en-US" altLang="zh-CN" dirty="0"/>
              <a:t>Animation</a:t>
            </a:r>
            <a:r>
              <a:rPr kumimoji="1" lang="zh-CN" altLang="en-US" dirty="0"/>
              <a:t>窗口</a:t>
            </a:r>
            <a:endParaRPr kumimoji="1" lang="en-US" altLang="zh-CN" dirty="0"/>
          </a:p>
          <a:p>
            <a:r>
              <a:rPr kumimoji="1" lang="zh-CN" altLang="en-US" dirty="0"/>
              <a:t>进行</a:t>
            </a:r>
            <a:r>
              <a:rPr kumimoji="1" lang="en-US" altLang="zh-CN" dirty="0"/>
              <a:t>K</a:t>
            </a:r>
            <a:r>
              <a:rPr kumimoji="1" lang="zh-CN" altLang="en-US" dirty="0"/>
              <a:t>帧动画</a:t>
            </a:r>
            <a:endParaRPr kumimoji="1" lang="en-US" altLang="zh-CN" dirty="0"/>
          </a:p>
          <a:p>
            <a:r>
              <a:rPr kumimoji="1" lang="zh-CN" altLang="en-US" dirty="0"/>
              <a:t>播放会在多个关键帧之间插值</a:t>
            </a:r>
            <a:endParaRPr kumimoji="1" lang="en-US" altLang="zh-CN" dirty="0"/>
          </a:p>
          <a:p>
            <a:r>
              <a:rPr kumimoji="1" lang="zh-CN" altLang="en-US" dirty="0"/>
              <a:t>有效减少内存</a:t>
            </a:r>
            <a:endParaRPr kumimoji="1"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440DABA-D871-E042-F090-0F3734B0F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145" y="1873707"/>
            <a:ext cx="5283098" cy="425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135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9195BA-5F77-A3F1-860C-39CB69E01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7.3.3</a:t>
            </a:r>
            <a:r>
              <a:rPr kumimoji="1" lang="zh-CN" altLang="en-US" dirty="0"/>
              <a:t> 动画事件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FA9C25-EBAE-EA41-400D-11508C89B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添加动画事件，可设置对应的属性以及参数。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E15CC4-01B0-D1DE-086C-A88AD49A1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781" y="2829560"/>
            <a:ext cx="3808095" cy="34823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FA2627D-E376-39E0-66C5-895606D03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956" y="4807223"/>
            <a:ext cx="5274310" cy="127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3882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5B6622-8811-5A5F-EFBD-2580EBCCC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7.3.4</a:t>
            </a:r>
            <a:r>
              <a:rPr kumimoji="1" lang="zh-CN" altLang="en-US" dirty="0"/>
              <a:t> 骨骼动画优化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CFE51A-4F4D-99C6-B6F0-8F9562E91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74324" cy="4351338"/>
          </a:xfrm>
        </p:spPr>
        <p:txBody>
          <a:bodyPr/>
          <a:lstStyle/>
          <a:p>
            <a:r>
              <a:rPr kumimoji="1" lang="zh-CN" altLang="en-US" dirty="0"/>
              <a:t>将不需要的节点取消</a:t>
            </a:r>
            <a:endParaRPr kumimoji="1" lang="en-US" altLang="zh-CN" dirty="0"/>
          </a:p>
          <a:p>
            <a:r>
              <a:rPr kumimoji="1" lang="en-US" altLang="zh-CN" dirty="0"/>
              <a:t>Hierarchy</a:t>
            </a:r>
            <a:r>
              <a:rPr kumimoji="1" lang="zh-CN" altLang="en-US" dirty="0"/>
              <a:t>中只会同步勾选的节点</a:t>
            </a:r>
            <a:endParaRPr kumimoji="1" lang="en-US" altLang="zh-CN" dirty="0"/>
          </a:p>
          <a:p>
            <a:r>
              <a:rPr kumimoji="1" lang="zh-CN" altLang="en-US" dirty="0"/>
              <a:t>启动优化作用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E14E3E1-F638-7696-289B-93A6E4F03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117" y="1986975"/>
            <a:ext cx="6047671" cy="402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321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0279D-E09C-B808-C602-C83AF1971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7.3.5</a:t>
            </a:r>
            <a:r>
              <a:rPr kumimoji="1" lang="zh-CN" altLang="en-US" dirty="0"/>
              <a:t> 播放动画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E6369C-7B9C-0DE9-29D0-E9AE8ADDB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//</a:t>
            </a:r>
            <a:r>
              <a:rPr kumimoji="1" lang="zh-CN" altLang="en-US" dirty="0"/>
              <a:t>使用</a:t>
            </a:r>
            <a:r>
              <a:rPr kumimoji="1" lang="en" altLang="zh-CN" dirty="0"/>
              <a:t>Playable</a:t>
            </a:r>
            <a:r>
              <a:rPr kumimoji="1" lang="zh-CN" altLang="en-US" dirty="0"/>
              <a:t>播放动画</a:t>
            </a:r>
          </a:p>
          <a:p>
            <a:r>
              <a:rPr kumimoji="1" lang="en" altLang="zh-CN" dirty="0" err="1"/>
              <a:t>AnimationPlayableUtilities.PlayClip</a:t>
            </a:r>
            <a:r>
              <a:rPr kumimoji="1" lang="en" altLang="zh-CN" dirty="0"/>
              <a:t>(</a:t>
            </a:r>
            <a:r>
              <a:rPr kumimoji="1" lang="en" altLang="zh-CN" dirty="0" err="1"/>
              <a:t>m_Animator</a:t>
            </a:r>
            <a:r>
              <a:rPr kumimoji="1" lang="en" altLang="zh-CN" dirty="0"/>
              <a:t>, clip, out </a:t>
            </a:r>
            <a:r>
              <a:rPr kumimoji="1" lang="en" altLang="zh-CN" dirty="0" err="1"/>
              <a:t>m_PlayableGraph</a:t>
            </a:r>
            <a:r>
              <a:rPr kumimoji="1" lang="en" altLang="zh-CN" dirty="0"/>
              <a:t>);</a:t>
            </a:r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B8A2B4E-0B52-A84B-C9A9-7F69D0F83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38" y="3530775"/>
            <a:ext cx="5274310" cy="255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3320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8ED954-7A89-59AA-2796-8251FCDEA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7.3.6</a:t>
            </a:r>
            <a:r>
              <a:rPr kumimoji="1" lang="zh-CN" altLang="en-US" dirty="0"/>
              <a:t> 切换动画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CD744D-2349-854E-915A-C28A5E645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 err="1"/>
              <a:t>IEnumerator</a:t>
            </a:r>
            <a:r>
              <a:rPr kumimoji="1" lang="en" altLang="zh-CN" dirty="0"/>
              <a:t> Play(string name, Action finish)</a:t>
            </a:r>
          </a:p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       </a:t>
            </a:r>
            <a:r>
              <a:rPr kumimoji="1" lang="en" altLang="zh-CN" dirty="0" err="1"/>
              <a:t>AnimationPlayableUtilities.PlayClip</a:t>
            </a:r>
            <a:r>
              <a:rPr kumimoji="1" lang="en" altLang="zh-CN" dirty="0"/>
              <a:t>(</a:t>
            </a:r>
            <a:r>
              <a:rPr kumimoji="1" lang="en" altLang="zh-CN" dirty="0" err="1"/>
              <a:t>m_Animator</a:t>
            </a:r>
            <a:r>
              <a:rPr kumimoji="1" lang="en" altLang="zh-CN" dirty="0"/>
              <a:t>, clip, out </a:t>
            </a:r>
            <a:r>
              <a:rPr kumimoji="1" lang="en" altLang="zh-CN" dirty="0" err="1"/>
              <a:t>m_PlayableGraph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       //</a:t>
            </a:r>
            <a:r>
              <a:rPr kumimoji="1" lang="zh-CN" altLang="en-US" dirty="0"/>
              <a:t>等待播放的动画时长后返回</a:t>
            </a:r>
          </a:p>
          <a:p>
            <a:r>
              <a:rPr kumimoji="1" lang="zh-CN" altLang="en-US" dirty="0"/>
              <a:t>       </a:t>
            </a:r>
            <a:r>
              <a:rPr kumimoji="1" lang="en" altLang="zh-CN" dirty="0"/>
              <a:t>yield return new </a:t>
            </a:r>
            <a:r>
              <a:rPr kumimoji="1" lang="en" altLang="zh-CN" dirty="0" err="1"/>
              <a:t>WaitForSeconds</a:t>
            </a:r>
            <a:r>
              <a:rPr kumimoji="1" lang="en" altLang="zh-CN" dirty="0"/>
              <a:t>(</a:t>
            </a:r>
            <a:r>
              <a:rPr kumimoji="1" lang="en" altLang="zh-CN" dirty="0" err="1"/>
              <a:t>m_Dict</a:t>
            </a:r>
            <a:r>
              <a:rPr kumimoji="1" lang="en" altLang="zh-CN" dirty="0"/>
              <a:t>[name].length);</a:t>
            </a:r>
          </a:p>
          <a:p>
            <a:r>
              <a:rPr kumimoji="1" lang="en" altLang="zh-CN" dirty="0"/>
              <a:t>       </a:t>
            </a:r>
            <a:r>
              <a:rPr kumimoji="1" lang="en" altLang="zh-CN" dirty="0" err="1"/>
              <a:t>finish?.Invoke</a:t>
            </a:r>
            <a:r>
              <a:rPr kumimoji="1" lang="en" altLang="zh-CN" dirty="0"/>
              <a:t>();</a:t>
            </a:r>
          </a:p>
          <a:p>
            <a:r>
              <a:rPr kumimoji="1" lang="en" altLang="zh-CN" dirty="0"/>
              <a:t>}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62811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3026F8-D59B-64F6-3CF0-8904FBBC3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7.3.7</a:t>
            </a:r>
            <a:r>
              <a:rPr kumimoji="1" lang="zh-CN" altLang="en-US" dirty="0"/>
              <a:t> 动画混合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8AD5C7-9B42-7621-2DAA-54C5C70FE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 </a:t>
            </a:r>
            <a:r>
              <a:rPr kumimoji="1" lang="en-US" altLang="zh-CN" dirty="0"/>
              <a:t>//</a:t>
            </a:r>
            <a:r>
              <a:rPr kumimoji="1" lang="zh-CN" altLang="en-US" dirty="0"/>
              <a:t>创建混合</a:t>
            </a:r>
            <a:r>
              <a:rPr kumimoji="1" lang="en" altLang="zh-CN" dirty="0"/>
              <a:t>Playable</a:t>
            </a:r>
          </a:p>
          <a:p>
            <a:r>
              <a:rPr kumimoji="1" lang="en" altLang="zh-CN" dirty="0"/>
              <a:t> </a:t>
            </a:r>
            <a:r>
              <a:rPr kumimoji="1" lang="en" altLang="zh-CN" dirty="0" err="1"/>
              <a:t>m_AnimationMixerPlayable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AnimationMixerPlayable.Create</a:t>
            </a:r>
            <a:r>
              <a:rPr kumimoji="1" lang="en" altLang="zh-CN" dirty="0"/>
              <a:t>(</a:t>
            </a:r>
            <a:r>
              <a:rPr kumimoji="1" lang="en" altLang="zh-CN" dirty="0" err="1"/>
              <a:t>m_PlayableGraph</a:t>
            </a:r>
            <a:r>
              <a:rPr kumimoji="1" lang="en" altLang="zh-CN" dirty="0"/>
              <a:t>, </a:t>
            </a:r>
            <a:r>
              <a:rPr kumimoji="1" lang="en" altLang="zh-CN" dirty="0" err="1"/>
              <a:t>list.Count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 </a:t>
            </a:r>
            <a:r>
              <a:rPr kumimoji="1" lang="en" altLang="zh-CN" dirty="0" err="1"/>
              <a:t>playableOutput.SetSourcePlayable</a:t>
            </a:r>
            <a:r>
              <a:rPr kumimoji="1" lang="en" altLang="zh-CN" dirty="0"/>
              <a:t>(</a:t>
            </a:r>
            <a:r>
              <a:rPr kumimoji="1" lang="en" altLang="zh-CN" dirty="0" err="1"/>
              <a:t>m_AnimationMixerPlayable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 //</a:t>
            </a:r>
            <a:r>
              <a:rPr kumimoji="1" lang="zh-CN" altLang="en-US" dirty="0"/>
              <a:t>将所有混合的</a:t>
            </a:r>
            <a:r>
              <a:rPr kumimoji="1" lang="en" altLang="zh-CN" dirty="0"/>
              <a:t>Playable</a:t>
            </a:r>
            <a:r>
              <a:rPr kumimoji="1" lang="zh-CN" altLang="en-US" dirty="0"/>
              <a:t>关联到主</a:t>
            </a:r>
            <a:r>
              <a:rPr kumimoji="1" lang="en" altLang="zh-CN" dirty="0"/>
              <a:t>Playable</a:t>
            </a:r>
            <a:r>
              <a:rPr kumimoji="1" lang="zh-CN" altLang="en-US" dirty="0"/>
              <a:t>中</a:t>
            </a:r>
          </a:p>
          <a:p>
            <a:r>
              <a:rPr kumimoji="1" lang="zh-CN" altLang="en-US" dirty="0"/>
              <a:t> </a:t>
            </a:r>
            <a:r>
              <a:rPr kumimoji="1" lang="en" altLang="zh-CN" dirty="0"/>
              <a:t>for (int </a:t>
            </a:r>
            <a:r>
              <a:rPr kumimoji="1" lang="en" altLang="zh-CN" dirty="0" err="1"/>
              <a:t>i</a:t>
            </a:r>
            <a:r>
              <a:rPr kumimoji="1" lang="en" altLang="zh-CN" dirty="0"/>
              <a:t> = 0; </a:t>
            </a:r>
            <a:r>
              <a:rPr kumimoji="1" lang="en" altLang="zh-CN" dirty="0" err="1"/>
              <a:t>i</a:t>
            </a:r>
            <a:r>
              <a:rPr kumimoji="1" lang="en" altLang="zh-CN" dirty="0"/>
              <a:t> &lt; </a:t>
            </a:r>
            <a:r>
              <a:rPr kumimoji="1" lang="en" altLang="zh-CN" dirty="0" err="1"/>
              <a:t>list.Count</a:t>
            </a:r>
            <a:r>
              <a:rPr kumimoji="1" lang="en" altLang="zh-CN" dirty="0"/>
              <a:t>; </a:t>
            </a:r>
            <a:r>
              <a:rPr kumimoji="1" lang="en" altLang="zh-CN" dirty="0" err="1"/>
              <a:t>i</a:t>
            </a:r>
            <a:r>
              <a:rPr kumimoji="1" lang="en" altLang="zh-CN" dirty="0"/>
              <a:t>++)</a:t>
            </a:r>
          </a:p>
          <a:p>
            <a:r>
              <a:rPr kumimoji="1" lang="en" altLang="zh-CN" dirty="0"/>
              <a:t> {</a:t>
            </a:r>
          </a:p>
          <a:p>
            <a:r>
              <a:rPr kumimoji="1" lang="en" altLang="zh-CN" dirty="0"/>
              <a:t>     </a:t>
            </a:r>
            <a:r>
              <a:rPr kumimoji="1" lang="en" altLang="zh-CN" dirty="0" err="1"/>
              <a:t>m_PlayableGraph.Connect</a:t>
            </a:r>
            <a:r>
              <a:rPr kumimoji="1" lang="en" altLang="zh-CN" dirty="0"/>
              <a:t>(list[</a:t>
            </a:r>
            <a:r>
              <a:rPr kumimoji="1" lang="en" altLang="zh-CN" dirty="0" err="1"/>
              <a:t>i</a:t>
            </a:r>
            <a:r>
              <a:rPr kumimoji="1" lang="en" altLang="zh-CN" dirty="0"/>
              <a:t>], 0, </a:t>
            </a:r>
            <a:r>
              <a:rPr kumimoji="1" lang="en" altLang="zh-CN" dirty="0" err="1"/>
              <a:t>m_AnimationMixerPlayable</a:t>
            </a:r>
            <a:r>
              <a:rPr kumimoji="1" lang="en" altLang="zh-CN" dirty="0"/>
              <a:t>, </a:t>
            </a:r>
            <a:r>
              <a:rPr kumimoji="1" lang="en" altLang="zh-CN" dirty="0" err="1"/>
              <a:t>i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 }</a:t>
            </a:r>
          </a:p>
          <a:p>
            <a:r>
              <a:rPr kumimoji="1" lang="en" altLang="zh-CN" dirty="0"/>
              <a:t> </a:t>
            </a:r>
            <a:r>
              <a:rPr kumimoji="1" lang="en" altLang="zh-CN" dirty="0" err="1"/>
              <a:t>m_PlayableGraph.Play</a:t>
            </a:r>
            <a:r>
              <a:rPr kumimoji="1" lang="en" altLang="zh-CN" dirty="0"/>
              <a:t>();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A25C80E-5DE0-AA6B-D103-F78F865D2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404" y="365125"/>
            <a:ext cx="5274310" cy="175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1499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3B572D-F5E4-27AA-A3B1-FBE0BEBCF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7.3.8</a:t>
            </a:r>
            <a:r>
              <a:rPr kumimoji="1" lang="zh-CN" altLang="en-US" dirty="0"/>
              <a:t> 老版动画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E242CB-D6DB-71C2-5871-6830E57EC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老版动画没有</a:t>
            </a:r>
            <a:r>
              <a:rPr kumimoji="1" lang="en-US" altLang="zh-CN" dirty="0"/>
              <a:t>Optimize Game Objects</a:t>
            </a:r>
            <a:r>
              <a:rPr kumimoji="1" lang="zh-CN" altLang="en-US" dirty="0"/>
              <a:t>优化功能</a:t>
            </a:r>
            <a:endParaRPr kumimoji="1" lang="en-US" altLang="zh-CN" dirty="0"/>
          </a:p>
          <a:p>
            <a:r>
              <a:rPr kumimoji="1" lang="zh-CN" altLang="en-US" dirty="0"/>
              <a:t>老版动画使用起来方便，灵活</a:t>
            </a:r>
            <a:endParaRPr kumimoji="1" lang="en-US" altLang="zh-CN" dirty="0"/>
          </a:p>
          <a:p>
            <a:r>
              <a:rPr kumimoji="1" lang="en" altLang="zh-CN" dirty="0"/>
              <a:t>Animation animation = </a:t>
            </a:r>
            <a:r>
              <a:rPr kumimoji="1" lang="en" altLang="zh-CN" dirty="0" err="1"/>
              <a:t>GetComponent</a:t>
            </a:r>
            <a:r>
              <a:rPr kumimoji="1" lang="en" altLang="zh-CN" dirty="0"/>
              <a:t>&lt;Animation&gt;();</a:t>
            </a:r>
          </a:p>
          <a:p>
            <a:r>
              <a:rPr kumimoji="1" lang="en" altLang="zh-CN" dirty="0" err="1"/>
              <a:t>animation.Play</a:t>
            </a:r>
            <a:r>
              <a:rPr kumimoji="1" lang="en" altLang="zh-CN" dirty="0"/>
              <a:t>("Idle");</a:t>
            </a:r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E5F6C8F-16B5-4BB2-CE2A-506AE674A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425" y="3663060"/>
            <a:ext cx="4700751" cy="310308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7E57B04-7225-073F-968D-A155584F0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828" y="4078015"/>
            <a:ext cx="4508312" cy="257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5271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1D138B-C884-BEC6-4CF8-160D2C677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7.3.9</a:t>
            </a:r>
            <a:r>
              <a:rPr kumimoji="1" lang="zh-CN" altLang="en-US" dirty="0"/>
              <a:t> </a:t>
            </a:r>
            <a:r>
              <a:rPr kumimoji="1" lang="en-US" altLang="zh-CN" dirty="0"/>
              <a:t>Simple Animation</a:t>
            </a:r>
            <a:r>
              <a:rPr kumimoji="1" lang="zh-CN" altLang="en-US" dirty="0"/>
              <a:t>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835E74-6C69-7B54-817B-DB433DF43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配合</a:t>
            </a:r>
            <a:r>
              <a:rPr kumimoji="1" lang="en-US" altLang="zh-CN" dirty="0"/>
              <a:t>Playable</a:t>
            </a:r>
            <a:r>
              <a:rPr kumimoji="1" lang="zh-CN" altLang="en-US" dirty="0"/>
              <a:t>播放，新版动画也能使用上更加灵活。</a:t>
            </a:r>
            <a:endParaRPr kumimoji="1" lang="en-US" altLang="zh-CN" dirty="0"/>
          </a:p>
          <a:p>
            <a:r>
              <a:rPr kumimoji="1" lang="en" altLang="zh-CN" dirty="0" err="1"/>
              <a:t>SimpleAnimation</a:t>
            </a:r>
            <a:r>
              <a:rPr kumimoji="1" lang="en" altLang="zh-CN" dirty="0"/>
              <a:t> animation = </a:t>
            </a:r>
            <a:r>
              <a:rPr kumimoji="1" lang="en" altLang="zh-CN" dirty="0" err="1"/>
              <a:t>GetComponent</a:t>
            </a:r>
            <a:r>
              <a:rPr kumimoji="1" lang="en" altLang="zh-CN" dirty="0"/>
              <a:t>&lt;</a:t>
            </a:r>
            <a:r>
              <a:rPr kumimoji="1" lang="en" altLang="zh-CN" dirty="0" err="1"/>
              <a:t>SimpleAnimation</a:t>
            </a:r>
            <a:r>
              <a:rPr kumimoji="1" lang="en" altLang="zh-CN" dirty="0"/>
              <a:t>&gt;();</a:t>
            </a:r>
          </a:p>
          <a:p>
            <a:r>
              <a:rPr kumimoji="1" lang="en" altLang="zh-CN" dirty="0"/>
              <a:t>//</a:t>
            </a:r>
            <a:r>
              <a:rPr kumimoji="1" lang="zh-CN" altLang="en-US" dirty="0"/>
              <a:t>播放动画</a:t>
            </a:r>
          </a:p>
          <a:p>
            <a:r>
              <a:rPr kumimoji="1" lang="en" altLang="zh-CN" dirty="0" err="1"/>
              <a:t>animation.Play</a:t>
            </a:r>
            <a:r>
              <a:rPr kumimoji="1" lang="en" altLang="zh-CN" dirty="0"/>
              <a:t>("Run");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74F0BE3-3F0C-1F72-538C-A59B4E3CE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329856"/>
            <a:ext cx="4919576" cy="316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5922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495B4E-E2AE-94C7-434A-029259293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7.3.10</a:t>
            </a:r>
            <a:r>
              <a:rPr kumimoji="1" lang="zh-CN" altLang="en-US" dirty="0"/>
              <a:t> 控制动画进度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8AF8D2-F11D-5AC9-988F-366A7ABDA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private void Update()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//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拖动滑动条来更新动画播放的进度</a:t>
            </a: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m_SimpleAnimation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["Attack"].time =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Slider.value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}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C48D174-9142-D394-CC65-6A3CBDECD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155" y="4009390"/>
            <a:ext cx="3613150" cy="2483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00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D78AF2-2087-FBA7-65FF-9805D8FEA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7.3.11</a:t>
            </a:r>
            <a:r>
              <a:rPr kumimoji="1" lang="zh-CN" altLang="en-US" dirty="0"/>
              <a:t> 特殊动画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50AC4C-0620-8F04-6C84-1960B8318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 err="1"/>
              <a:t>m_SimpleAnimation.CrossFade</a:t>
            </a:r>
            <a:r>
              <a:rPr kumimoji="1" lang="en" altLang="zh-CN" dirty="0"/>
              <a:t>("Attack",0.5f); //</a:t>
            </a:r>
            <a:r>
              <a:rPr kumimoji="1" lang="zh-CN" altLang="en-US" dirty="0"/>
              <a:t>动画过渡</a:t>
            </a:r>
            <a:endParaRPr kumimoji="1" lang="en-US" altLang="zh-CN" dirty="0"/>
          </a:p>
          <a:p>
            <a:r>
              <a:rPr kumimoji="1" lang="en" altLang="zh-CN" dirty="0" err="1"/>
              <a:t>m_SimpleAnimation.Blend</a:t>
            </a:r>
            <a:r>
              <a:rPr kumimoji="1" lang="en" altLang="zh-CN" dirty="0"/>
              <a:t>("Attack", 1- value, 0.1f); //</a:t>
            </a:r>
            <a:r>
              <a:rPr kumimoji="1" lang="zh-CN" altLang="en-US" dirty="0"/>
              <a:t>动画混合</a:t>
            </a:r>
            <a:endParaRPr kumimoji="1" lang="en-US" altLang="zh-CN" dirty="0"/>
          </a:p>
          <a:p>
            <a:r>
              <a:rPr kumimoji="1" lang="en" altLang="zh-CN" dirty="0" err="1"/>
              <a:t>m_SimpleAnimation.Rewind</a:t>
            </a:r>
            <a:r>
              <a:rPr kumimoji="1" lang="en" altLang="zh-CN" dirty="0"/>
              <a:t>();//</a:t>
            </a:r>
            <a:r>
              <a:rPr kumimoji="1" lang="zh-CN" altLang="en-US" dirty="0"/>
              <a:t>动画正在播放，重新开始播放</a:t>
            </a:r>
            <a:endParaRPr kumimoji="1" lang="en-US" altLang="zh-CN" dirty="0"/>
          </a:p>
          <a:p>
            <a:r>
              <a:rPr kumimoji="1" lang="en-US" altLang="zh-CN" dirty="0"/>
              <a:t>//</a:t>
            </a:r>
            <a:r>
              <a:rPr kumimoji="1" lang="zh-CN" altLang="en-US" dirty="0"/>
              <a:t>倒播动画</a:t>
            </a:r>
          </a:p>
          <a:p>
            <a:r>
              <a:rPr kumimoji="1" lang="en" altLang="zh-CN" dirty="0" err="1"/>
              <a:t>m_SimpleAnimation</a:t>
            </a:r>
            <a:r>
              <a:rPr kumimoji="1" lang="en" altLang="zh-CN" dirty="0"/>
              <a:t>[name].speed = -1f;</a:t>
            </a:r>
          </a:p>
          <a:p>
            <a:r>
              <a:rPr kumimoji="1" lang="en" altLang="zh-CN" dirty="0" err="1"/>
              <a:t>m_SimpleAnimation.Play</a:t>
            </a:r>
            <a:r>
              <a:rPr kumimoji="1" lang="en" altLang="zh-CN" dirty="0"/>
              <a:t>(name);</a:t>
            </a:r>
            <a:endParaRPr kumimoji="1" lang="en-US" altLang="zh-CN" dirty="0"/>
          </a:p>
          <a:p>
            <a:r>
              <a:rPr kumimoji="1" lang="en" altLang="zh-CN" dirty="0" err="1"/>
              <a:t>m_SimpleAnimation</a:t>
            </a:r>
            <a:r>
              <a:rPr kumimoji="1" lang="en" altLang="zh-CN" dirty="0"/>
              <a:t>[name].speed = 0f;//</a:t>
            </a:r>
            <a:r>
              <a:rPr kumimoji="1" lang="zh-CN" altLang="en-US" dirty="0"/>
              <a:t>动画暂停</a:t>
            </a:r>
          </a:p>
        </p:txBody>
      </p:sp>
    </p:spTree>
    <p:extLst>
      <p:ext uri="{BB962C8B-B14F-4D97-AF65-F5344CB8AC3E}">
        <p14:creationId xmlns:p14="http://schemas.microsoft.com/office/powerpoint/2010/main" val="23930761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A423E3-C276-AD2C-7D4D-1F97D698E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7.3.12</a:t>
            </a:r>
            <a:r>
              <a:rPr kumimoji="1" lang="zh-CN" altLang="en-US" dirty="0"/>
              <a:t> </a:t>
            </a:r>
            <a:r>
              <a:rPr kumimoji="1" lang="en-US" altLang="zh-CN" dirty="0"/>
              <a:t>Playable</a:t>
            </a:r>
            <a:r>
              <a:rPr kumimoji="1" lang="zh-CN" altLang="en-US" dirty="0"/>
              <a:t>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A4EEF5-2EA6-2005-6399-52E62D195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可视化树结构</a:t>
            </a:r>
            <a:endParaRPr kumimoji="1" lang="en-US" altLang="zh-CN" dirty="0"/>
          </a:p>
          <a:p>
            <a:r>
              <a:rPr kumimoji="1" lang="en" altLang="zh-CN" dirty="0" err="1"/>
              <a:t>com.unity.playablegraph</a:t>
            </a:r>
            <a:r>
              <a:rPr kumimoji="1" lang="en" altLang="zh-CN" dirty="0"/>
              <a:t>-visualizer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5FB2A5C-A0E9-30E4-AB89-C6198F791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166" y="1155041"/>
            <a:ext cx="5021336" cy="454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6942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C82ECB-8FE6-7CAB-B8A1-983910E82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7.3.13 </a:t>
            </a:r>
            <a:r>
              <a:rPr kumimoji="1" lang="zh-CN" altLang="en-US" dirty="0"/>
              <a:t>使用</a:t>
            </a:r>
            <a:r>
              <a:rPr kumimoji="1" lang="en" altLang="zh-CN" dirty="0"/>
              <a:t>Playable</a:t>
            </a:r>
            <a:r>
              <a:rPr kumimoji="1" lang="zh-CN" altLang="en-US" dirty="0"/>
              <a:t>自定义脚本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938DF1-2CE9-1307-DD8A-5C6637AA2735}"/>
              </a:ext>
            </a:extLst>
          </p:cNvPr>
          <p:cNvSpPr txBox="1"/>
          <p:nvPr/>
        </p:nvSpPr>
        <p:spPr>
          <a:xfrm>
            <a:off x="693682" y="1345324"/>
            <a:ext cx="8485015" cy="75713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public class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CustomPlayableBehaviour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: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PlayableBehaviour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public override void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OnGraphStart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(Playable playable)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Debug.Log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PlayableGraph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开始时触发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");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}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public override void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OnGraphStop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(Playable playable)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Debug.Log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PlayableGraph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结束时触发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");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}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public override void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OnBehaviourPlay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(Playable playable,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FrameData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info)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Debug.Log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脚本开始时触发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");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}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public override void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OnBehaviourPause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(Playable playable,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FrameData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info)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Debug.Log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脚本暂停时触发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");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}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public override void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PrepareFrame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(Playable playable,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FrameData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info)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	//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每一帧循环触发</a:t>
            </a: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}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85448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7F4EC-F153-CF66-589B-8C6DF264E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7.3.14</a:t>
            </a:r>
            <a:r>
              <a:rPr kumimoji="1" lang="zh-CN" altLang="en-US" dirty="0"/>
              <a:t> 换装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6D8E3B-3943-136C-781F-CCAADD0AF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更新材质、模型、蒙皮信息</a:t>
            </a:r>
            <a:endParaRPr kumimoji="1" lang="en-US" altLang="zh-CN" dirty="0"/>
          </a:p>
          <a:p>
            <a:r>
              <a:rPr kumimoji="1" lang="zh-CN" altLang="en-US" dirty="0"/>
              <a:t> </a:t>
            </a:r>
            <a:r>
              <a:rPr kumimoji="1" lang="en-US" altLang="zh-CN" dirty="0"/>
              <a:t>//</a:t>
            </a:r>
            <a:r>
              <a:rPr kumimoji="1" lang="zh-CN" altLang="en-US" dirty="0"/>
              <a:t>给网格、骨骼、根骨骼、材质赋值</a:t>
            </a:r>
          </a:p>
          <a:p>
            <a:r>
              <a:rPr kumimoji="1" lang="zh-CN" altLang="en-US" dirty="0"/>
              <a:t> </a:t>
            </a:r>
            <a:r>
              <a:rPr kumimoji="1" lang="en" altLang="zh-CN" dirty="0" err="1"/>
              <a:t>smr.sharedMesh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sources.sharedMesh</a:t>
            </a:r>
            <a:r>
              <a:rPr kumimoji="1" lang="en" altLang="zh-CN" dirty="0"/>
              <a:t>;</a:t>
            </a:r>
          </a:p>
          <a:p>
            <a:r>
              <a:rPr kumimoji="1" lang="en" altLang="zh-CN" dirty="0"/>
              <a:t> </a:t>
            </a:r>
            <a:r>
              <a:rPr kumimoji="1" lang="en" altLang="zh-CN" dirty="0" err="1"/>
              <a:t>smr.bones</a:t>
            </a:r>
            <a:r>
              <a:rPr kumimoji="1" lang="en" altLang="zh-CN" dirty="0"/>
              <a:t> = bones;</a:t>
            </a:r>
          </a:p>
          <a:p>
            <a:r>
              <a:rPr kumimoji="1" lang="en" altLang="zh-CN" dirty="0"/>
              <a:t> </a:t>
            </a:r>
            <a:r>
              <a:rPr kumimoji="1" lang="en" altLang="zh-CN" dirty="0" err="1"/>
              <a:t>smr.rootBone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dict</a:t>
            </a:r>
            <a:r>
              <a:rPr kumimoji="1" lang="en" altLang="zh-CN" dirty="0"/>
              <a:t>[</a:t>
            </a:r>
            <a:r>
              <a:rPr kumimoji="1" lang="en" altLang="zh-CN" dirty="0" err="1"/>
              <a:t>sources.rootBone.name</a:t>
            </a:r>
            <a:r>
              <a:rPr kumimoji="1" lang="en" altLang="zh-CN" dirty="0"/>
              <a:t>];</a:t>
            </a:r>
          </a:p>
          <a:p>
            <a:r>
              <a:rPr kumimoji="1" lang="en" altLang="zh-CN" dirty="0"/>
              <a:t> </a:t>
            </a:r>
            <a:r>
              <a:rPr kumimoji="1" lang="en" altLang="zh-CN" dirty="0" err="1"/>
              <a:t>smr.material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sources.sharedMaterial</a:t>
            </a:r>
            <a:r>
              <a:rPr kumimoji="1" lang="en" altLang="zh-CN" dirty="0"/>
              <a:t>;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969B90-BD4D-CFC7-F655-5E36D6D6A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120" y="508159"/>
            <a:ext cx="4124960" cy="249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5545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7BC079-084F-0E56-9794-0CDE4ADE1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7.4</a:t>
            </a:r>
            <a:r>
              <a:rPr kumimoji="1" lang="zh-CN" altLang="en-US" dirty="0"/>
              <a:t> </a:t>
            </a:r>
            <a:r>
              <a:rPr kumimoji="1" lang="en-US" altLang="zh-CN" dirty="0"/>
              <a:t>3D</a:t>
            </a:r>
            <a:r>
              <a:rPr kumimoji="1" lang="zh-CN" altLang="en-US" dirty="0"/>
              <a:t>物理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4D7F83-8CD9-AB04-8480-CF61196DE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Unity</a:t>
            </a:r>
            <a:r>
              <a:rPr kumimoji="1" lang="zh-CN" altLang="en-US" dirty="0"/>
              <a:t>内置物理引擎</a:t>
            </a:r>
            <a:r>
              <a:rPr kumimoji="1" lang="en-US" altLang="zh-CN" dirty="0"/>
              <a:t>NVIDIA PhysX</a:t>
            </a:r>
          </a:p>
          <a:p>
            <a:r>
              <a:rPr kumimoji="1" lang="en" altLang="zh-CN" dirty="0"/>
              <a:t>Character Controller</a:t>
            </a:r>
            <a:r>
              <a:rPr kumimoji="1" lang="zh-CN" altLang="en" dirty="0"/>
              <a:t>（</a:t>
            </a:r>
            <a:r>
              <a:rPr kumimoji="1" lang="zh-CN" altLang="en-US" dirty="0"/>
              <a:t>角色控制器）、</a:t>
            </a:r>
            <a:r>
              <a:rPr kumimoji="1" lang="en" altLang="zh-CN" dirty="0" err="1"/>
              <a:t>Rigidbody</a:t>
            </a:r>
            <a:r>
              <a:rPr kumimoji="1" lang="en" altLang="zh-CN" dirty="0"/>
              <a:t> Physics</a:t>
            </a:r>
            <a:r>
              <a:rPr kumimoji="1" lang="zh-CN" altLang="en" dirty="0"/>
              <a:t>（</a:t>
            </a:r>
            <a:r>
              <a:rPr kumimoji="1" lang="zh-CN" altLang="en-US" dirty="0"/>
              <a:t>刚体物理）、</a:t>
            </a:r>
            <a:r>
              <a:rPr kumimoji="1" lang="en" altLang="zh-CN" dirty="0"/>
              <a:t>Collider</a:t>
            </a:r>
            <a:r>
              <a:rPr kumimoji="1" lang="zh-CN" altLang="en" dirty="0"/>
              <a:t>（</a:t>
            </a:r>
            <a:r>
              <a:rPr kumimoji="1" lang="zh-CN" altLang="en-US" dirty="0"/>
              <a:t>碰撞体）、</a:t>
            </a:r>
            <a:r>
              <a:rPr kumimoji="1" lang="en" altLang="zh-CN" dirty="0"/>
              <a:t>Joints</a:t>
            </a:r>
            <a:r>
              <a:rPr kumimoji="1" lang="zh-CN" altLang="en" dirty="0"/>
              <a:t>（</a:t>
            </a:r>
            <a:r>
              <a:rPr kumimoji="1" lang="zh-CN" altLang="en-US" dirty="0"/>
              <a:t>关节）、</a:t>
            </a:r>
            <a:r>
              <a:rPr kumimoji="1" lang="en" altLang="zh-CN" dirty="0"/>
              <a:t>Articulations</a:t>
            </a:r>
            <a:r>
              <a:rPr kumimoji="1" lang="zh-CN" altLang="en" dirty="0"/>
              <a:t>（</a:t>
            </a:r>
            <a:r>
              <a:rPr kumimoji="1" lang="zh-CN" altLang="en-US" dirty="0"/>
              <a:t>衔接）、</a:t>
            </a:r>
            <a:r>
              <a:rPr kumimoji="1" lang="en" altLang="zh-CN" dirty="0"/>
              <a:t>Ragdoll Physics</a:t>
            </a:r>
            <a:r>
              <a:rPr kumimoji="1" lang="zh-CN" altLang="en" dirty="0"/>
              <a:t>（</a:t>
            </a:r>
            <a:r>
              <a:rPr kumimoji="1" lang="zh-CN" altLang="en-US" dirty="0"/>
              <a:t>布娃娃物理）、</a:t>
            </a:r>
            <a:r>
              <a:rPr kumimoji="1" lang="en" altLang="zh-CN" dirty="0"/>
              <a:t>Cloth</a:t>
            </a:r>
            <a:r>
              <a:rPr kumimoji="1" lang="zh-CN" altLang="en" dirty="0"/>
              <a:t>（</a:t>
            </a:r>
            <a:r>
              <a:rPr kumimoji="1" lang="zh-CN" altLang="en-US" dirty="0"/>
              <a:t>布料）</a:t>
            </a:r>
          </a:p>
        </p:txBody>
      </p:sp>
    </p:spTree>
    <p:extLst>
      <p:ext uri="{BB962C8B-B14F-4D97-AF65-F5344CB8AC3E}">
        <p14:creationId xmlns:p14="http://schemas.microsoft.com/office/powerpoint/2010/main" val="41195385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93275E-9F9C-BFC1-AF08-1B4C6592D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7.4.1 </a:t>
            </a:r>
            <a:r>
              <a:rPr kumimoji="1" lang="zh-CN" altLang="en-US" dirty="0"/>
              <a:t>角色控制器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61FF58-743B-E8B2-8139-A3A0A6E22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适用于只需要检测碰撞，不需要完整的物理效果。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4B3110-9EE4-0C53-4AA2-823B29F20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446" y="3307901"/>
            <a:ext cx="4204335" cy="259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1478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B32D27-746B-E8CD-A4D2-ABE510A40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7.4.2</a:t>
            </a:r>
            <a:r>
              <a:rPr kumimoji="1" lang="zh-CN" altLang="en-US" dirty="0"/>
              <a:t> 碰撞体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082243-AC6D-4DF2-5F26-559EF243A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3D</a:t>
            </a:r>
            <a:r>
              <a:rPr kumimoji="1" lang="zh-CN" altLang="en-US" dirty="0"/>
              <a:t>碰撞体包括</a:t>
            </a:r>
            <a:r>
              <a:rPr kumimoji="1" lang="en" altLang="zh-CN" dirty="0"/>
              <a:t>Box Collider</a:t>
            </a:r>
            <a:r>
              <a:rPr kumimoji="1" lang="zh-CN" altLang="en" dirty="0"/>
              <a:t>（</a:t>
            </a:r>
            <a:r>
              <a:rPr kumimoji="1" lang="zh-CN" altLang="en-US" dirty="0"/>
              <a:t>盒型碰撞体）、</a:t>
            </a:r>
            <a:r>
              <a:rPr kumimoji="1" lang="en" altLang="zh-CN" dirty="0"/>
              <a:t>Sphere Collider</a:t>
            </a:r>
            <a:r>
              <a:rPr kumimoji="1" lang="zh-CN" altLang="en" dirty="0"/>
              <a:t>（</a:t>
            </a:r>
            <a:r>
              <a:rPr kumimoji="1" lang="zh-CN" altLang="en-US" dirty="0"/>
              <a:t>球形碰撞体）、</a:t>
            </a:r>
            <a:r>
              <a:rPr kumimoji="1" lang="en" altLang="zh-CN" dirty="0"/>
              <a:t>Capsule Collider</a:t>
            </a:r>
            <a:r>
              <a:rPr kumimoji="1" lang="zh-CN" altLang="en" dirty="0"/>
              <a:t>（</a:t>
            </a:r>
            <a:r>
              <a:rPr kumimoji="1" lang="zh-CN" altLang="en-US" dirty="0"/>
              <a:t>胶囊碰撞体）（胶囊体，圆柱体和角色控制器都使用它）、</a:t>
            </a:r>
            <a:r>
              <a:rPr kumimoji="1" lang="en" altLang="zh-CN" dirty="0"/>
              <a:t>Mesh Collider</a:t>
            </a:r>
            <a:r>
              <a:rPr kumimoji="1" lang="zh-CN" altLang="en" dirty="0"/>
              <a:t>（</a:t>
            </a:r>
            <a:r>
              <a:rPr kumimoji="1" lang="zh-CN" altLang="en-US" dirty="0"/>
              <a:t>网格碰撞体）（它根据物体的</a:t>
            </a:r>
            <a:r>
              <a:rPr kumimoji="1" lang="en-US" altLang="zh-CN" dirty="0"/>
              <a:t>3</a:t>
            </a:r>
            <a:r>
              <a:rPr kumimoji="1" lang="en" altLang="zh-CN" dirty="0"/>
              <a:t>D</a:t>
            </a:r>
            <a:r>
              <a:rPr kumimoji="1" lang="zh-CN" altLang="en-US" dirty="0"/>
              <a:t>网格自动生成碰撞）、</a:t>
            </a:r>
            <a:r>
              <a:rPr kumimoji="1" lang="en" altLang="zh-CN" dirty="0"/>
              <a:t>Wheel Collider</a:t>
            </a:r>
            <a:r>
              <a:rPr kumimoji="1" lang="zh-CN" altLang="en" dirty="0"/>
              <a:t>（</a:t>
            </a:r>
            <a:r>
              <a:rPr kumimoji="1" lang="zh-CN" altLang="en-US" dirty="0"/>
              <a:t>车轮碰撞体）（可以像汽车的轮胎一样在地面上跑）和</a:t>
            </a:r>
            <a:r>
              <a:rPr kumimoji="1" lang="en" altLang="zh-CN" dirty="0"/>
              <a:t>Terrain Collider</a:t>
            </a:r>
            <a:r>
              <a:rPr kumimoji="1" lang="zh-CN" altLang="en" dirty="0"/>
              <a:t>（</a:t>
            </a:r>
            <a:r>
              <a:rPr kumimoji="1" lang="zh-CN" altLang="en-US" dirty="0"/>
              <a:t>地形碰撞体）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5B0E51-407A-2450-CD2A-0C7ED82A2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548" y="4290695"/>
            <a:ext cx="5274310" cy="220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4543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6B7F8-8584-B08C-A8EA-27A8953BD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7.4.3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Rigidbody</a:t>
            </a:r>
            <a:r>
              <a:rPr kumimoji="1" lang="zh-CN" altLang="en-US" dirty="0"/>
              <a:t>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589D5C-E4DD-CD63-7363-24D1662B6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给</a:t>
            </a:r>
            <a:r>
              <a:rPr kumimoji="1" lang="en-US" altLang="zh-CN" dirty="0"/>
              <a:t>3</a:t>
            </a:r>
            <a:r>
              <a:rPr kumimoji="1" lang="en" altLang="zh-CN" dirty="0"/>
              <a:t>D</a:t>
            </a:r>
            <a:r>
              <a:rPr kumimoji="1" lang="zh-CN" altLang="en-US" dirty="0"/>
              <a:t>物体添加物理引擎的计算</a:t>
            </a:r>
            <a:endParaRPr kumimoji="1" lang="en-US" altLang="zh-CN" dirty="0"/>
          </a:p>
          <a:p>
            <a:r>
              <a:rPr kumimoji="1" lang="zh-CN" altLang="en-US" dirty="0"/>
              <a:t>添加碰撞体和触发器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37AFBC9-2678-C240-B26E-9CA25A806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894" y="3277629"/>
            <a:ext cx="5274310" cy="238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300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36FF42-1B04-0E45-147E-04A19FAE8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7.4.4 </a:t>
            </a:r>
            <a:r>
              <a:rPr kumimoji="1" lang="zh-CN" altLang="en-US" dirty="0"/>
              <a:t>碰撞事件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CA9170-4C68-711D-E724-F35B7EA62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分碰撞事件和触发事件两种</a:t>
            </a:r>
            <a:endParaRPr kumimoji="1" lang="en-US" altLang="zh-CN" dirty="0"/>
          </a:p>
          <a:p>
            <a:r>
              <a:rPr kumimoji="1" lang="en" altLang="zh-CN" dirty="0"/>
              <a:t>private void </a:t>
            </a:r>
            <a:r>
              <a:rPr kumimoji="1" lang="en" altLang="zh-CN" dirty="0" err="1"/>
              <a:t>OnCollisionEnter</a:t>
            </a:r>
            <a:r>
              <a:rPr kumimoji="1" lang="en" altLang="zh-CN" dirty="0"/>
              <a:t>(Collision collision)</a:t>
            </a:r>
          </a:p>
          <a:p>
            <a:r>
              <a:rPr kumimoji="1" lang="en" altLang="zh-CN" dirty="0"/>
              <a:t>private void </a:t>
            </a:r>
            <a:r>
              <a:rPr kumimoji="1" lang="en" altLang="zh-CN" dirty="0" err="1"/>
              <a:t>OnCollisionXXX</a:t>
            </a:r>
            <a:endParaRPr kumimoji="1" lang="en" altLang="zh-CN" dirty="0"/>
          </a:p>
          <a:p>
            <a:r>
              <a:rPr kumimoji="1" lang="en" altLang="zh-CN" dirty="0"/>
              <a:t>private void </a:t>
            </a:r>
            <a:r>
              <a:rPr kumimoji="1" lang="en" altLang="zh-CN" dirty="0" err="1"/>
              <a:t>OnTriggerEnter</a:t>
            </a:r>
            <a:r>
              <a:rPr kumimoji="1" lang="en" altLang="zh-CN" dirty="0"/>
              <a:t>(Collider other)</a:t>
            </a:r>
          </a:p>
          <a:p>
            <a:r>
              <a:rPr kumimoji="1" lang="en" altLang="zh-CN" dirty="0"/>
              <a:t>private void </a:t>
            </a:r>
            <a:r>
              <a:rPr kumimoji="1" lang="en" altLang="zh-CN" dirty="0" err="1"/>
              <a:t>OnTriggerXXX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85777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DEDE05-9A00-202B-E6BD-799F1819E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7.4.5 </a:t>
            </a:r>
            <a:r>
              <a:rPr kumimoji="1" lang="zh-CN" altLang="en-US" dirty="0"/>
              <a:t>布娃娃系统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7FDC75-EB7B-A7DC-30EE-0906033CE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22375"/>
          </a:xfrm>
        </p:spPr>
        <p:txBody>
          <a:bodyPr/>
          <a:lstStyle/>
          <a:p>
            <a:r>
              <a:rPr kumimoji="1" lang="zh-CN" altLang="en-US" dirty="0"/>
              <a:t>通过多个碰撞体将刚体连接在一起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EA14E21-3F5B-04D2-D27C-DD5E2C42E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100" y="2879582"/>
            <a:ext cx="5274310" cy="324294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9E678E6-C323-88B0-D96B-E23502CD7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600" y="2879581"/>
            <a:ext cx="3771890" cy="315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5608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58665-D549-9E8D-2FA2-6F9A0FAAE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7.4.6</a:t>
            </a:r>
            <a:r>
              <a:rPr kumimoji="1" lang="zh-CN" altLang="en-US" dirty="0"/>
              <a:t> 布料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3AA693-B08A-84DD-D278-9C7C3E106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编辑布料每个顶点信息</a:t>
            </a:r>
            <a:endParaRPr kumimoji="1" lang="en-US" altLang="zh-CN" dirty="0"/>
          </a:p>
          <a:p>
            <a:r>
              <a:rPr kumimoji="1" lang="zh-CN" altLang="en-US" dirty="0"/>
              <a:t>距离、表面穿透、碰撞信息等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51F5E9C-47CE-B966-1999-484F32285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569" y="3600274"/>
            <a:ext cx="6694148" cy="303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2075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2D4D49-0136-7743-3FD1-72E93BE3D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7.5</a:t>
            </a:r>
            <a:r>
              <a:rPr kumimoji="1" lang="zh-CN" altLang="en-US" dirty="0"/>
              <a:t> 输入系统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F1107C-1A2B-0ADF-3352-CBC4A49A5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Unity</a:t>
            </a:r>
            <a:r>
              <a:rPr kumimoji="1" lang="zh-CN" altLang="en-US" dirty="0"/>
              <a:t>支持的输入设备有键盘、鼠标、摇杆、触摸屏、（手机中的）陀螺仪和（</a:t>
            </a:r>
            <a:r>
              <a:rPr kumimoji="1" lang="en" altLang="zh-CN" dirty="0"/>
              <a:t>VR</a:t>
            </a:r>
            <a:r>
              <a:rPr kumimoji="1" lang="zh-CN" altLang="en-US" dirty="0"/>
              <a:t>和</a:t>
            </a:r>
            <a:r>
              <a:rPr kumimoji="1" lang="en" altLang="zh-CN" dirty="0"/>
              <a:t>AR</a:t>
            </a:r>
            <a:r>
              <a:rPr kumimoji="1" lang="zh-CN" altLang="en-US" dirty="0"/>
              <a:t>游戏的）控制器</a:t>
            </a:r>
          </a:p>
        </p:txBody>
      </p:sp>
    </p:spTree>
    <p:extLst>
      <p:ext uri="{BB962C8B-B14F-4D97-AF65-F5344CB8AC3E}">
        <p14:creationId xmlns:p14="http://schemas.microsoft.com/office/powerpoint/2010/main" val="8141874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E7FF10-3E17-76C4-2A08-562944FE5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7.5.1</a:t>
            </a:r>
            <a:r>
              <a:rPr kumimoji="1" lang="zh-CN" altLang="en-US" dirty="0"/>
              <a:t> 实体输入事件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1EF4E1-2195-B0CC-B831-D92B0BCF6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en" altLang="zh-CN" dirty="0"/>
              <a:t>if (</a:t>
            </a:r>
            <a:r>
              <a:rPr kumimoji="1" lang="en" altLang="zh-CN" dirty="0" err="1"/>
              <a:t>Input.GetKeyDown</a:t>
            </a:r>
            <a:r>
              <a:rPr kumimoji="1" lang="en" altLang="zh-CN" dirty="0"/>
              <a:t>(</a:t>
            </a:r>
            <a:r>
              <a:rPr kumimoji="1" lang="en" altLang="zh-CN" dirty="0" err="1"/>
              <a:t>KeyCode.A</a:t>
            </a:r>
            <a:r>
              <a:rPr kumimoji="1" lang="en" altLang="zh-CN" dirty="0"/>
              <a:t>))</a:t>
            </a:r>
          </a:p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 </a:t>
            </a:r>
            <a:r>
              <a:rPr kumimoji="1" lang="en" altLang="zh-CN" dirty="0" err="1"/>
              <a:t>Debug.Log</a:t>
            </a:r>
            <a:r>
              <a:rPr kumimoji="1" lang="en" altLang="zh-CN" dirty="0"/>
              <a:t>("</a:t>
            </a:r>
            <a:r>
              <a:rPr kumimoji="1" lang="zh-CN" altLang="en-US" dirty="0"/>
              <a:t>按下</a:t>
            </a:r>
            <a:r>
              <a:rPr kumimoji="1" lang="en" altLang="zh-CN" dirty="0"/>
              <a:t>A</a:t>
            </a:r>
            <a:r>
              <a:rPr kumimoji="1" lang="zh-CN" altLang="en-US" dirty="0"/>
              <a:t>键事件</a:t>
            </a:r>
            <a:r>
              <a:rPr kumimoji="1" lang="en-US" altLang="zh-CN" dirty="0"/>
              <a:t>");</a:t>
            </a:r>
          </a:p>
          <a:p>
            <a:r>
              <a:rPr kumimoji="1" lang="en-US" altLang="zh-CN" dirty="0"/>
              <a:t>}</a:t>
            </a:r>
          </a:p>
          <a:p>
            <a:r>
              <a:rPr kumimoji="1" lang="en" altLang="zh-CN" dirty="0"/>
              <a:t>if (</a:t>
            </a:r>
            <a:r>
              <a:rPr kumimoji="1" lang="en" altLang="zh-CN" dirty="0" err="1"/>
              <a:t>Input.GetKey</a:t>
            </a:r>
            <a:r>
              <a:rPr kumimoji="1" lang="en" altLang="zh-CN" dirty="0"/>
              <a:t>(</a:t>
            </a:r>
            <a:r>
              <a:rPr kumimoji="1" lang="en" altLang="zh-CN" dirty="0" err="1"/>
              <a:t>KeyCode.A</a:t>
            </a:r>
            <a:r>
              <a:rPr kumimoji="1" lang="en" altLang="zh-CN" dirty="0"/>
              <a:t>))</a:t>
            </a:r>
          </a:p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 </a:t>
            </a:r>
            <a:r>
              <a:rPr kumimoji="1" lang="en" altLang="zh-CN" dirty="0" err="1"/>
              <a:t>Debug.Log</a:t>
            </a:r>
            <a:r>
              <a:rPr kumimoji="1" lang="en" altLang="zh-CN" dirty="0"/>
              <a:t>("</a:t>
            </a:r>
            <a:r>
              <a:rPr kumimoji="1" lang="zh-CN" altLang="en-US" dirty="0"/>
              <a:t>保持按下</a:t>
            </a:r>
            <a:r>
              <a:rPr kumimoji="1" lang="en" altLang="zh-CN" dirty="0"/>
              <a:t>A</a:t>
            </a:r>
            <a:r>
              <a:rPr kumimoji="1" lang="zh-CN" altLang="en-US" dirty="0"/>
              <a:t>键事件</a:t>
            </a:r>
            <a:r>
              <a:rPr kumimoji="1" lang="en-US" altLang="zh-CN" dirty="0"/>
              <a:t>");</a:t>
            </a:r>
          </a:p>
          <a:p>
            <a:r>
              <a:rPr kumimoji="1" lang="en-US" altLang="zh-CN" dirty="0"/>
              <a:t>}</a:t>
            </a:r>
          </a:p>
          <a:p>
            <a:r>
              <a:rPr kumimoji="1" lang="en" altLang="zh-CN" dirty="0"/>
              <a:t>if (</a:t>
            </a:r>
            <a:r>
              <a:rPr kumimoji="1" lang="en" altLang="zh-CN" dirty="0" err="1"/>
              <a:t>Input.GetKeyUp</a:t>
            </a:r>
            <a:r>
              <a:rPr kumimoji="1" lang="en" altLang="zh-CN" dirty="0"/>
              <a:t>(</a:t>
            </a:r>
            <a:r>
              <a:rPr kumimoji="1" lang="en" altLang="zh-CN" dirty="0" err="1"/>
              <a:t>KeyCode.A</a:t>
            </a:r>
            <a:r>
              <a:rPr kumimoji="1" lang="en" altLang="zh-CN" dirty="0"/>
              <a:t>))</a:t>
            </a:r>
          </a:p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 </a:t>
            </a:r>
            <a:r>
              <a:rPr kumimoji="1" lang="en" altLang="zh-CN" dirty="0" err="1"/>
              <a:t>Debug.Log</a:t>
            </a:r>
            <a:r>
              <a:rPr kumimoji="1" lang="en" altLang="zh-CN" dirty="0"/>
              <a:t>("</a:t>
            </a:r>
            <a:r>
              <a:rPr kumimoji="1" lang="zh-CN" altLang="en-US" dirty="0"/>
              <a:t>释放</a:t>
            </a:r>
            <a:r>
              <a:rPr kumimoji="1" lang="en" altLang="zh-CN" dirty="0"/>
              <a:t>A</a:t>
            </a:r>
            <a:r>
              <a:rPr kumimoji="1" lang="zh-CN" altLang="en-US" dirty="0"/>
              <a:t>键事件</a:t>
            </a:r>
            <a:r>
              <a:rPr kumimoji="1" lang="en-US" altLang="zh-CN" dirty="0"/>
              <a:t>");</a:t>
            </a:r>
          </a:p>
          <a:p>
            <a:r>
              <a:rPr kumimoji="1" lang="en-US" altLang="zh-CN" dirty="0"/>
              <a:t>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36586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17234-C72B-B5F3-C52F-9050A0EB7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7.5.2</a:t>
            </a:r>
            <a:r>
              <a:rPr kumimoji="1" lang="zh-CN" altLang="en-US" dirty="0"/>
              <a:t> 虚拟输入事件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61BCFE-A3B4-8481-959C-CC44B1DA5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en" altLang="zh-CN" dirty="0"/>
              <a:t>Vector3 move = new Vector3(</a:t>
            </a:r>
            <a:r>
              <a:rPr kumimoji="1" lang="en" altLang="zh-CN" dirty="0" err="1"/>
              <a:t>Input.GetAxis</a:t>
            </a:r>
            <a:r>
              <a:rPr kumimoji="1" lang="en" altLang="zh-CN" dirty="0"/>
              <a:t>("Horizontal"), 0, </a:t>
            </a:r>
            <a:r>
              <a:rPr kumimoji="1" lang="en" altLang="zh-CN" dirty="0" err="1"/>
              <a:t>Input.GetAxis</a:t>
            </a:r>
            <a:r>
              <a:rPr kumimoji="1" lang="en" altLang="zh-CN" dirty="0"/>
              <a:t>("Vertical"));</a:t>
            </a:r>
          </a:p>
          <a:p>
            <a:endParaRPr kumimoji="1" lang="en" altLang="zh-CN" dirty="0"/>
          </a:p>
          <a:p>
            <a:r>
              <a:rPr kumimoji="1" lang="en" altLang="zh-CN" dirty="0"/>
              <a:t>if(move != Vector3.zero)</a:t>
            </a:r>
          </a:p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 </a:t>
            </a:r>
            <a:r>
              <a:rPr kumimoji="1" lang="en" altLang="zh-CN" dirty="0" err="1"/>
              <a:t>Debug.Log</a:t>
            </a:r>
            <a:r>
              <a:rPr kumimoji="1" lang="en" altLang="zh-CN" dirty="0"/>
              <a:t>($"</a:t>
            </a:r>
            <a:r>
              <a:rPr kumimoji="1" lang="zh-CN" altLang="en-US" dirty="0"/>
              <a:t>方向键</a:t>
            </a:r>
            <a:r>
              <a:rPr kumimoji="1" lang="en-US" altLang="zh-CN" dirty="0"/>
              <a:t>{</a:t>
            </a:r>
            <a:r>
              <a:rPr kumimoji="1" lang="en" altLang="zh-CN" dirty="0"/>
              <a:t>move}");</a:t>
            </a:r>
          </a:p>
          <a:p>
            <a:r>
              <a:rPr kumimoji="1" lang="en" altLang="zh-CN" dirty="0"/>
              <a:t>}</a:t>
            </a:r>
          </a:p>
          <a:p>
            <a:endParaRPr kumimoji="1" lang="en" altLang="zh-CN" dirty="0"/>
          </a:p>
          <a:p>
            <a:r>
              <a:rPr kumimoji="1" lang="en" altLang="zh-CN" dirty="0"/>
              <a:t>if (</a:t>
            </a:r>
            <a:r>
              <a:rPr kumimoji="1" lang="en" altLang="zh-CN" dirty="0" err="1"/>
              <a:t>Input.GetButtonDown</a:t>
            </a:r>
            <a:r>
              <a:rPr kumimoji="1" lang="en" altLang="zh-CN" dirty="0"/>
              <a:t>("Fire1"))</a:t>
            </a:r>
          </a:p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 </a:t>
            </a:r>
            <a:r>
              <a:rPr kumimoji="1" lang="en" altLang="zh-CN" dirty="0" err="1"/>
              <a:t>Debug.Log</a:t>
            </a:r>
            <a:r>
              <a:rPr kumimoji="1" lang="en" altLang="zh-CN" dirty="0"/>
              <a:t>($"</a:t>
            </a:r>
            <a:r>
              <a:rPr kumimoji="1" lang="zh-CN" altLang="en-US" dirty="0"/>
              <a:t>攻击键</a:t>
            </a:r>
            <a:r>
              <a:rPr kumimoji="1" lang="en-US" altLang="zh-CN" dirty="0"/>
              <a:t>");</a:t>
            </a:r>
          </a:p>
          <a:p>
            <a:r>
              <a:rPr kumimoji="1" lang="en-US" altLang="zh-CN" dirty="0"/>
              <a:t>}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9D27B52-6ECD-A4CF-A705-E92F1754A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429" y="2855913"/>
            <a:ext cx="4009390" cy="332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0482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EACBB8-26E8-CEFA-F715-086BEA146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7.5.3</a:t>
            </a:r>
            <a:r>
              <a:rPr kumimoji="1" lang="zh-CN" altLang="en-US" dirty="0"/>
              <a:t> 鼠标位置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2B01CD-3D39-41D1-85A6-D4783D5F1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if (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Input.GetMouseButtonUp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(0))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//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输出鼠标在屏幕中的坐标</a:t>
            </a: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Debug.Log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Input.mousePosition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}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C833D4-5229-A80B-C750-B01D86E04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872" y="1825625"/>
            <a:ext cx="5274310" cy="357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0508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6931BB-6568-DB9B-9AEB-B2EC2C82F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7.5.4</a:t>
            </a:r>
            <a:r>
              <a:rPr kumimoji="1" lang="zh-CN" altLang="en-US" dirty="0"/>
              <a:t> 选择模型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1521E8-FC4E-6DD9-E206-31D29AF95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Click3D.Get(Go3d).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onClick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= (e) =&gt; 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Debug.Log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("3D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点击事件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");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};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Click3D.Get(Go3d).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onDrag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= (e) =&gt; 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Debug.Log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("3D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拖动事件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");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};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Click3D.Get(Go2d).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onClick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= (e) =&gt; 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Debug.Log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("2D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点击事件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");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};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Click3D.Get(Go2d).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onDrag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= (e) =&gt; 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Debug.Log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("2D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拖动事件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");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};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AB6F6A9-6835-5D04-634A-28EB09C7F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624" y="1690688"/>
            <a:ext cx="5274310" cy="251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5071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A0B877-0F5E-A139-F48F-F0DA26358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7.5.5</a:t>
            </a:r>
            <a:r>
              <a:rPr kumimoji="1" lang="zh-CN" altLang="en-US" dirty="0"/>
              <a:t> 控制角色移动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0B1621-FBC2-25A6-63E7-A5D44FC5A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//</a:t>
            </a:r>
            <a:r>
              <a:rPr kumimoji="1" lang="zh-CN" altLang="en-US" dirty="0"/>
              <a:t>步长</a:t>
            </a:r>
          </a:p>
          <a:p>
            <a:r>
              <a:rPr kumimoji="1" lang="en" altLang="zh-CN" dirty="0"/>
              <a:t>float step = 5f * </a:t>
            </a:r>
            <a:r>
              <a:rPr kumimoji="1" lang="en" altLang="zh-CN" dirty="0" err="1"/>
              <a:t>Time.deltaTime</a:t>
            </a:r>
            <a:r>
              <a:rPr kumimoji="1" lang="en" altLang="zh-CN" dirty="0"/>
              <a:t>;</a:t>
            </a:r>
          </a:p>
          <a:p>
            <a:r>
              <a:rPr kumimoji="1" lang="en" altLang="zh-CN" dirty="0" err="1"/>
              <a:t>Model.position</a:t>
            </a:r>
            <a:r>
              <a:rPr kumimoji="1" lang="en" altLang="zh-CN" dirty="0"/>
              <a:t> = Vector3.MoveTowards(</a:t>
            </a:r>
            <a:r>
              <a:rPr kumimoji="1" lang="en" altLang="zh-CN" dirty="0" err="1"/>
              <a:t>Model.position</a:t>
            </a:r>
            <a:r>
              <a:rPr kumimoji="1" lang="en" altLang="zh-CN" dirty="0"/>
              <a:t>, </a:t>
            </a:r>
            <a:r>
              <a:rPr kumimoji="1" lang="en" altLang="zh-CN" dirty="0" err="1"/>
              <a:t>m_MoveToPosition</a:t>
            </a:r>
            <a:r>
              <a:rPr kumimoji="1" lang="en" altLang="zh-CN" dirty="0"/>
              <a:t>, step);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A16F205-804B-4CFD-C02C-FD057B7AA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809" y="3892868"/>
            <a:ext cx="3991610" cy="228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3106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EE7215-3549-5524-3D3E-6CBA94016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7.5.6</a:t>
            </a:r>
            <a:r>
              <a:rPr kumimoji="1" lang="zh-CN" altLang="en-US" dirty="0"/>
              <a:t> 射线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539D2D-CE5C-936A-80FD-6C63AFABF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Ray ray = new Ray(Vector3.zero, Vector3.one * 10f);</a:t>
            </a:r>
          </a:p>
          <a:p>
            <a:r>
              <a:rPr kumimoji="1" lang="en" altLang="zh-CN" dirty="0"/>
              <a:t>Ray2D ray2D = new Ray2D(Vector2.zero, Vector2.one * 10);</a:t>
            </a:r>
          </a:p>
          <a:p>
            <a:endParaRPr kumimoji="1" lang="en" altLang="zh-CN" dirty="0"/>
          </a:p>
          <a:p>
            <a:r>
              <a:rPr kumimoji="1" lang="en" altLang="zh-CN" dirty="0" err="1"/>
              <a:t>Debug.DrawRay</a:t>
            </a:r>
            <a:r>
              <a:rPr kumimoji="1" lang="en" altLang="zh-CN" dirty="0"/>
              <a:t>(</a:t>
            </a:r>
            <a:r>
              <a:rPr kumimoji="1" lang="en" altLang="zh-CN" dirty="0" err="1"/>
              <a:t>ray.origin</a:t>
            </a:r>
            <a:r>
              <a:rPr kumimoji="1" lang="en" altLang="zh-CN" dirty="0"/>
              <a:t>, </a:t>
            </a:r>
            <a:r>
              <a:rPr kumimoji="1" lang="en" altLang="zh-CN" dirty="0" err="1"/>
              <a:t>ray.direction</a:t>
            </a:r>
            <a:r>
              <a:rPr kumimoji="1" lang="en" altLang="zh-CN" dirty="0"/>
              <a:t>, </a:t>
            </a:r>
            <a:r>
              <a:rPr kumimoji="1" lang="en" altLang="zh-CN" dirty="0" err="1"/>
              <a:t>Color.red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 err="1"/>
              <a:t>Debug.DrawRay</a:t>
            </a:r>
            <a:r>
              <a:rPr kumimoji="1" lang="en" altLang="zh-CN" dirty="0"/>
              <a:t>(ray2D.origin, ray2D.direction, </a:t>
            </a:r>
            <a:r>
              <a:rPr kumimoji="1" lang="en" altLang="zh-CN" dirty="0" err="1"/>
              <a:t>Color.yellow</a:t>
            </a:r>
            <a:r>
              <a:rPr kumimoji="1" lang="en" altLang="zh-CN" dirty="0"/>
              <a:t>);</a:t>
            </a:r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AE3CA5E-85B9-12CD-1D46-26DE8CD21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473" y="4366611"/>
            <a:ext cx="2781935" cy="24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7628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9B7185-E644-ADF8-79B0-C5F5F5385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7.6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Transform</a:t>
            </a:r>
            <a:r>
              <a:rPr kumimoji="1" lang="zh-CN" altLang="en-US" dirty="0"/>
              <a:t>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63C5E7-A2BA-6A77-F77A-5777122E2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 </a:t>
            </a:r>
            <a:r>
              <a:rPr kumimoji="1" lang="en-US" altLang="zh-CN" dirty="0"/>
              <a:t>//</a:t>
            </a:r>
            <a:r>
              <a:rPr kumimoji="1" lang="zh-CN" altLang="en-US" dirty="0"/>
              <a:t>从目标点上方一米的位置向下发送射线</a:t>
            </a:r>
          </a:p>
          <a:p>
            <a:r>
              <a:rPr kumimoji="1" lang="zh-CN" altLang="en-US" dirty="0"/>
              <a:t> </a:t>
            </a:r>
            <a:r>
              <a:rPr kumimoji="1" lang="en" altLang="zh-CN" dirty="0"/>
              <a:t>Vector3 </a:t>
            </a:r>
            <a:r>
              <a:rPr kumimoji="1" lang="en" altLang="zh-CN" dirty="0" err="1"/>
              <a:t>rayTop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moveTo</a:t>
            </a:r>
            <a:r>
              <a:rPr kumimoji="1" lang="en" altLang="zh-CN" dirty="0"/>
              <a:t>;</a:t>
            </a:r>
          </a:p>
          <a:p>
            <a:r>
              <a:rPr kumimoji="1" lang="en" altLang="zh-CN" dirty="0"/>
              <a:t> </a:t>
            </a:r>
            <a:r>
              <a:rPr kumimoji="1" lang="en" altLang="zh-CN" dirty="0" err="1"/>
              <a:t>rayTop.y</a:t>
            </a:r>
            <a:r>
              <a:rPr kumimoji="1" lang="en" altLang="zh-CN" dirty="0"/>
              <a:t>+= 1f;</a:t>
            </a:r>
          </a:p>
          <a:p>
            <a:r>
              <a:rPr kumimoji="1" lang="en" altLang="zh-CN" dirty="0"/>
              <a:t> Ray ray = new Ray(</a:t>
            </a:r>
            <a:r>
              <a:rPr kumimoji="1" lang="en" altLang="zh-CN" dirty="0" err="1"/>
              <a:t>rayTop</a:t>
            </a:r>
            <a:r>
              <a:rPr kumimoji="1" lang="en" altLang="zh-CN" dirty="0"/>
              <a:t>, Vector3.down);</a:t>
            </a:r>
          </a:p>
          <a:p>
            <a:r>
              <a:rPr kumimoji="1" lang="en" altLang="zh-CN" dirty="0"/>
              <a:t> </a:t>
            </a:r>
            <a:r>
              <a:rPr kumimoji="1" lang="en" altLang="zh-CN" dirty="0" err="1"/>
              <a:t>RaycastHit</a:t>
            </a:r>
            <a:r>
              <a:rPr kumimoji="1" lang="en" altLang="zh-CN" dirty="0"/>
              <a:t> hit;</a:t>
            </a:r>
          </a:p>
          <a:p>
            <a:r>
              <a:rPr kumimoji="1" lang="en" altLang="zh-CN" dirty="0"/>
              <a:t> if (</a:t>
            </a:r>
            <a:r>
              <a:rPr kumimoji="1" lang="en" altLang="zh-CN" dirty="0" err="1"/>
              <a:t>Physics.Raycast</a:t>
            </a:r>
            <a:r>
              <a:rPr kumimoji="1" lang="en" altLang="zh-CN" dirty="0"/>
              <a:t>(ray, out hit))</a:t>
            </a:r>
          </a:p>
          <a:p>
            <a:r>
              <a:rPr kumimoji="1" lang="en" altLang="zh-CN" dirty="0"/>
              <a:t> {   //</a:t>
            </a:r>
            <a:r>
              <a:rPr kumimoji="1" lang="zh-CN" altLang="en-US" dirty="0"/>
              <a:t>计算出角色距离地面的高度</a:t>
            </a:r>
          </a:p>
          <a:p>
            <a:r>
              <a:rPr kumimoji="1" lang="zh-CN" altLang="en-US" dirty="0"/>
              <a:t>     </a:t>
            </a:r>
            <a:r>
              <a:rPr kumimoji="1" lang="en" altLang="zh-CN" dirty="0" err="1"/>
              <a:t>moveTo.y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hit.point.y</a:t>
            </a:r>
            <a:r>
              <a:rPr kumimoji="1" lang="en" altLang="zh-CN" dirty="0"/>
              <a:t>;</a:t>
            </a:r>
          </a:p>
          <a:p>
            <a:r>
              <a:rPr kumimoji="1" lang="en" altLang="zh-CN" dirty="0"/>
              <a:t> }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A1343A-278F-A7DF-AC98-5C16EE667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8212" y="4260215"/>
            <a:ext cx="3711575" cy="223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866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D23736-0A01-2B90-7707-14040ED97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7.6.2</a:t>
            </a:r>
            <a:r>
              <a:rPr kumimoji="1" lang="zh-CN" altLang="en-US" dirty="0"/>
              <a:t> 摄像机跟随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B27872-CC67-4401-A693-9285BC7F6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 </a:t>
            </a:r>
            <a:r>
              <a:rPr kumimoji="1" lang="en-US" altLang="zh-CN" dirty="0"/>
              <a:t>//</a:t>
            </a:r>
            <a:r>
              <a:rPr kumimoji="1" lang="zh-CN" altLang="en-US" dirty="0"/>
              <a:t>计算摄像机的位置，始终朝向角色</a:t>
            </a:r>
          </a:p>
          <a:p>
            <a:r>
              <a:rPr kumimoji="1" lang="zh-CN" altLang="en-US" dirty="0"/>
              <a:t> </a:t>
            </a:r>
            <a:r>
              <a:rPr kumimoji="1" lang="en" altLang="zh-CN" dirty="0" err="1"/>
              <a:t>Camera.main.transform.position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transform.position</a:t>
            </a:r>
            <a:r>
              <a:rPr kumimoji="1" lang="en" altLang="zh-CN" dirty="0"/>
              <a:t> + (</a:t>
            </a:r>
            <a:r>
              <a:rPr kumimoji="1" lang="en" altLang="zh-CN" dirty="0" err="1"/>
              <a:t>transform.rotation</a:t>
            </a:r>
            <a:r>
              <a:rPr kumimoji="1" lang="en" altLang="zh-CN" dirty="0"/>
              <a:t> * </a:t>
            </a:r>
            <a:r>
              <a:rPr kumimoji="1" lang="en" altLang="zh-CN" dirty="0" err="1"/>
              <a:t>m_Dir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 </a:t>
            </a:r>
            <a:r>
              <a:rPr kumimoji="1" lang="en" altLang="zh-CN" dirty="0" err="1"/>
              <a:t>Camera.main.transform.LookAt</a:t>
            </a:r>
            <a:r>
              <a:rPr kumimoji="1" lang="en" altLang="zh-CN" dirty="0"/>
              <a:t>(</a:t>
            </a:r>
            <a:r>
              <a:rPr kumimoji="1" lang="en" altLang="zh-CN" dirty="0" err="1"/>
              <a:t>transform.transform</a:t>
            </a:r>
            <a:r>
              <a:rPr kumimoji="1" lang="en" altLang="zh-CN" dirty="0"/>
              <a:t>, Vector3.up);</a:t>
            </a:r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D8C6494-0597-3BB6-5D4D-6F6A79FC9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708" y="4120875"/>
            <a:ext cx="3646170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4245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975F5-6218-A816-7E6C-B4B234D48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7.6.3</a:t>
            </a:r>
            <a:r>
              <a:rPr kumimoji="1" lang="zh-CN" altLang="en-US" dirty="0"/>
              <a:t> 插值移动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143AF8-41C9-43F1-F4DA-855FD32EF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void Start()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//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目标位置、等待时间、结束回调</a:t>
            </a: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StartCoroutine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MoveTo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(Cube, Vector3.one * 2, 2f, () =&gt; 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Debug.Log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移动坐标完毕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");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}));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StartCoroutine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RotationTo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(Cube, Vector3.one * 180, 2f, () =&gt;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Debug.Log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旋转完毕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");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}));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StartCoroutine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ScaleTo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(Cube, Vector3.one * 3f, 2f, () =&gt;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{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Debug.Log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缩放完毕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");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}));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37123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77F0A3-11A4-0212-BE8B-22F86839D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7.6.4</a:t>
            </a:r>
            <a:r>
              <a:rPr kumimoji="1" lang="zh-CN" altLang="en-US" dirty="0"/>
              <a:t> 约束条件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559C63-4485-AD84-F723-89ABC4D4A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层级节点中父对象的移动、旋转和缩放会影响子对象，而使用约束组件，可以让没有父子关系的游戏对象也产生类似的效果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EC50645-63D6-8815-DE0B-71D6E3B4D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548" y="3538734"/>
            <a:ext cx="5274310" cy="234505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3E33E63-27EE-F7F2-0AEF-7C1F663CA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062" y="3538734"/>
            <a:ext cx="28956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880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2215</Words>
  <Application>Microsoft Macintosh PowerPoint</Application>
  <PresentationFormat>宽屏</PresentationFormat>
  <Paragraphs>311</Paragraphs>
  <Slides>53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58" baseType="lpstr">
      <vt:lpstr>DengXian</vt:lpstr>
      <vt:lpstr>DengXian</vt:lpstr>
      <vt:lpstr>等线 Light</vt:lpstr>
      <vt:lpstr>Arial</vt:lpstr>
      <vt:lpstr>Office 主题​​</vt:lpstr>
      <vt:lpstr>Unity3D游戏开发第三版</vt:lpstr>
      <vt:lpstr>第7章 3D游戏开发</vt:lpstr>
      <vt:lpstr>7.1 Renderer</vt:lpstr>
      <vt:lpstr>7.1.1 Mesh Renderer</vt:lpstr>
      <vt:lpstr>7.1.2 Skinned Mesh Renderer</vt:lpstr>
      <vt:lpstr>7.1.3 Particle System </vt:lpstr>
      <vt:lpstr>7.1.4 Trail Renderer</vt:lpstr>
      <vt:lpstr>7.1.5 Line Renderer</vt:lpstr>
      <vt:lpstr>7.1.6 Terrain</vt:lpstr>
      <vt:lpstr>7.2 游戏对象和资源</vt:lpstr>
      <vt:lpstr>7.2.1 静态对象</vt:lpstr>
      <vt:lpstr>7.2.2 标记Tag</vt:lpstr>
      <vt:lpstr>7.2.3 层</vt:lpstr>
      <vt:lpstr>7.2.4 预制体</vt:lpstr>
      <vt:lpstr>7.2.5 预制体嵌套</vt:lpstr>
      <vt:lpstr>7.2.6 预制体和游戏对象</vt:lpstr>
      <vt:lpstr>7.2.7 实例化</vt:lpstr>
      <vt:lpstr>7.2.8 游戏资源</vt:lpstr>
      <vt:lpstr>7.2.9 场景</vt:lpstr>
      <vt:lpstr>7.2.10 场景模版</vt:lpstr>
      <vt:lpstr>7.3 动画系统</vt:lpstr>
      <vt:lpstr>7.3.1 动画文件</vt:lpstr>
      <vt:lpstr>7.3.2 制作动画</vt:lpstr>
      <vt:lpstr>7.3.3 动画事件</vt:lpstr>
      <vt:lpstr>7.3.4 骨骼动画优化</vt:lpstr>
      <vt:lpstr>7.3.5 播放动画</vt:lpstr>
      <vt:lpstr>7.3.6 切换动画</vt:lpstr>
      <vt:lpstr>7.3.7 动画混合</vt:lpstr>
      <vt:lpstr>7.3.8 老版动画</vt:lpstr>
      <vt:lpstr>7.3.9 Simple Animation组件</vt:lpstr>
      <vt:lpstr>7.3.10 控制动画进度</vt:lpstr>
      <vt:lpstr>7.3.11 特殊动画</vt:lpstr>
      <vt:lpstr>7.3.12 Playable组件</vt:lpstr>
      <vt:lpstr>7.3.13 使用Playable自定义脚本</vt:lpstr>
      <vt:lpstr>7.3.14 换装</vt:lpstr>
      <vt:lpstr>7.4 3D物理</vt:lpstr>
      <vt:lpstr>7.4.1 角色控制器</vt:lpstr>
      <vt:lpstr>7.4.2 碰撞体</vt:lpstr>
      <vt:lpstr>7.4.3 Rigidbody组件</vt:lpstr>
      <vt:lpstr>7.4.4 碰撞事件</vt:lpstr>
      <vt:lpstr>7.4.5 布娃娃系统</vt:lpstr>
      <vt:lpstr>7.4.6 布料</vt:lpstr>
      <vt:lpstr>7.5 输入系统</vt:lpstr>
      <vt:lpstr>7.5.1 实体输入事件</vt:lpstr>
      <vt:lpstr>7.5.2 虚拟输入事件</vt:lpstr>
      <vt:lpstr>7.5.3 鼠标位置</vt:lpstr>
      <vt:lpstr>7.5.4 选择模型</vt:lpstr>
      <vt:lpstr>7.5.5 控制角色移动</vt:lpstr>
      <vt:lpstr>7.5.6 射线</vt:lpstr>
      <vt:lpstr>7.6 Transform组件</vt:lpstr>
      <vt:lpstr>7.6.2 摄像机跟随</vt:lpstr>
      <vt:lpstr>7.6.3 插值移动</vt:lpstr>
      <vt:lpstr>7.6.4 约束条件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Unity3D游戏开发第三版</dc:title>
  <dc:creator>雨松momo</dc:creator>
  <cp:lastModifiedBy>雨松momo</cp:lastModifiedBy>
  <cp:revision>6</cp:revision>
  <dcterms:created xsi:type="dcterms:W3CDTF">2024-01-02T13:24:07Z</dcterms:created>
  <dcterms:modified xsi:type="dcterms:W3CDTF">2024-01-03T15:49:31Z</dcterms:modified>
</cp:coreProperties>
</file>