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609D0-64DF-B87E-62E4-B1F30F32B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6FEAFD-FD9F-F710-7B64-62D3BE034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1866DE-FAD7-5DD8-AB3D-D7958565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F886FE-0DC3-890C-048F-672BE2F88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FDC53A-0731-33D4-CA68-2289102B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671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D1A12-8509-BA45-6EE3-5EAFB14F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DC3A25-5521-B433-A717-1F209A4D5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61D3D6-00FB-E906-5012-1D9AE198B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7F51D-3CB0-4AE5-6569-A5133120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48D9F1-72C5-B38A-CC97-11B1FA7D4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948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5429D-EE2A-7551-8D49-3E58D7B74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7254C0-5E8D-0F76-5CE4-201ECBE6E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A0E5B6-B447-C497-2B72-77C57527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EC345F-1562-F8F8-E203-77361017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6B9A52-8046-361A-0965-8FA138C0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653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11A3C-80DF-030C-F84D-F5D05F557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DB76D1-70A0-E468-EEDD-AE0D994A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EF8DF6-2A59-0472-F4C1-9FAAD7A98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5C4CB1-633C-1ED1-E373-13837095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0EED89-8F72-3223-1D67-BA26EF52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63FB67-B257-6151-43A6-51495A88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007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FC0E9-C061-154E-E0CA-0A022C5C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F9A94E-CB47-5C7B-139A-23CC64B6D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4B2C50-4918-4C1F-B7BE-C4E76CDEF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EEDB33-20B8-DBF4-2627-56354E229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891956-1EC3-3489-D1AF-B7BE0F5C8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F40576-0C08-D7D8-A69B-81F287E4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01EFB9-761D-466E-004C-6CEE0CB2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DDB1E0-099A-ABB9-A7E8-8F06BCDA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165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29057-0856-C0E8-42E8-EFD0C3F9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0C93C9-B113-2934-8165-5861C9206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21169B-2A2F-A011-EF2C-2BBAEE53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27ECC3-6043-0414-2976-8D69D485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672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BB1368-CE3D-7162-D7B5-EBCFB945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BD19C7-927E-6BA1-26A1-4A6A44974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D04645-9127-BF44-498C-9A62F872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8971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19E53-7051-A0F2-A377-EC2022E25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112612-2232-2171-1806-AD4033B2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96C41E-1CC2-AD49-2C7B-CE0C548BD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C8B7F9-A35C-75A5-C1CC-F061E2E3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DF5193-D54E-C1CD-A40D-3965803A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A7F921-9C5F-0A89-3583-C023D2D5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972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93AE5-5ED7-61A5-5988-16466426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15EF9B-C027-60FD-1C5D-1FF1D5976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A56FB8-F00E-D76B-3887-E699E5DF6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6C88A3-6CB2-F09E-83A5-03BFCF91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A12888-596B-4884-C75C-8A107A7E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9A4DF1-E195-17BD-FC5D-94E7F657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010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33012-30EE-29DD-21BB-686C14C5B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ECD48-8410-B75B-C0E9-8CDCE6E1A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78F64D-92A4-AF39-5BFF-31180C40D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774F20-11CB-5513-5C5D-DBC7115E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102201-700D-7FA6-B00D-D4FAABE7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4157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218E9E-3C99-BD93-B9EC-F4AB334FB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29154E-1B4B-08B5-82DC-5050C995A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ABF84-5CA0-46A8-7F21-56DBF9BC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A3D90D-2485-B3FD-9064-B9231D723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1B3344-F786-1943-4676-D50AED44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577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F6FAE3-F282-91CD-0781-078BBB84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EB874D-52C5-C5EF-7778-B6302830F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3A9C73-7FC9-DA89-B5FE-115C53798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4BEF0-8522-784F-A0EF-2EE465789A93}" type="datetimeFigureOut">
              <a:rPr kumimoji="1" lang="zh-CN" altLang="en-US" smtClean="0"/>
              <a:t>2023/10/18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956C94-959C-69E8-460F-DE724CCC4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1AF02-2BD4-7990-F125-4A98F610A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A436B-058F-DE49-AECE-E3452035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049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94684-22ED-EAC9-F171-12921A7B4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Unity3D</a:t>
            </a:r>
            <a:r>
              <a:rPr kumimoji="1" lang="zh-CN" altLang="en-US" dirty="0"/>
              <a:t>游戏开发第三版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72B801-BDEA-BF76-AD14-FC665B29BC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第四章</a:t>
            </a:r>
          </a:p>
        </p:txBody>
      </p:sp>
    </p:spTree>
    <p:extLst>
      <p:ext uri="{BB962C8B-B14F-4D97-AF65-F5344CB8AC3E}">
        <p14:creationId xmlns:p14="http://schemas.microsoft.com/office/powerpoint/2010/main" val="1048987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9401E-7329-58B8-CEC0-F3D7D7244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4</a:t>
            </a:r>
            <a:r>
              <a:rPr kumimoji="1" lang="zh-CN" altLang="en-US" dirty="0"/>
              <a:t>章 </a:t>
            </a:r>
            <a:r>
              <a:rPr kumimoji="1" lang="en-US" altLang="zh-CN" dirty="0"/>
              <a:t>UGUI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E388DA-155A-2660-2912-22C61667E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4.1</a:t>
            </a:r>
            <a:r>
              <a:rPr kumimoji="1" lang="zh-CN" altLang="en-US" dirty="0"/>
              <a:t> 游戏界面</a:t>
            </a:r>
            <a:endParaRPr kumimoji="1" lang="en-US" altLang="zh-CN" dirty="0"/>
          </a:p>
          <a:p>
            <a:r>
              <a:rPr kumimoji="1" lang="en-US" altLang="zh-CN" dirty="0"/>
              <a:t>4.2</a:t>
            </a:r>
            <a:r>
              <a:rPr kumimoji="1" lang="zh-CN" altLang="en-US" dirty="0"/>
              <a:t> 界面布局</a:t>
            </a:r>
            <a:endParaRPr kumimoji="1" lang="en-US" altLang="zh-CN" dirty="0"/>
          </a:p>
          <a:p>
            <a:r>
              <a:rPr kumimoji="1" lang="en-US" altLang="zh-CN" dirty="0"/>
              <a:t>4.3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Canvas</a:t>
            </a:r>
            <a:r>
              <a:rPr kumimoji="1" lang="zh-CN" altLang="en-US" dirty="0"/>
              <a:t>组件</a:t>
            </a:r>
            <a:endParaRPr kumimoji="1" lang="en-US" altLang="zh-CN" dirty="0"/>
          </a:p>
          <a:p>
            <a:r>
              <a:rPr kumimoji="1" lang="en-US" altLang="zh-CN" dirty="0"/>
              <a:t>4.4</a:t>
            </a:r>
            <a:r>
              <a:rPr kumimoji="1" lang="zh-CN" altLang="en-US" dirty="0"/>
              <a:t> </a:t>
            </a:r>
            <a:r>
              <a:rPr kumimoji="1" lang="en-US" altLang="zh-CN" dirty="0"/>
              <a:t>Atlas</a:t>
            </a:r>
          </a:p>
          <a:p>
            <a:r>
              <a:rPr kumimoji="1" lang="en-US" altLang="zh-CN" dirty="0"/>
              <a:t>4.5 </a:t>
            </a:r>
            <a:r>
              <a:rPr kumimoji="1" lang="zh-CN" altLang="en-US" dirty="0"/>
              <a:t>事件系统</a:t>
            </a:r>
          </a:p>
        </p:txBody>
      </p:sp>
    </p:spTree>
    <p:extLst>
      <p:ext uri="{BB962C8B-B14F-4D97-AF65-F5344CB8AC3E}">
        <p14:creationId xmlns:p14="http://schemas.microsoft.com/office/powerpoint/2010/main" val="4292165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06E0D-6763-E65B-10E0-9D47D3C96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 </a:t>
            </a:r>
            <a:r>
              <a:rPr kumimoji="1" lang="zh-CN" altLang="en-US" dirty="0"/>
              <a:t>游戏界面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D89C1C-E77B-EAFB-8C87-1F5C8D6B2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16669" cy="4351338"/>
          </a:xfrm>
        </p:spPr>
        <p:txBody>
          <a:bodyPr/>
          <a:lstStyle/>
          <a:p>
            <a:r>
              <a:rPr kumimoji="1" lang="en-US" altLang="zh-CN" dirty="0"/>
              <a:t>Hierarchy-&gt;UI</a:t>
            </a:r>
            <a:r>
              <a:rPr kumimoji="1" lang="zh-CN" altLang="en-US" dirty="0"/>
              <a:t>中创建</a:t>
            </a:r>
            <a:r>
              <a:rPr kumimoji="1" lang="en-US" altLang="zh-CN" dirty="0"/>
              <a:t>UGUI</a:t>
            </a:r>
          </a:p>
          <a:p>
            <a:r>
              <a:rPr kumimoji="1" lang="en-US" altLang="zh-CN" dirty="0"/>
              <a:t>Image</a:t>
            </a:r>
            <a:r>
              <a:rPr kumimoji="1" lang="zh-CN" altLang="en-US" dirty="0"/>
              <a:t>图片组件</a:t>
            </a:r>
            <a:endParaRPr kumimoji="1" lang="en-US" altLang="zh-CN" dirty="0"/>
          </a:p>
          <a:p>
            <a:r>
              <a:rPr kumimoji="1" lang="en-US" altLang="zh-CN" dirty="0"/>
              <a:t>Text </a:t>
            </a:r>
            <a:r>
              <a:rPr kumimoji="1" lang="zh-CN" altLang="en-US" dirty="0"/>
              <a:t>文本组件</a:t>
            </a:r>
            <a:endParaRPr kumimoji="1" lang="en-US" altLang="zh-CN" dirty="0"/>
          </a:p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668F9D-B437-6F7D-DA61-BFA375AE8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185" y="1402195"/>
            <a:ext cx="3765331" cy="469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37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540DC-F73F-96DE-CD4A-82AB43E38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4.1.1 Text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6DDE41-56AF-12AB-4FB4-28DDDD4E1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4131" cy="4351338"/>
          </a:xfrm>
        </p:spPr>
        <p:txBody>
          <a:bodyPr/>
          <a:lstStyle/>
          <a:p>
            <a:r>
              <a:rPr kumimoji="1" lang="zh-CN" altLang="en-US" dirty="0"/>
              <a:t>设置</a:t>
            </a:r>
            <a:r>
              <a:rPr kumimoji="1" lang="en-US" altLang="zh-CN" dirty="0"/>
              <a:t>TTF</a:t>
            </a:r>
            <a:r>
              <a:rPr kumimoji="1" lang="zh-CN" altLang="en-US" dirty="0"/>
              <a:t>字体</a:t>
            </a:r>
            <a:endParaRPr kumimoji="1" lang="en-US" altLang="zh-CN" dirty="0"/>
          </a:p>
          <a:p>
            <a:r>
              <a:rPr kumimoji="1" lang="zh-CN" altLang="en-US" dirty="0"/>
              <a:t>设置文本内容</a:t>
            </a:r>
            <a:endParaRPr kumimoji="1" lang="en-US" altLang="zh-CN" dirty="0"/>
          </a:p>
          <a:p>
            <a:r>
              <a:rPr kumimoji="1" lang="zh-CN" altLang="en-US" dirty="0"/>
              <a:t>设置文本格式</a:t>
            </a:r>
            <a:endParaRPr kumimoji="1" lang="en-US" altLang="zh-CN" dirty="0"/>
          </a:p>
          <a:p>
            <a:r>
              <a:rPr kumimoji="1" lang="zh-CN" altLang="en-US" dirty="0"/>
              <a:t>对齐方式、锚点、颜色、 间距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3DFCC2-068C-C3A4-F0DC-759278999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514" y="1407378"/>
            <a:ext cx="3473362" cy="508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205F1-4C9C-00F1-16F1-23A06DC6E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4.1.2</a:t>
            </a:r>
            <a:r>
              <a:rPr kumimoji="1" lang="zh-CN" altLang="en-US" dirty="0"/>
              <a:t> 富文本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E63352-6091-C1A4-C9A3-0E25CB28F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26214" cy="1958099"/>
          </a:xfrm>
        </p:spPr>
        <p:txBody>
          <a:bodyPr>
            <a:normAutofit fontScale="85000" lnSpcReduction="20000"/>
          </a:bodyPr>
          <a:lstStyle/>
          <a:p>
            <a:r>
              <a:rPr kumimoji="1" lang="en" altLang="zh-CN" dirty="0"/>
              <a:t>&lt;b&gt;</a:t>
            </a:r>
            <a:r>
              <a:rPr kumimoji="1" lang="zh-CN" altLang="en-US" dirty="0"/>
              <a:t>粗体</a:t>
            </a:r>
            <a:r>
              <a:rPr kumimoji="1" lang="en-US" altLang="zh-CN" dirty="0"/>
              <a:t>&lt;/</a:t>
            </a:r>
            <a:r>
              <a:rPr kumimoji="1" lang="en" altLang="zh-CN" dirty="0"/>
              <a:t>b&gt;</a:t>
            </a:r>
          </a:p>
          <a:p>
            <a:r>
              <a:rPr kumimoji="1" lang="en" altLang="zh-CN" dirty="0"/>
              <a:t>&lt;</a:t>
            </a:r>
            <a:r>
              <a:rPr kumimoji="1" lang="en" altLang="zh-CN" dirty="0" err="1"/>
              <a:t>i</a:t>
            </a:r>
            <a:r>
              <a:rPr kumimoji="1" lang="en" altLang="zh-CN" dirty="0"/>
              <a:t>&gt;</a:t>
            </a:r>
            <a:r>
              <a:rPr kumimoji="1" lang="zh-CN" altLang="en-US" dirty="0"/>
              <a:t>斜体</a:t>
            </a:r>
            <a:r>
              <a:rPr kumimoji="1" lang="en-US" altLang="zh-CN" dirty="0"/>
              <a:t>&lt;/</a:t>
            </a:r>
            <a:r>
              <a:rPr kumimoji="1" lang="en" altLang="zh-CN" dirty="0" err="1"/>
              <a:t>i</a:t>
            </a:r>
            <a:r>
              <a:rPr kumimoji="1" lang="en" altLang="zh-CN" dirty="0"/>
              <a:t>&gt;</a:t>
            </a:r>
          </a:p>
          <a:p>
            <a:r>
              <a:rPr kumimoji="1" lang="en" altLang="zh-CN" dirty="0"/>
              <a:t>&lt;color=#ff0000ff&gt;</a:t>
            </a:r>
            <a:r>
              <a:rPr kumimoji="1" lang="zh-CN" altLang="en-US" dirty="0"/>
              <a:t>自定义红色</a:t>
            </a:r>
            <a:r>
              <a:rPr kumimoji="1" lang="en-US" altLang="zh-CN" dirty="0"/>
              <a:t>&lt;/</a:t>
            </a:r>
            <a:r>
              <a:rPr kumimoji="1" lang="en" altLang="zh-CN" dirty="0"/>
              <a:t>color&gt;</a:t>
            </a:r>
          </a:p>
          <a:p>
            <a:r>
              <a:rPr kumimoji="1" lang="en" altLang="zh-CN" dirty="0"/>
              <a:t>&lt;size=50&gt;</a:t>
            </a:r>
            <a:r>
              <a:rPr kumimoji="1" lang="zh-CN" altLang="en-US" dirty="0"/>
              <a:t>字体大小</a:t>
            </a:r>
            <a:r>
              <a:rPr kumimoji="1" lang="en-US" altLang="zh-CN" dirty="0"/>
              <a:t>&lt;/</a:t>
            </a:r>
            <a:r>
              <a:rPr kumimoji="1" lang="en" altLang="zh-CN" dirty="0"/>
              <a:t>size&gt;</a:t>
            </a:r>
          </a:p>
          <a:p>
            <a:r>
              <a:rPr kumimoji="1" lang="en" altLang="zh-CN" dirty="0"/>
              <a:t>&lt;size=50&gt;&lt;color=green&gt;</a:t>
            </a:r>
            <a:r>
              <a:rPr kumimoji="1" lang="zh-CN" altLang="en-US" dirty="0"/>
              <a:t>嵌套标签</a:t>
            </a:r>
            <a:r>
              <a:rPr kumimoji="1" lang="en-US" altLang="zh-CN" dirty="0"/>
              <a:t>&lt;/</a:t>
            </a:r>
            <a:r>
              <a:rPr kumimoji="1" lang="en" altLang="zh-CN" dirty="0"/>
              <a:t>color&gt;&lt;/size&gt;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363BCC-BA2B-680F-7537-6FF798BE0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63" y="4353867"/>
            <a:ext cx="5274310" cy="20339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023453F-A281-AE40-34F9-0175F30C1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948" y="5364283"/>
            <a:ext cx="5274310" cy="8985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99235DB-A2D3-6D91-19DF-3E6084FCA6E6}"/>
              </a:ext>
            </a:extLst>
          </p:cNvPr>
          <p:cNvSpPr txBox="1"/>
          <p:nvPr/>
        </p:nvSpPr>
        <p:spPr>
          <a:xfrm>
            <a:off x="6611948" y="476118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图文混排</a:t>
            </a:r>
          </a:p>
        </p:txBody>
      </p:sp>
    </p:spTree>
    <p:extLst>
      <p:ext uri="{BB962C8B-B14F-4D97-AF65-F5344CB8AC3E}">
        <p14:creationId xmlns:p14="http://schemas.microsoft.com/office/powerpoint/2010/main" val="66441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64FFE-6380-B62F-67F5-EA0B470D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4.1.3</a:t>
            </a:r>
            <a:r>
              <a:rPr kumimoji="1" lang="zh-CN" altLang="en-US" dirty="0"/>
              <a:t>描边和阴影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4FB433-4790-8971-B079-97B9B1179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kumimoji="1" lang="en-US" altLang="zh-CN" dirty="0"/>
              <a:t>Outline</a:t>
            </a:r>
            <a:r>
              <a:rPr kumimoji="1" lang="zh-CN" altLang="en-US" dirty="0"/>
              <a:t>描边组件</a:t>
            </a:r>
            <a:endParaRPr kumimoji="1" lang="en-US" altLang="zh-CN" dirty="0"/>
          </a:p>
          <a:p>
            <a:r>
              <a:rPr kumimoji="1" lang="zh-CN" altLang="en-US" dirty="0"/>
              <a:t>描边颜色、距离、是否透明</a:t>
            </a:r>
            <a:endParaRPr kumimoji="1" lang="en-US" altLang="zh-CN" dirty="0"/>
          </a:p>
          <a:p>
            <a:r>
              <a:rPr kumimoji="1" lang="zh-CN" altLang="en-US" dirty="0"/>
              <a:t>描边性能较差，上下左右各两遍一共绘制</a:t>
            </a:r>
            <a:r>
              <a:rPr kumimoji="1" lang="en-US" altLang="zh-CN" dirty="0"/>
              <a:t>9</a:t>
            </a:r>
            <a:r>
              <a:rPr kumimoji="1" lang="zh-CN" altLang="en-US" dirty="0"/>
              <a:t>遍</a:t>
            </a:r>
            <a:endParaRPr kumimoji="1" lang="en-US" altLang="zh-CN" dirty="0"/>
          </a:p>
          <a:p>
            <a:r>
              <a:rPr kumimoji="1" lang="en-US" altLang="zh-CN" dirty="0"/>
              <a:t>Shadow</a:t>
            </a:r>
            <a:r>
              <a:rPr kumimoji="1" lang="zh-CN" altLang="en-US" dirty="0"/>
              <a:t>设置阴影</a:t>
            </a:r>
            <a:endParaRPr kumimoji="1" lang="en-US" altLang="zh-CN" dirty="0"/>
          </a:p>
          <a:p>
            <a:r>
              <a:rPr kumimoji="1" lang="zh-CN" altLang="en-US" dirty="0"/>
              <a:t>阴影颜色、距离、是否透明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F83532-7E8D-30F0-36F7-C58858C94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538" y="1757905"/>
            <a:ext cx="3904615" cy="18141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06F59D-23DC-8A18-5902-C7341B6A7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538" y="3784009"/>
            <a:ext cx="3396615" cy="229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58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325C4-3B45-B72E-9DF5-10163869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4.1.4</a:t>
            </a:r>
            <a:r>
              <a:rPr kumimoji="1" lang="zh-CN" altLang="en-US" dirty="0"/>
              <a:t> 动态字体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F72898-F3C8-2D9C-51C9-008284A42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7497" cy="4351338"/>
          </a:xfrm>
        </p:spPr>
        <p:txBody>
          <a:bodyPr/>
          <a:lstStyle/>
          <a:p>
            <a:r>
              <a:rPr kumimoji="1" lang="zh-CN" altLang="en-US" dirty="0"/>
              <a:t>支持第三方</a:t>
            </a:r>
            <a:r>
              <a:rPr kumimoji="1" lang="en-US" altLang="zh-CN" dirty="0"/>
              <a:t>TTF</a:t>
            </a:r>
            <a:r>
              <a:rPr kumimoji="1" lang="zh-CN" altLang="en-US" dirty="0"/>
              <a:t>字体文件</a:t>
            </a:r>
            <a:endParaRPr kumimoji="1" lang="en-US" altLang="zh-CN" dirty="0"/>
          </a:p>
          <a:p>
            <a:r>
              <a:rPr kumimoji="1" lang="zh-CN" altLang="en-US" dirty="0"/>
              <a:t>根据字体内容会渲染到位图中使用</a:t>
            </a:r>
            <a:endParaRPr kumimoji="1" lang="en-US" altLang="zh-CN" dirty="0"/>
          </a:p>
          <a:p>
            <a:r>
              <a:rPr kumimoji="1" lang="zh-CN" altLang="en-US" dirty="0"/>
              <a:t>不同字体大小会渲染多次，占内存。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D7B83A-139E-C384-57D6-8DBDAAAFA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144" y="1825625"/>
            <a:ext cx="3944587" cy="23393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6716E64-F581-B834-DE3E-37D11BAF5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44" y="4422458"/>
            <a:ext cx="3678555" cy="175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10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C92A9-AF94-AD52-07B2-A87B9C06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4.1.5</a:t>
            </a:r>
            <a:r>
              <a:rPr kumimoji="1" lang="zh-CN" altLang="en-US" dirty="0"/>
              <a:t> 字体花屏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D80FE-24B1-72E5-7624-4337746A4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监听字体贴图重建事件</a:t>
            </a: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Font.textureRebuilt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+= delegate (Font font)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m_NeedRebuildFont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font;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};</a:t>
            </a:r>
          </a:p>
          <a:p>
            <a:pPr algn="just"/>
            <a:endParaRPr kumimoji="1" lang="en-US" altLang="zh-CN" sz="18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kumimoji="1" lang="zh-CN" altLang="en-US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监听字体重建事件刷新字体。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812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EBD70-9058-DF96-C103-87A784164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4.1.6</a:t>
            </a:r>
            <a:r>
              <a:rPr kumimoji="1" lang="zh-CN" altLang="en-US" dirty="0"/>
              <a:t> </a:t>
            </a:r>
            <a:r>
              <a:rPr kumimoji="1" lang="en-US" altLang="zh-CN" dirty="0"/>
              <a:t>Text Mesh Pro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707729-0C1E-E041-03F8-76A007B9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67097" cy="4351338"/>
          </a:xfrm>
        </p:spPr>
        <p:txBody>
          <a:bodyPr/>
          <a:lstStyle/>
          <a:p>
            <a:r>
              <a:rPr kumimoji="1" lang="en-US" altLang="zh-CN" dirty="0"/>
              <a:t>SDF</a:t>
            </a:r>
            <a:r>
              <a:rPr kumimoji="1" lang="zh-CN" altLang="en-US" dirty="0"/>
              <a:t>距离场字体</a:t>
            </a:r>
            <a:endParaRPr kumimoji="1" lang="en-US" altLang="zh-CN" dirty="0"/>
          </a:p>
          <a:p>
            <a:r>
              <a:rPr kumimoji="1" lang="zh-CN" altLang="en-US" dirty="0"/>
              <a:t>支持动态字体</a:t>
            </a:r>
            <a:endParaRPr kumimoji="1" lang="en-US" altLang="zh-CN" dirty="0"/>
          </a:p>
          <a:p>
            <a:r>
              <a:rPr kumimoji="1" lang="zh-CN" altLang="en-US" dirty="0"/>
              <a:t>不会因为文字大小不同生成额外内存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76E182-75FB-98BF-27E0-5B26305B7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30" y="1724847"/>
            <a:ext cx="3174342" cy="477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012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300B3-693E-9054-B174-C278E056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4.1.7</a:t>
            </a:r>
            <a:r>
              <a:rPr kumimoji="1" lang="zh-CN" altLang="en-US" dirty="0"/>
              <a:t> </a:t>
            </a:r>
            <a:r>
              <a:rPr kumimoji="1" lang="en-US" altLang="zh-CN" dirty="0"/>
              <a:t>SDF</a:t>
            </a:r>
            <a:r>
              <a:rPr kumimoji="1" lang="zh-CN" altLang="en-US" dirty="0"/>
              <a:t>字体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317071-51F5-D192-3ECC-678407680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5869" cy="4351338"/>
          </a:xfrm>
        </p:spPr>
        <p:txBody>
          <a:bodyPr/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0.0 0.0 0.0 0.0 0.0 0.0 0.0 0.0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0.3 0.3 0.3 0.3 0.3 0.3 0.3 0.3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1.0 1.0 1.0 1.0 1.0 1.0 1.0 1.0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0.3 0.3 0.3 0.3 0.3 0.3 0.3 0.3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0.0 0.0 0.0 0.0 0.0 0.0 0.0 0.0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kumimoji="1" lang="zh-CN" altLang="en-US" dirty="0"/>
              <a:t>将每个像素距离字体最近的边缘写入位图中</a:t>
            </a:r>
            <a:endParaRPr kumimoji="1" lang="en-US" altLang="zh-CN" dirty="0"/>
          </a:p>
          <a:p>
            <a:r>
              <a:rPr kumimoji="1" lang="zh-CN" altLang="en-US" dirty="0"/>
              <a:t>描边不需要额外多次渲染</a:t>
            </a: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3F5519-EEF6-2624-F4D8-2ED33D114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555" y="1825625"/>
            <a:ext cx="2869565" cy="17214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8256875-C825-E5C1-BB4E-A1CF9D170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555" y="4209305"/>
            <a:ext cx="3803015" cy="182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53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80E15-1543-B295-DD35-5B1FB4CA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4.1.8</a:t>
            </a:r>
            <a:r>
              <a:rPr kumimoji="1" lang="zh-CN" altLang="en-US" dirty="0"/>
              <a:t> 图文混排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8B66CC-9956-CE19-95E2-4A4A8421A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798927"/>
          </a:xfrm>
        </p:spPr>
        <p:txBody>
          <a:bodyPr/>
          <a:lstStyle/>
          <a:p>
            <a:r>
              <a:rPr kumimoji="1" lang="zh-CN" altLang="en-US" dirty="0"/>
              <a:t>支持图文混排</a:t>
            </a:r>
            <a:endParaRPr kumimoji="1" lang="en-US" altLang="zh-CN" dirty="0"/>
          </a:p>
          <a:p>
            <a:r>
              <a:rPr kumimoji="1" lang="zh-CN" altLang="en-US" dirty="0"/>
              <a:t>提前制作精灵图</a:t>
            </a:r>
            <a:endParaRPr kumimoji="1" lang="en-US" altLang="zh-CN" dirty="0"/>
          </a:p>
          <a:p>
            <a:r>
              <a:rPr kumimoji="1" lang="zh-CN" altLang="en-US" dirty="0"/>
              <a:t>支持富文本标签</a:t>
            </a:r>
            <a:endParaRPr kumimoji="1" lang="en-US" altLang="zh-CN" dirty="0"/>
          </a:p>
          <a:p>
            <a:r>
              <a:rPr lang="en-US" altLang="zh-CN" sz="1800" dirty="0">
                <a:effectLst/>
                <a:latin typeface="Consolas" panose="020B06090202040302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&lt;sprite name=EmojiOne_0&gt; </a:t>
            </a: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A7C5E3-C585-86A1-65FC-BBB7BFB5A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053" y="1825625"/>
            <a:ext cx="3949044" cy="43536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4309AAC-BD84-7440-2C97-B76924E31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61" y="4749143"/>
            <a:ext cx="245872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34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5A6FD-1E9F-A86B-E116-48187ACE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4.19</a:t>
            </a:r>
            <a:r>
              <a:rPr kumimoji="1" lang="zh-CN" altLang="en-US" dirty="0"/>
              <a:t> 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FCD670-CAC7-41BE-276C-F855B59B6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69524" cy="4060168"/>
          </a:xfrm>
        </p:spPr>
        <p:txBody>
          <a:bodyPr/>
          <a:lstStyle/>
          <a:p>
            <a:r>
              <a:rPr kumimoji="1" lang="zh-CN" altLang="en-US" dirty="0"/>
              <a:t>聚合富文本标签</a:t>
            </a:r>
            <a:endParaRPr kumimoji="1" lang="en-US" altLang="zh-CN" dirty="0"/>
          </a:p>
          <a:p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&lt;style="#1"&gt;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字体大小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颜色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下划线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&lt;/style&gt;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kumimoji="1" lang="zh-CN" altLang="en-US" dirty="0"/>
              <a:t>减少较长的标签</a:t>
            </a:r>
            <a:endParaRPr kumimoji="1" lang="en-US" altLang="zh-CN" dirty="0"/>
          </a:p>
          <a:p>
            <a:r>
              <a:rPr kumimoji="1" lang="zh-CN" altLang="en-US" dirty="0"/>
              <a:t>支持颜色上下渐变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E23590-1325-9B1C-5C22-C8B289E35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692" y="1825625"/>
            <a:ext cx="4890245" cy="17869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24B4A89-BCEC-D826-C44F-3EDEB1D68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691" y="3992847"/>
            <a:ext cx="5179509" cy="205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398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2089F-9B9B-24DD-3161-843948DCE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4.1.10</a:t>
            </a:r>
            <a:r>
              <a:rPr kumimoji="1" lang="zh-CN" altLang="en-US" dirty="0"/>
              <a:t> 文字</a:t>
            </a:r>
            <a:r>
              <a:rPr kumimoji="1" lang="en-US" altLang="zh-CN" dirty="0"/>
              <a:t>fallback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09C168-3EC9-0FBA-0DDE-6357D8844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5952" cy="4351338"/>
          </a:xfrm>
        </p:spPr>
        <p:txBody>
          <a:bodyPr/>
          <a:lstStyle/>
          <a:p>
            <a:r>
              <a:rPr kumimoji="1" lang="zh-CN" altLang="en-US" dirty="0"/>
              <a:t>静态字或者动态字找不到的时候</a:t>
            </a:r>
            <a:endParaRPr kumimoji="1" lang="en-US" altLang="zh-CN" dirty="0"/>
          </a:p>
          <a:p>
            <a:r>
              <a:rPr kumimoji="1" lang="en-US" altLang="zh-CN" dirty="0"/>
              <a:t>Fallback</a:t>
            </a:r>
            <a:r>
              <a:rPr kumimoji="1" lang="zh-CN" altLang="en-US" dirty="0"/>
              <a:t>到另一个字体中</a:t>
            </a:r>
            <a:endParaRPr kumimoji="1" lang="en-US" altLang="zh-CN" dirty="0"/>
          </a:p>
          <a:p>
            <a:r>
              <a:rPr kumimoji="1" lang="en-US" altLang="zh-CN" dirty="0"/>
              <a:t>TTF</a:t>
            </a:r>
            <a:r>
              <a:rPr kumimoji="1" lang="zh-CN" altLang="en-US" dirty="0"/>
              <a:t>字体同样支持</a:t>
            </a:r>
            <a:r>
              <a:rPr kumimoji="1" lang="en-US" altLang="zh-CN" dirty="0"/>
              <a:t>Fallback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29C707-026B-DAC7-244A-DD812482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81" y="1825624"/>
            <a:ext cx="5866384" cy="12596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DDBD81C-A47A-EA82-71C1-271B5EE64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781" y="3772722"/>
            <a:ext cx="3969137" cy="240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42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0219F-C510-30B9-2120-4FE73064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4.1.11 </a:t>
            </a:r>
            <a:r>
              <a:rPr kumimoji="1" lang="zh-CN" altLang="en-US" dirty="0"/>
              <a:t>点击事件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8E6176-6ADB-83B6-5168-887837D55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37690" cy="4351338"/>
          </a:xfrm>
        </p:spPr>
        <p:txBody>
          <a:bodyPr/>
          <a:lstStyle/>
          <a:p>
            <a:r>
              <a:rPr kumimoji="1" lang="zh-CN" altLang="en-US" dirty="0"/>
              <a:t>下划线点击</a:t>
            </a:r>
            <a:endParaRPr kumimoji="1" lang="en-US" altLang="zh-CN" dirty="0"/>
          </a:p>
          <a:p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&lt;u&gt;&lt;link="ID_1"&gt;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下划线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2&lt;/link&gt;&lt;/u&gt;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04ADED-D41E-797E-FA72-16A1EDFD1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48" y="2981763"/>
            <a:ext cx="4790538" cy="23507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A872E4A-2AE9-E7EA-C0B9-3E6E53656E89}"/>
              </a:ext>
            </a:extLst>
          </p:cNvPr>
          <p:cNvSpPr txBox="1"/>
          <p:nvPr/>
        </p:nvSpPr>
        <p:spPr>
          <a:xfrm>
            <a:off x="838200" y="5715298"/>
            <a:ext cx="73757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TMP_LinkInfo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linkInfo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m_TextMeshProUGUI.textInfo.linkInfo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linkIndex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输出点击的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link  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标签名称</a:t>
            </a:r>
          </a:p>
          <a:p>
            <a:pPr algn="l"/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($"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LinkID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: {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linkInfo.GetLinkID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()}");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6104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8AB51-09F8-34D6-3611-EB568F9AC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4.1.12</a:t>
            </a:r>
            <a:r>
              <a:rPr kumimoji="1" lang="zh-CN" altLang="en-US" dirty="0"/>
              <a:t> 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6035BE-FF22-C6D4-119F-8067F97D7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0752" cy="4351338"/>
          </a:xfrm>
        </p:spPr>
        <p:txBody>
          <a:bodyPr/>
          <a:lstStyle/>
          <a:p>
            <a:r>
              <a:rPr kumimoji="1" lang="zh-CN" altLang="en-US" dirty="0"/>
              <a:t>显示精灵图</a:t>
            </a:r>
            <a:endParaRPr kumimoji="1" lang="en-US" altLang="zh-CN" dirty="0"/>
          </a:p>
          <a:p>
            <a:r>
              <a:rPr kumimoji="1" lang="zh-CN" altLang="en-US" dirty="0"/>
              <a:t>九宫、拉伸、平铺</a:t>
            </a:r>
            <a:endParaRPr kumimoji="1" lang="en-US" altLang="zh-CN" dirty="0"/>
          </a:p>
          <a:p>
            <a:r>
              <a:rPr kumimoji="1" lang="zh-CN" altLang="en-US" dirty="0"/>
              <a:t>颜色、材质、间距、等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18867F-476D-5EAC-5F95-C8191D9F3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358" y="1825624"/>
            <a:ext cx="6056744" cy="29881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C378D02-5FED-5874-B5A3-069B1B39A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22" y="3642995"/>
            <a:ext cx="2977515" cy="284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80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A955E-7AD6-8678-D1CE-7BDDE1B0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4.1.13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RawImage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1AA400-D287-64DF-CDDA-DB8112A2A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73414" cy="4351338"/>
          </a:xfrm>
        </p:spPr>
        <p:txBody>
          <a:bodyPr/>
          <a:lstStyle/>
          <a:p>
            <a:r>
              <a:rPr kumimoji="1" lang="zh-CN" altLang="en-US" dirty="0"/>
              <a:t>原始图显示</a:t>
            </a:r>
            <a:endParaRPr kumimoji="1" lang="en-US" altLang="zh-CN" dirty="0"/>
          </a:p>
          <a:p>
            <a:r>
              <a:rPr kumimoji="1" lang="zh-CN" altLang="en-US" dirty="0"/>
              <a:t>没有精灵图合批的功能</a:t>
            </a:r>
            <a:endParaRPr kumimoji="1" lang="en-US" altLang="zh-CN" dirty="0"/>
          </a:p>
          <a:p>
            <a:r>
              <a:rPr kumimoji="1" lang="zh-CN" altLang="en-US" dirty="0"/>
              <a:t>支持</a:t>
            </a:r>
            <a:r>
              <a:rPr kumimoji="1" lang="en-US" altLang="zh-CN" dirty="0"/>
              <a:t>UV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Rect</a:t>
            </a:r>
            <a:r>
              <a:rPr kumimoji="1" lang="zh-CN" altLang="en-US" dirty="0"/>
              <a:t>裁剪</a:t>
            </a:r>
            <a:endParaRPr kumimoji="1" lang="en-US" altLang="zh-CN" dirty="0"/>
          </a:p>
          <a:p>
            <a:r>
              <a:rPr kumimoji="1" lang="en-US" altLang="zh-CN" dirty="0"/>
              <a:t>Render Texture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67EEF4-2AA3-BD3B-6220-0C7C93CA9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721" y="1825625"/>
            <a:ext cx="3801110" cy="25031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C2AE29E-EB44-99D1-2C4B-7095AC504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721" y="4610713"/>
            <a:ext cx="3326130" cy="148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416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3201E-EBD5-491B-A4C7-8E982399F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4.1.14 Button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8F9A13-58DF-3676-20BD-66A8308A2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27483" cy="2683313"/>
          </a:xfrm>
        </p:spPr>
        <p:txBody>
          <a:bodyPr/>
          <a:lstStyle/>
          <a:p>
            <a:r>
              <a:rPr kumimoji="1" lang="zh-CN" altLang="en-US" dirty="0"/>
              <a:t>点击状态</a:t>
            </a:r>
            <a:endParaRPr kumimoji="1" lang="en-US" altLang="zh-CN" dirty="0"/>
          </a:p>
          <a:p>
            <a:r>
              <a:rPr kumimoji="1" lang="zh-CN" altLang="en-US" dirty="0"/>
              <a:t>切换颜色</a:t>
            </a:r>
            <a:endParaRPr kumimoji="1" lang="en-US" altLang="zh-CN" dirty="0"/>
          </a:p>
          <a:p>
            <a:r>
              <a:rPr kumimoji="1" lang="zh-CN" altLang="en-US" dirty="0"/>
              <a:t>切换图片</a:t>
            </a:r>
            <a:endParaRPr kumimoji="1" lang="en-US" altLang="zh-CN" dirty="0"/>
          </a:p>
          <a:p>
            <a:r>
              <a:rPr kumimoji="1" lang="zh-CN" altLang="en-US" dirty="0"/>
              <a:t>切换动画</a:t>
            </a:r>
            <a:endParaRPr kumimoji="1" lang="en-US" altLang="zh-CN" dirty="0"/>
          </a:p>
          <a:p>
            <a:r>
              <a:rPr kumimoji="1" lang="zh-CN" altLang="en-US" dirty="0"/>
              <a:t>点击事件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20700E-BCC0-D820-5883-D5C0F3280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624" y="1825624"/>
            <a:ext cx="5071675" cy="421782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7F2017E-895D-24DF-F37F-85F39782F1B6}"/>
              </a:ext>
            </a:extLst>
          </p:cNvPr>
          <p:cNvSpPr txBox="1"/>
          <p:nvPr/>
        </p:nvSpPr>
        <p:spPr>
          <a:xfrm>
            <a:off x="663141" y="4843118"/>
            <a:ext cx="46025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Button button =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GetComponent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&lt;Button&gt;();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button.onClick.AddListener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(() =&gt;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按钮点击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!");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});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9294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3F22F-9F33-1E7D-780B-FCE5FB292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4.1.15</a:t>
            </a:r>
            <a:r>
              <a:rPr kumimoji="1" lang="zh-CN" altLang="en-US" dirty="0"/>
              <a:t> </a:t>
            </a:r>
            <a:r>
              <a:rPr kumimoji="1" lang="en-US" altLang="zh-CN" dirty="0"/>
              <a:t>Toggle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DA65C-0F07-224A-3B52-10271225D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01966" cy="4351338"/>
          </a:xfrm>
        </p:spPr>
        <p:txBody>
          <a:bodyPr/>
          <a:lstStyle/>
          <a:p>
            <a:r>
              <a:rPr kumimoji="1" lang="zh-CN" altLang="en-US" dirty="0"/>
              <a:t>单选、多选</a:t>
            </a:r>
            <a:endParaRPr kumimoji="1" lang="en-US" altLang="zh-CN" dirty="0"/>
          </a:p>
          <a:p>
            <a:r>
              <a:rPr kumimoji="1" lang="zh-CN" altLang="en-US" dirty="0"/>
              <a:t>支持</a:t>
            </a:r>
            <a:r>
              <a:rPr kumimoji="1" lang="en-US" altLang="zh-CN" dirty="0"/>
              <a:t>Toggle Group</a:t>
            </a:r>
            <a:r>
              <a:rPr kumimoji="1" lang="zh-CN" altLang="en-US" dirty="0"/>
              <a:t>组</a:t>
            </a:r>
            <a:endParaRPr kumimoji="1" lang="en-US" altLang="zh-CN" dirty="0"/>
          </a:p>
          <a:p>
            <a:r>
              <a:rPr kumimoji="1" lang="zh-CN" altLang="en-US" dirty="0"/>
              <a:t>其他功能和按钮类似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629837-3C1F-B5DD-8C82-B9F6EC529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164" y="1743120"/>
            <a:ext cx="4260106" cy="298894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8210636-BC09-3A1B-A791-1411EC6B6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164" y="4955419"/>
            <a:ext cx="3914140" cy="134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35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D3F6D-1189-3F2F-FF41-843551E1C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4.1.16</a:t>
            </a:r>
            <a:r>
              <a:rPr kumimoji="1" lang="zh-CN" altLang="en-US" dirty="0"/>
              <a:t> </a:t>
            </a:r>
            <a:r>
              <a:rPr kumimoji="1" lang="en-US" altLang="zh-CN" dirty="0"/>
              <a:t>Scroll View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FE33EC-3B0C-3068-881A-AA3F90C39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1359" cy="4351338"/>
          </a:xfrm>
        </p:spPr>
        <p:txBody>
          <a:bodyPr/>
          <a:lstStyle/>
          <a:p>
            <a:r>
              <a:rPr kumimoji="1" lang="zh-CN" altLang="en-US" dirty="0"/>
              <a:t>滚动区域</a:t>
            </a:r>
            <a:endParaRPr kumimoji="1" lang="en-US" altLang="zh-CN" dirty="0"/>
          </a:p>
          <a:p>
            <a:r>
              <a:rPr kumimoji="1" lang="zh-CN" altLang="en-US" dirty="0"/>
              <a:t>水平滑动</a:t>
            </a:r>
            <a:endParaRPr kumimoji="1" lang="en-US" altLang="zh-CN" dirty="0"/>
          </a:p>
          <a:p>
            <a:r>
              <a:rPr kumimoji="1" lang="zh-CN" altLang="en-US" dirty="0"/>
              <a:t>竖直滑动</a:t>
            </a: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DD00C9-B189-299C-9C39-7952FAA4E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517" y="1825625"/>
            <a:ext cx="3268345" cy="20732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6D8BCEB-7418-0B74-76E8-E02E231A3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299" y="4126865"/>
            <a:ext cx="5917565" cy="236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50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22311-7DBF-4D91-F458-E3A22453C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4.1.17</a:t>
            </a:r>
            <a:r>
              <a:rPr kumimoji="1" lang="zh-CN" altLang="en-US" dirty="0"/>
              <a:t> 其他组件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FD0690-698D-B3A6-C79C-8E708E084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5952" cy="4351338"/>
          </a:xfrm>
        </p:spPr>
        <p:txBody>
          <a:bodyPr/>
          <a:lstStyle/>
          <a:p>
            <a:r>
              <a:rPr kumimoji="1" lang="zh-CN" altLang="en-US" dirty="0"/>
              <a:t>拖动条</a:t>
            </a:r>
            <a:endParaRPr kumimoji="1" lang="en-US" altLang="zh-CN" dirty="0"/>
          </a:p>
          <a:p>
            <a:r>
              <a:rPr kumimoji="1" lang="zh-CN" altLang="en-US" dirty="0"/>
              <a:t>下拉选项</a:t>
            </a:r>
            <a:endParaRPr kumimoji="1" lang="en-US" altLang="zh-CN" dirty="0"/>
          </a:p>
          <a:p>
            <a:r>
              <a:rPr kumimoji="1" lang="zh-CN" altLang="en-US" dirty="0"/>
              <a:t>输入框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660D4B-0312-3361-6C6E-1026C60D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146" y="1825625"/>
            <a:ext cx="6576158" cy="375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39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02A37-DA2A-0F0C-5843-756198E43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4.2</a:t>
            </a:r>
            <a:r>
              <a:rPr kumimoji="1" lang="zh-CN" altLang="en-US" dirty="0"/>
              <a:t> 界面布局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4CA61B3-C8FD-916B-48F8-50115CF65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972" y="2151811"/>
            <a:ext cx="10515600" cy="315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18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F05632-5569-FB3B-8F13-B5352F863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4.2.1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Rect</a:t>
            </a:r>
            <a:r>
              <a:rPr kumimoji="1" lang="en-US" altLang="zh-CN" dirty="0"/>
              <a:t> Transform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D5DA11-7D8F-8E9E-B821-30CA70D4D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522076" cy="2252389"/>
          </a:xfrm>
        </p:spPr>
        <p:txBody>
          <a:bodyPr/>
          <a:lstStyle/>
          <a:p>
            <a:r>
              <a:rPr kumimoji="1" lang="zh-CN" altLang="en-US" dirty="0"/>
              <a:t>中心点、锚点、对齐方式</a:t>
            </a:r>
            <a:endParaRPr kumimoji="1" lang="en-US" altLang="zh-CN" dirty="0"/>
          </a:p>
          <a:p>
            <a:r>
              <a:rPr kumimoji="1" lang="zh-CN" altLang="en-US" dirty="0"/>
              <a:t>相对父</a:t>
            </a:r>
            <a:r>
              <a:rPr kumimoji="1" lang="en-US" altLang="zh-CN" dirty="0"/>
              <a:t>Canvas</a:t>
            </a:r>
            <a:r>
              <a:rPr kumimoji="1" lang="zh-CN" altLang="en-US" dirty="0"/>
              <a:t>的对齐方式</a:t>
            </a:r>
            <a:endParaRPr kumimoji="1" lang="en-US" altLang="zh-CN" dirty="0"/>
          </a:p>
          <a:p>
            <a:r>
              <a:rPr kumimoji="1" lang="zh-CN" altLang="en-US" dirty="0"/>
              <a:t>四个角对齐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BD02BA-308B-2DF6-88CB-FE273AB9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42" y="4529893"/>
            <a:ext cx="6087005" cy="15345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2FAF64-2056-9581-6CE0-72B19A400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525" y="449837"/>
            <a:ext cx="2879834" cy="322605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CFEBE65-D2DD-360E-5889-A5F636BD8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525" y="4078014"/>
            <a:ext cx="4404995" cy="208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24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C12D9-23CE-A0A4-3D4B-11BA348D1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4.2.2</a:t>
            </a:r>
            <a:r>
              <a:rPr kumimoji="1" lang="zh-CN" altLang="en-US" dirty="0"/>
              <a:t> 拉伸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B6DBA3-EE9A-D20B-5FC5-116C88179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74931" cy="3492609"/>
          </a:xfrm>
        </p:spPr>
        <p:txBody>
          <a:bodyPr/>
          <a:lstStyle/>
          <a:p>
            <a:r>
              <a:rPr kumimoji="1" lang="zh-CN" altLang="en-US" dirty="0"/>
              <a:t>等比例拉伸，图片变形</a:t>
            </a:r>
            <a:endParaRPr kumimoji="1" lang="en-US" altLang="zh-CN" dirty="0"/>
          </a:p>
          <a:p>
            <a:r>
              <a:rPr kumimoji="1" lang="zh-CN" altLang="en-US" dirty="0"/>
              <a:t>裁剪拉伸，图片不变形</a:t>
            </a:r>
            <a:endParaRPr kumimoji="1" lang="en-US" altLang="zh-CN" dirty="0"/>
          </a:p>
          <a:p>
            <a:r>
              <a:rPr kumimoji="1" lang="zh-CN" altLang="en-US" dirty="0"/>
              <a:t>图片显示不全</a:t>
            </a:r>
            <a:endParaRPr kumimoji="1" lang="en-US" altLang="zh-CN" dirty="0"/>
          </a:p>
          <a:p>
            <a:r>
              <a:rPr kumimoji="1" lang="en-US" altLang="zh-CN" dirty="0"/>
              <a:t>Aspect Ratio Fitter</a:t>
            </a:r>
            <a:r>
              <a:rPr kumimoji="1" lang="zh-CN" altLang="en-US" dirty="0"/>
              <a:t>组件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F05858-7F97-ABBF-729B-02D5C6053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047" y="1825624"/>
            <a:ext cx="6752181" cy="13689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C61C525-2102-D813-8417-1ABC3CB68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131" y="3721745"/>
            <a:ext cx="6683174" cy="106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01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4961C-FA7A-29B1-BAB0-41D88C49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4.2.3 </a:t>
            </a:r>
            <a:r>
              <a:rPr kumimoji="1" lang="zh-CN" altLang="en-US" dirty="0"/>
              <a:t>自动布局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6C04EB-4EC0-7CF7-5CE2-A4D37DC1C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80034" cy="4351338"/>
          </a:xfrm>
        </p:spPr>
        <p:txBody>
          <a:bodyPr/>
          <a:lstStyle/>
          <a:p>
            <a:r>
              <a:rPr kumimoji="1" lang="en-US" altLang="zh-CN" dirty="0"/>
              <a:t>Horizontal Layout Group</a:t>
            </a:r>
          </a:p>
          <a:p>
            <a:r>
              <a:rPr kumimoji="1" lang="en-US" altLang="zh-CN" dirty="0"/>
              <a:t>Vertical Layout Group</a:t>
            </a:r>
          </a:p>
          <a:p>
            <a:r>
              <a:rPr kumimoji="1" lang="en-US" altLang="zh-CN" dirty="0"/>
              <a:t>Grid Layout Group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8C6C6D-392A-5FAF-6107-93CB15363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714" y="1918335"/>
            <a:ext cx="5274310" cy="15106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98C8AD7-F08B-3522-288B-A9ADB575E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714" y="3798548"/>
            <a:ext cx="5137785" cy="18884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D1414C5-2DA7-89D8-CF0A-56242E078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62" y="4068670"/>
            <a:ext cx="527431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967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A0C95-E918-3617-985C-AEBF2ACF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4.2.4 </a:t>
            </a:r>
            <a:r>
              <a:rPr kumimoji="1" lang="zh-CN" altLang="en-US" dirty="0"/>
              <a:t>文本自适应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1E090D-00F6-E718-7757-F52C71F6A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75234" cy="4351338"/>
          </a:xfrm>
        </p:spPr>
        <p:txBody>
          <a:bodyPr/>
          <a:lstStyle/>
          <a:p>
            <a:r>
              <a:rPr kumimoji="1" lang="zh-CN" altLang="en-US" dirty="0"/>
              <a:t>设置固定宽度自适应</a:t>
            </a:r>
            <a:endParaRPr kumimoji="1" lang="en-US" altLang="zh-CN" dirty="0"/>
          </a:p>
          <a:p>
            <a:r>
              <a:rPr kumimoji="1" lang="zh-CN" altLang="en-US" dirty="0"/>
              <a:t>配合</a:t>
            </a:r>
            <a:r>
              <a:rPr kumimoji="1" lang="en-US" altLang="zh-CN" dirty="0"/>
              <a:t>Content Size Fitter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7A6B72-E5CC-7530-1D3A-3834F44BF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550" y="1880804"/>
            <a:ext cx="5499038" cy="274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34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69BFD-CF1A-C53B-2003-52D6EE0D0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4.2.5 Layout Element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1A2858-64AA-C7C7-9DBD-57BCEF80E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2793" cy="4351338"/>
          </a:xfrm>
        </p:spPr>
        <p:txBody>
          <a:bodyPr/>
          <a:lstStyle/>
          <a:p>
            <a:r>
              <a:rPr kumimoji="1" lang="zh-CN" altLang="en-US" dirty="0"/>
              <a:t>限制布局元素</a:t>
            </a:r>
            <a:endParaRPr kumimoji="1" lang="en-US" altLang="zh-CN" dirty="0"/>
          </a:p>
          <a:p>
            <a:r>
              <a:rPr kumimoji="1" lang="zh-CN" altLang="en-US" dirty="0"/>
              <a:t>最小宽高</a:t>
            </a:r>
            <a:endParaRPr kumimoji="1" lang="en-US" altLang="zh-CN" dirty="0"/>
          </a:p>
          <a:p>
            <a:r>
              <a:rPr kumimoji="1" lang="zh-CN" altLang="en-US" dirty="0"/>
              <a:t>首选宽高</a:t>
            </a:r>
            <a:endParaRPr kumimoji="1" lang="en-US" altLang="zh-CN" dirty="0"/>
          </a:p>
          <a:p>
            <a:r>
              <a:rPr kumimoji="1" lang="zh-CN" altLang="en-US" dirty="0"/>
              <a:t>弹性宽高</a:t>
            </a:r>
            <a:endParaRPr kumimoji="1" lang="en-US" altLang="zh-CN" dirty="0"/>
          </a:p>
          <a:p>
            <a:r>
              <a:rPr kumimoji="1" lang="zh-CN" altLang="en-US" dirty="0"/>
              <a:t>布局优先级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36A53D-CF28-0646-FCE1-A75B9B928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235" y="1825625"/>
            <a:ext cx="5794090" cy="216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59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94F2D-2F28-274B-2E9D-B4A314DC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4.2.6</a:t>
            </a:r>
            <a:r>
              <a:rPr kumimoji="1" lang="zh-CN" altLang="en-US" dirty="0"/>
              <a:t> </a:t>
            </a:r>
            <a:r>
              <a:rPr kumimoji="1" lang="en-US" altLang="zh-CN" dirty="0"/>
              <a:t>Layout Group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174F00-7A65-A7E3-C765-E6C42BB21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00426F-3F00-3EE0-C5E0-3DEE4696A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183841" cy="269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25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37FF8A-99B9-AD3E-59BD-D288FFF6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4.2.7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Content Size Fitter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8F5745-73C2-D4FF-0FA8-FABE91BB1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20858"/>
          </a:xfrm>
        </p:spPr>
        <p:txBody>
          <a:bodyPr/>
          <a:lstStyle/>
          <a:p>
            <a:r>
              <a:rPr kumimoji="1" lang="zh-CN" altLang="en-US" dirty="0"/>
              <a:t>强制刷新布局宽高</a:t>
            </a:r>
            <a:endParaRPr kumimoji="1" lang="en-US" altLang="zh-CN" dirty="0"/>
          </a:p>
          <a:p>
            <a:r>
              <a:rPr kumimoji="1" lang="zh-CN" altLang="en-US" dirty="0"/>
              <a:t>性能低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F2E278-67C8-756C-2A7D-BC7F40D1C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077" y="4648626"/>
            <a:ext cx="4928001" cy="9439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EE71386-1015-836F-C82B-ECBEF4E08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077" y="1917064"/>
            <a:ext cx="5274310" cy="241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55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4C526-DB24-5550-0A8B-CB0DD6AF8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4.3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Canvas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31B1C-D1D9-CC29-2788-3E11B19C1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UI</a:t>
            </a:r>
            <a:r>
              <a:rPr kumimoji="1" lang="zh-CN" altLang="en-US" dirty="0"/>
              <a:t>基础画布</a:t>
            </a:r>
            <a:endParaRPr kumimoji="1" lang="en-US" altLang="zh-CN" dirty="0"/>
          </a:p>
          <a:p>
            <a:r>
              <a:rPr kumimoji="1" lang="zh-CN" altLang="en-US" dirty="0"/>
              <a:t>支持嵌套</a:t>
            </a:r>
            <a:endParaRPr kumimoji="1" lang="en-US" altLang="zh-CN" dirty="0"/>
          </a:p>
          <a:p>
            <a:r>
              <a:rPr kumimoji="1" lang="zh-CN" altLang="en-US" dirty="0"/>
              <a:t>支持 </a:t>
            </a:r>
            <a:r>
              <a:rPr kumimoji="1" lang="en-US" altLang="zh-CN" dirty="0"/>
              <a:t>Overlay</a:t>
            </a:r>
            <a:r>
              <a:rPr kumimoji="1" lang="zh-CN" altLang="en-US" dirty="0"/>
              <a:t>最上层、</a:t>
            </a:r>
            <a:r>
              <a:rPr kumimoji="1" lang="en-US" altLang="zh-CN" dirty="0"/>
              <a:t>Camera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World Space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3D</a:t>
            </a:r>
            <a:r>
              <a:rPr kumimoji="1" lang="zh-CN" altLang="en-US" dirty="0"/>
              <a:t>布局）</a:t>
            </a:r>
          </a:p>
        </p:txBody>
      </p:sp>
    </p:spTree>
    <p:extLst>
      <p:ext uri="{BB962C8B-B14F-4D97-AF65-F5344CB8AC3E}">
        <p14:creationId xmlns:p14="http://schemas.microsoft.com/office/powerpoint/2010/main" val="317779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1DB15-44AC-AF5D-A05D-063AEB70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4.3.1</a:t>
            </a:r>
            <a:r>
              <a:rPr kumimoji="1" lang="zh-CN" altLang="en-US" dirty="0"/>
              <a:t> </a:t>
            </a:r>
            <a:r>
              <a:rPr kumimoji="1" lang="en-US" altLang="zh-CN" dirty="0"/>
              <a:t>UI</a:t>
            </a:r>
            <a:r>
              <a:rPr kumimoji="1" lang="zh-CN" altLang="en-US" dirty="0"/>
              <a:t>摄像机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89CD9-3B08-3F52-82A5-948FF8987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8103" cy="4351338"/>
          </a:xfrm>
        </p:spPr>
        <p:txBody>
          <a:bodyPr/>
          <a:lstStyle/>
          <a:p>
            <a:r>
              <a:rPr kumimoji="1" lang="en-US" altLang="zh-CN" dirty="0"/>
              <a:t>Culling Mask</a:t>
            </a:r>
            <a:r>
              <a:rPr kumimoji="1" lang="zh-CN" altLang="en-US" dirty="0"/>
              <a:t>设置</a:t>
            </a:r>
            <a:r>
              <a:rPr kumimoji="1" lang="en-US" altLang="zh-CN" dirty="0"/>
              <a:t>UI</a:t>
            </a:r>
          </a:p>
          <a:p>
            <a:r>
              <a:rPr kumimoji="1" lang="zh-CN" altLang="en-US" dirty="0"/>
              <a:t>设置</a:t>
            </a:r>
            <a:r>
              <a:rPr kumimoji="1" lang="en-US" altLang="zh-CN" dirty="0"/>
              <a:t>Overlay</a:t>
            </a:r>
          </a:p>
          <a:p>
            <a:r>
              <a:rPr kumimoji="1" lang="en-US" altLang="zh-CN" dirty="0"/>
              <a:t>UI</a:t>
            </a:r>
            <a:r>
              <a:rPr kumimoji="1" lang="zh-CN" altLang="en-US" dirty="0"/>
              <a:t>相机叠在</a:t>
            </a:r>
            <a:r>
              <a:rPr kumimoji="1" lang="en-US" altLang="zh-CN" dirty="0"/>
              <a:t>3D</a:t>
            </a:r>
            <a:r>
              <a:rPr kumimoji="1" lang="zh-CN" altLang="en-US" dirty="0"/>
              <a:t>相机之后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750CF4-F749-57AB-0A3E-3EDE9BC3B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474" y="1825625"/>
            <a:ext cx="6135517" cy="369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80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42E684-6D3F-F03E-8255-B0751D833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4.3.2</a:t>
            </a:r>
            <a:r>
              <a:rPr kumimoji="1" lang="zh-CN" altLang="en-US" dirty="0"/>
              <a:t> </a:t>
            </a:r>
            <a:r>
              <a:rPr kumimoji="1" lang="en-US" altLang="zh-CN" dirty="0"/>
              <a:t>3D</a:t>
            </a:r>
            <a:r>
              <a:rPr kumimoji="1" lang="zh-CN" altLang="en-US" dirty="0"/>
              <a:t>界面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838FC0-2201-2B02-54E4-39EFC3168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452945" cy="959616"/>
          </a:xfrm>
        </p:spPr>
        <p:txBody>
          <a:bodyPr/>
          <a:lstStyle/>
          <a:p>
            <a:r>
              <a:rPr kumimoji="1" lang="en-US" altLang="zh-CN" dirty="0"/>
              <a:t>UI</a:t>
            </a:r>
            <a:r>
              <a:rPr kumimoji="1" lang="zh-CN" altLang="en-US" dirty="0"/>
              <a:t>相机修改透视，支持近大远小的</a:t>
            </a:r>
            <a:r>
              <a:rPr kumimoji="1" lang="en-US" altLang="zh-CN" dirty="0"/>
              <a:t>3D</a:t>
            </a:r>
            <a:r>
              <a:rPr kumimoji="1" lang="zh-CN" altLang="en-US" dirty="0"/>
              <a:t>效果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234B81-89D4-BC11-FCEC-7436526D8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514" y="2972216"/>
            <a:ext cx="6381620" cy="25016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F4CDF3E-3CF8-40AC-A639-CA6656EAC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10" y="2972216"/>
            <a:ext cx="3205480" cy="341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4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0680B-1A4D-48D5-389C-4B456A70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4.3.2</a:t>
            </a:r>
            <a:r>
              <a:rPr kumimoji="1" lang="zh-CN" altLang="en-US" dirty="0"/>
              <a:t> </a:t>
            </a:r>
            <a:r>
              <a:rPr kumimoji="1" lang="en-US" altLang="zh-CN" dirty="0"/>
              <a:t>3D</a:t>
            </a:r>
            <a:r>
              <a:rPr kumimoji="1" lang="zh-CN" altLang="en-US" dirty="0"/>
              <a:t>界面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D3C9C4-FD2D-B5AB-BBDB-CD0C20E23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71" y="2633564"/>
            <a:ext cx="3602355" cy="3202305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8D230E8-19A9-74D0-1D67-C2A93F48F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96042" y="3174331"/>
            <a:ext cx="3817938" cy="34773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26EAC8E-9AEC-F43F-05F2-CB36C1EAB22E}"/>
              </a:ext>
            </a:extLst>
          </p:cNvPr>
          <p:cNvSpPr txBox="1"/>
          <p:nvPr/>
        </p:nvSpPr>
        <p:spPr>
          <a:xfrm>
            <a:off x="1376856" y="1776248"/>
            <a:ext cx="270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UI</a:t>
            </a:r>
            <a:r>
              <a:rPr kumimoji="1" lang="zh-CN" altLang="en-US" dirty="0"/>
              <a:t>相机会根据屏幕自适应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E25913E-5DCF-26A6-B3D4-CC73E3964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640" y="1837832"/>
            <a:ext cx="4455160" cy="118935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0E734FA-C055-DC9A-2D08-931950AE008D}"/>
              </a:ext>
            </a:extLst>
          </p:cNvPr>
          <p:cNvSpPr txBox="1"/>
          <p:nvPr/>
        </p:nvSpPr>
        <p:spPr>
          <a:xfrm>
            <a:off x="6898640" y="1210262"/>
            <a:ext cx="367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不需要自适应可以使用</a:t>
            </a:r>
            <a:r>
              <a:rPr kumimoji="1" lang="en-US" altLang="zh-CN" dirty="0"/>
              <a:t>world space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5195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079C9-6217-969A-6933-032A6389D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4.3.3 </a:t>
            </a:r>
            <a:r>
              <a:rPr kumimoji="1" lang="zh-CN" altLang="en-US" dirty="0"/>
              <a:t>自适应</a:t>
            </a:r>
            <a:r>
              <a:rPr kumimoji="1" lang="en-US" altLang="zh-CN" dirty="0"/>
              <a:t>UI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30CEFC-5894-6E1C-29F1-A74054808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6366" cy="4351338"/>
          </a:xfrm>
        </p:spPr>
        <p:txBody>
          <a:bodyPr/>
          <a:lstStyle/>
          <a:p>
            <a:r>
              <a:rPr kumimoji="1" lang="zh-CN" altLang="en-US" dirty="0"/>
              <a:t>设置</a:t>
            </a:r>
            <a:r>
              <a:rPr kumimoji="1" lang="en-US" altLang="zh-CN" dirty="0"/>
              <a:t>Scale With Screen Size</a:t>
            </a:r>
          </a:p>
          <a:p>
            <a:r>
              <a:rPr kumimoji="1" lang="zh-CN" altLang="en-US" dirty="0"/>
              <a:t>设置</a:t>
            </a:r>
            <a:r>
              <a:rPr kumimoji="1" lang="en-US" altLang="zh-CN" dirty="0"/>
              <a:t>Expand</a:t>
            </a:r>
          </a:p>
          <a:p>
            <a:r>
              <a:rPr kumimoji="1" lang="en-US" altLang="zh-CN" dirty="0"/>
              <a:t>UI</a:t>
            </a:r>
            <a:r>
              <a:rPr kumimoji="1" lang="zh-CN" altLang="en-US" dirty="0"/>
              <a:t>始终会保持显示在屏幕中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752AF4-BEFE-FB7F-718F-9582B98A2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283" y="1995663"/>
            <a:ext cx="3403600" cy="7435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DCA69EE-194C-C3B2-7621-23176BE8C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283" y="3027204"/>
            <a:ext cx="3291205" cy="9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513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B2ADD5-2C2D-EBC3-B446-30A68937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4.3.4</a:t>
            </a:r>
            <a:r>
              <a:rPr kumimoji="1" lang="zh-CN" altLang="en-US" dirty="0"/>
              <a:t> 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490CB-B096-3087-F4B7-4EEAA6EA9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115229" cy="321934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默认从上到下的顺序</a:t>
            </a:r>
            <a:endParaRPr kumimoji="1" lang="en-US" altLang="zh-CN" dirty="0"/>
          </a:p>
          <a:p>
            <a:r>
              <a:rPr kumimoji="1" lang="zh-CN" altLang="en-US" dirty="0"/>
              <a:t>可单独设置</a:t>
            </a:r>
            <a:r>
              <a:rPr kumimoji="1" lang="en-US" altLang="zh-CN" dirty="0"/>
              <a:t>Canvas</a:t>
            </a:r>
          </a:p>
          <a:p>
            <a:r>
              <a:rPr kumimoji="1" lang="en-US" altLang="zh-CN" dirty="0"/>
              <a:t>Order In Layer</a:t>
            </a:r>
          </a:p>
          <a:p>
            <a:r>
              <a:rPr kumimoji="1" lang="en-US" altLang="zh-CN" dirty="0"/>
              <a:t>Ordering Layer</a:t>
            </a:r>
          </a:p>
          <a:p>
            <a:r>
              <a:rPr kumimoji="1" lang="zh-CN" altLang="en-US" dirty="0"/>
              <a:t>非</a:t>
            </a:r>
            <a:r>
              <a:rPr kumimoji="1" lang="en-US" altLang="zh-CN" dirty="0"/>
              <a:t>UI</a:t>
            </a:r>
            <a:r>
              <a:rPr kumimoji="1" lang="zh-CN" altLang="en-US" dirty="0"/>
              <a:t>的</a:t>
            </a:r>
            <a:r>
              <a:rPr kumimoji="1" lang="en-US" altLang="zh-CN" dirty="0"/>
              <a:t>Mesh</a:t>
            </a:r>
            <a:r>
              <a:rPr kumimoji="1" lang="zh-CN" altLang="en-US" dirty="0"/>
              <a:t>需要动态设置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08D7EB-1627-4944-E6AD-7317D484C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810" y="848162"/>
            <a:ext cx="6789549" cy="28619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00DAA7A-B85C-3E98-239F-D1583B018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810" y="3822618"/>
            <a:ext cx="3889015" cy="244469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476103E-F7A8-9868-3A19-F0B2231474D5}"/>
              </a:ext>
            </a:extLst>
          </p:cNvPr>
          <p:cNvSpPr txBox="1"/>
          <p:nvPr/>
        </p:nvSpPr>
        <p:spPr>
          <a:xfrm>
            <a:off x="683173" y="5181600"/>
            <a:ext cx="4115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effectLst/>
                <a:latin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DengXian" panose="02010600030101010101" pitchFamily="2" charset="-122"/>
                <a:cs typeface="Times New Roman" panose="02020603050405020304" pitchFamily="18" charset="0"/>
              </a:rPr>
              <a:t>renderer.sortingOrder</a:t>
            </a:r>
            <a:r>
              <a:rPr lang="en-US" altLang="zh-CN" sz="1800" dirty="0">
                <a:effectLst/>
                <a:latin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effectLst/>
                <a:latin typeface="DengXian" panose="02010600030101010101" pitchFamily="2" charset="-122"/>
                <a:cs typeface="Times New Roman" panose="02020603050405020304" pitchFamily="18" charset="0"/>
              </a:rPr>
              <a:t>SortingOrder</a:t>
            </a:r>
            <a:r>
              <a:rPr lang="en-US" altLang="zh-CN" sz="1800" dirty="0">
                <a:effectLst/>
                <a:latin typeface="DengXian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effectLst/>
              </a:rPr>
              <a:t> 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6F29D44-E681-6ECA-7356-32B5F4C03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1828" y="3854149"/>
            <a:ext cx="2946427" cy="204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417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80E1F-D404-0C96-BE22-BE6C56E1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4.3.5 </a:t>
            </a:r>
            <a:r>
              <a:rPr kumimoji="1" lang="zh-CN" altLang="en-US" dirty="0"/>
              <a:t>裁剪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51F5A9-10B1-B2CC-C231-1E50DEB41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3000" cy="4351338"/>
          </a:xfrm>
        </p:spPr>
        <p:txBody>
          <a:bodyPr/>
          <a:lstStyle/>
          <a:p>
            <a:r>
              <a:rPr kumimoji="1" lang="en-US" altLang="zh-CN" dirty="0"/>
              <a:t>Mask </a:t>
            </a:r>
            <a:r>
              <a:rPr kumimoji="1" lang="zh-CN" altLang="en-US" dirty="0"/>
              <a:t>模板缓冲裁剪</a:t>
            </a:r>
            <a:endParaRPr kumimoji="1" lang="en-US" altLang="zh-CN" dirty="0"/>
          </a:p>
          <a:p>
            <a:r>
              <a:rPr kumimoji="1" lang="zh-CN" altLang="en-US" dirty="0"/>
              <a:t>支持按图片形状裁剪</a:t>
            </a:r>
            <a:endParaRPr kumimoji="1" lang="en-US" altLang="zh-CN" dirty="0"/>
          </a:p>
          <a:p>
            <a:r>
              <a:rPr kumimoji="1" lang="en-US" altLang="zh-CN" dirty="0" err="1"/>
              <a:t>Rect</a:t>
            </a:r>
            <a:r>
              <a:rPr kumimoji="1" lang="en-US" altLang="zh-CN" dirty="0"/>
              <a:t> Mask</a:t>
            </a:r>
            <a:r>
              <a:rPr kumimoji="1" lang="zh-CN" altLang="en-US" dirty="0"/>
              <a:t> 按矩形裁剪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82F09B-35C9-771B-0316-110FD6552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66" y="515346"/>
            <a:ext cx="5274310" cy="30105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0FBE341-B104-D0C9-D8C7-11975770C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66" y="3841115"/>
            <a:ext cx="5274310" cy="222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382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E13EC-0952-58DB-E38F-33CEB723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4.3.6</a:t>
            </a:r>
            <a:r>
              <a:rPr kumimoji="1" lang="zh-CN" altLang="en-US" dirty="0"/>
              <a:t> 裁剪粒子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43E58C2-DBE5-14C2-2E88-9F19176D29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677688" cy="43513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1A8D046-E92D-B160-4CB9-66900336F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888" y="1690688"/>
            <a:ext cx="6693783" cy="356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411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29874-9834-5C18-67BE-61434D6F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4.4</a:t>
            </a:r>
            <a:r>
              <a:rPr kumimoji="1" lang="zh-CN" altLang="en-US" dirty="0"/>
              <a:t> </a:t>
            </a:r>
            <a:r>
              <a:rPr kumimoji="1" lang="en-US" altLang="zh-CN" dirty="0"/>
              <a:t>Atlas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660917-547E-FBCB-775F-AD71A7380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55124" cy="4351338"/>
          </a:xfrm>
        </p:spPr>
        <p:txBody>
          <a:bodyPr/>
          <a:lstStyle/>
          <a:p>
            <a:r>
              <a:rPr kumimoji="1" lang="zh-CN" altLang="en-US" dirty="0"/>
              <a:t>启动</a:t>
            </a:r>
            <a:r>
              <a:rPr kumimoji="1" lang="en-US" altLang="zh-CN" dirty="0"/>
              <a:t>V2</a:t>
            </a:r>
            <a:r>
              <a:rPr kumimoji="1" lang="zh-CN" altLang="en-US" dirty="0"/>
              <a:t>版本图集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9E9A61-FD6A-A74B-7676-390DC3BC7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164" y="1825624"/>
            <a:ext cx="6249615" cy="444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757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C7CD2C-9B9B-7218-D8E8-566A0F55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4.4.1</a:t>
            </a:r>
            <a:r>
              <a:rPr kumimoji="1" lang="zh-CN" altLang="en-US" dirty="0"/>
              <a:t> 创建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E5CEFE-3A68-632D-5929-78E7D0825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5359" cy="4351338"/>
          </a:xfrm>
        </p:spPr>
        <p:txBody>
          <a:bodyPr/>
          <a:lstStyle/>
          <a:p>
            <a:r>
              <a:rPr kumimoji="1" lang="zh-CN" altLang="en-US" dirty="0"/>
              <a:t>支持设置单独图片打图集</a:t>
            </a:r>
            <a:endParaRPr kumimoji="1" lang="en-US" altLang="zh-CN" dirty="0"/>
          </a:p>
          <a:p>
            <a:r>
              <a:rPr kumimoji="1" lang="zh-CN" altLang="en-US" dirty="0"/>
              <a:t>支持文件夹整个打图集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AA2069-2A6E-D7B7-A31D-A060A9F55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461" y="601017"/>
            <a:ext cx="3913746" cy="595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651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076D3-480C-A119-D3FD-BA059A02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4.4.2</a:t>
            </a:r>
            <a:r>
              <a:rPr kumimoji="1" lang="zh-CN" altLang="en-US" dirty="0"/>
              <a:t> 读取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269AB-A037-0391-01B1-80E37DB06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SpriteAtlas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spriteAtlas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Resources.Load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SpriteAtlas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&gt;("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SpriteAtlas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从图集中获取名称为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unity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Sprite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Sprite sprite =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spriteAtlas.GetSprite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("unity");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GetComponent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&lt;Image&gt;().sprite = sprite;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获取图集中的所有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Sprite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并保存在数组中</a:t>
            </a: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Sprite[] sprites=new Sprite[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spriteAtlas.spriteCount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spriteAtlas.GetSprites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(sprites);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1187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E4798-76A6-F79C-5079-04349D07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4.4.3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8D1176-CEA9-100D-6554-68F0D46AC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kumimoji="1" lang="zh-CN" altLang="en-US" dirty="0"/>
              <a:t>图集变种</a:t>
            </a:r>
            <a:endParaRPr kumimoji="1" lang="en-US" altLang="zh-CN" dirty="0"/>
          </a:p>
          <a:p>
            <a:r>
              <a:rPr kumimoji="1" lang="zh-CN" altLang="en-US" dirty="0"/>
              <a:t>依赖另一个图集</a:t>
            </a:r>
            <a:endParaRPr kumimoji="1" lang="en-US" altLang="zh-CN" dirty="0"/>
          </a:p>
          <a:p>
            <a:r>
              <a:rPr kumimoji="1" lang="zh-CN" altLang="en-US" dirty="0"/>
              <a:t>不用调整代码也可能动态换图集内容（如多语言）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A50AEB-EBE9-055F-6AF4-8C958D29F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56" y="3888499"/>
            <a:ext cx="9585386" cy="212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395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949D2-1557-099E-50F9-1CB702AA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4.4.4</a:t>
            </a:r>
            <a:r>
              <a:rPr kumimoji="1" lang="zh-CN" altLang="en-US" dirty="0"/>
              <a:t> 监听加载事件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D5BD46-77FF-45CF-EFF8-DC23E8F63539}"/>
              </a:ext>
            </a:extLst>
          </p:cNvPr>
          <p:cNvSpPr txBox="1"/>
          <p:nvPr/>
        </p:nvSpPr>
        <p:spPr>
          <a:xfrm>
            <a:off x="924911" y="1902372"/>
            <a:ext cx="80509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SpriteAtlasManager.atlasRequested</a:t>
            </a:r>
            <a:r>
              <a:rPr kumimoji="1" lang="en" altLang="zh-CN" dirty="0"/>
              <a:t> += </a:t>
            </a:r>
            <a:r>
              <a:rPr kumimoji="1" lang="en" altLang="zh-CN" dirty="0" err="1"/>
              <a:t>AtlasRequested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 err="1"/>
              <a:t>SpriteAtlasManager.atlasRegistered</a:t>
            </a:r>
            <a:r>
              <a:rPr kumimoji="1" lang="en" altLang="zh-CN" dirty="0"/>
              <a:t> += </a:t>
            </a:r>
            <a:r>
              <a:rPr kumimoji="1" lang="en" altLang="zh-CN" dirty="0" err="1"/>
              <a:t>AtlasRegistered</a:t>
            </a:r>
            <a:r>
              <a:rPr kumimoji="1" lang="en" altLang="zh-CN" dirty="0"/>
              <a:t>;</a:t>
            </a:r>
          </a:p>
          <a:p>
            <a:endParaRPr kumimoji="1" lang="en" altLang="zh-CN" dirty="0"/>
          </a:p>
          <a:p>
            <a:r>
              <a:rPr kumimoji="1" lang="en" altLang="zh-CN" dirty="0"/>
              <a:t>void </a:t>
            </a:r>
            <a:r>
              <a:rPr kumimoji="1" lang="en" altLang="zh-CN" dirty="0" err="1"/>
              <a:t>AtlasRequested</a:t>
            </a:r>
            <a:r>
              <a:rPr kumimoji="1" lang="en" altLang="zh-CN" dirty="0"/>
              <a:t>(string atlas , Action&lt;</a:t>
            </a:r>
            <a:r>
              <a:rPr kumimoji="1" lang="en" altLang="zh-CN" dirty="0" err="1"/>
              <a:t>SpriteAtlas</a:t>
            </a:r>
            <a:r>
              <a:rPr kumimoji="1" lang="en" altLang="zh-CN" dirty="0"/>
              <a:t>&gt; action)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($"{atlas} </a:t>
            </a:r>
            <a:r>
              <a:rPr kumimoji="1" lang="zh-CN" altLang="en-US" dirty="0"/>
              <a:t>开始加载</a:t>
            </a:r>
            <a:r>
              <a:rPr kumimoji="1" lang="en-US" altLang="zh-CN" dirty="0"/>
              <a:t>");</a:t>
            </a:r>
          </a:p>
          <a:p>
            <a:r>
              <a:rPr kumimoji="1" lang="en-US" altLang="zh-CN" dirty="0"/>
              <a:t>	//</a:t>
            </a:r>
            <a:r>
              <a:rPr kumimoji="1" lang="zh-CN" altLang="en-US" dirty="0"/>
              <a:t>通过</a:t>
            </a:r>
            <a:r>
              <a:rPr kumimoji="1" lang="en" altLang="zh-CN" dirty="0"/>
              <a:t>Action</a:t>
            </a:r>
            <a:r>
              <a:rPr kumimoji="1" lang="zh-CN" altLang="en-US" dirty="0"/>
              <a:t>将加载后的图集对象回调出去</a:t>
            </a:r>
          </a:p>
          <a:p>
            <a:r>
              <a:rPr kumimoji="1" lang="zh-CN" altLang="en-US" dirty="0"/>
              <a:t>    </a:t>
            </a:r>
            <a:r>
              <a:rPr kumimoji="1" lang="en" altLang="zh-CN" dirty="0"/>
              <a:t>action(</a:t>
            </a:r>
            <a:r>
              <a:rPr kumimoji="1" lang="en" altLang="zh-CN" dirty="0" err="1"/>
              <a:t>Resources.Load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SpriteAtlas</a:t>
            </a:r>
            <a:r>
              <a:rPr kumimoji="1" lang="en" altLang="zh-CN" dirty="0"/>
              <a:t>&gt;(atlas));</a:t>
            </a:r>
          </a:p>
          <a:p>
            <a:r>
              <a:rPr kumimoji="1" lang="en" altLang="zh-CN" dirty="0"/>
              <a:t>}</a:t>
            </a:r>
          </a:p>
          <a:p>
            <a:r>
              <a:rPr kumimoji="1" lang="en" altLang="zh-CN" dirty="0"/>
              <a:t>void </a:t>
            </a:r>
            <a:r>
              <a:rPr kumimoji="1" lang="en" altLang="zh-CN" dirty="0" err="1"/>
              <a:t>AtlasRegistered</a:t>
            </a:r>
            <a:r>
              <a:rPr kumimoji="1" lang="en" altLang="zh-CN" dirty="0"/>
              <a:t>(</a:t>
            </a:r>
            <a:r>
              <a:rPr kumimoji="1" lang="en" altLang="zh-CN" dirty="0" err="1"/>
              <a:t>SpriteAtlas</a:t>
            </a:r>
            <a:r>
              <a:rPr kumimoji="1" lang="en" altLang="zh-CN" dirty="0"/>
              <a:t> atlas)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($"{atlas}</a:t>
            </a:r>
            <a:r>
              <a:rPr kumimoji="1" lang="zh-CN" altLang="en-US" dirty="0"/>
              <a:t>加载完成</a:t>
            </a:r>
            <a:r>
              <a:rPr kumimoji="1" lang="en-US" altLang="zh-CN" dirty="0"/>
              <a:t>");</a:t>
            </a:r>
          </a:p>
          <a:p>
            <a:r>
              <a:rPr kumimoji="1" lang="en-US" altLang="zh-CN" dirty="0"/>
              <a:t>}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65316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FDEDE-557B-3AF6-27C8-68E469F60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</a:t>
            </a:r>
            <a:r>
              <a:rPr kumimoji="1" lang="zh-CN" altLang="en-US" dirty="0"/>
              <a:t> 事件系统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E3818-CE51-8692-ECB1-6A082C268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7993" cy="4351338"/>
          </a:xfrm>
        </p:spPr>
        <p:txBody>
          <a:bodyPr/>
          <a:lstStyle/>
          <a:p>
            <a:r>
              <a:rPr kumimoji="1" lang="zh-CN" altLang="en-US" dirty="0"/>
              <a:t>观察</a:t>
            </a:r>
            <a:r>
              <a:rPr kumimoji="1" lang="en-US" altLang="zh-CN" dirty="0"/>
              <a:t>Event System</a:t>
            </a:r>
          </a:p>
          <a:p>
            <a:r>
              <a:rPr kumimoji="1" lang="zh-CN" altLang="en-US" dirty="0"/>
              <a:t>调试当前界面所有点击行为</a:t>
            </a: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283C82-F7CA-6CB7-8A10-DE4F07B12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509" y="976313"/>
            <a:ext cx="394843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22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1A77B-9316-8801-D12E-8490E851C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4.5.1</a:t>
            </a:r>
            <a:r>
              <a:rPr kumimoji="1" lang="zh-CN" altLang="en-US" dirty="0"/>
              <a:t> </a:t>
            </a:r>
            <a:r>
              <a:rPr kumimoji="1" lang="en" altLang="zh-CN" dirty="0"/>
              <a:t>Graphic </a:t>
            </a:r>
            <a:r>
              <a:rPr kumimoji="1" lang="en" altLang="zh-CN" dirty="0" err="1"/>
              <a:t>Raycaster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9C2A5-B36B-5760-0DB5-B65D936F8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53855" cy="2431065"/>
          </a:xfrm>
        </p:spPr>
        <p:txBody>
          <a:bodyPr/>
          <a:lstStyle/>
          <a:p>
            <a:r>
              <a:rPr kumimoji="1" lang="en-US" altLang="zh-CN" dirty="0"/>
              <a:t>Canvas</a:t>
            </a:r>
            <a:r>
              <a:rPr kumimoji="1" lang="zh-CN" altLang="en-US" dirty="0"/>
              <a:t>整体点击的开关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42DC50-00AF-332E-6AC0-2F993D435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45331"/>
            <a:ext cx="5274310" cy="129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369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EE328-5057-7D13-4423-6779B9473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4.5.2</a:t>
            </a:r>
            <a:r>
              <a:rPr kumimoji="1" lang="zh-CN" altLang="en-US" dirty="0"/>
              <a:t> </a:t>
            </a:r>
            <a:r>
              <a:rPr kumimoji="1" lang="en-US" altLang="zh-CN" dirty="0"/>
              <a:t>UI</a:t>
            </a:r>
            <a:r>
              <a:rPr kumimoji="1" lang="zh-CN" altLang="en-US" dirty="0"/>
              <a:t>事件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91A7DD-C8B4-4949-996A-8CE8961E7E40}"/>
              </a:ext>
            </a:extLst>
          </p:cNvPr>
          <p:cNvSpPr txBox="1"/>
          <p:nvPr/>
        </p:nvSpPr>
        <p:spPr>
          <a:xfrm>
            <a:off x="-903890" y="1282262"/>
            <a:ext cx="1581073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	</a:t>
            </a:r>
            <a:r>
              <a:rPr kumimoji="1" lang="en" altLang="zh-CN" dirty="0" err="1"/>
              <a:t>IPointerEnterHandler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OnPointerEnter</a:t>
            </a:r>
            <a:r>
              <a:rPr kumimoji="1" lang="zh-CN" altLang="en" dirty="0"/>
              <a:t>：</a:t>
            </a:r>
            <a:r>
              <a:rPr kumimoji="1" lang="zh-CN" altLang="en-US" dirty="0"/>
              <a:t>进入该区域时调用。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IPointerExitHandler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OnPointerExit</a:t>
            </a:r>
            <a:r>
              <a:rPr kumimoji="1" lang="zh-CN" altLang="en" dirty="0"/>
              <a:t>：</a:t>
            </a:r>
            <a:r>
              <a:rPr kumimoji="1" lang="zh-CN" altLang="en-US" dirty="0"/>
              <a:t>离开该区域时调用。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IPointerDownHandler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OnPointerDown</a:t>
            </a:r>
            <a:r>
              <a:rPr kumimoji="1" lang="zh-CN" altLang="en" dirty="0"/>
              <a:t>：</a:t>
            </a:r>
            <a:r>
              <a:rPr kumimoji="1" lang="zh-CN" altLang="en-US" dirty="0"/>
              <a:t>按下时调用。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IPointerUpHandler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OnPointerUp</a:t>
            </a:r>
            <a:r>
              <a:rPr kumimoji="1" lang="zh-CN" altLang="en" dirty="0"/>
              <a:t>：</a:t>
            </a:r>
            <a:r>
              <a:rPr kumimoji="1" lang="zh-CN" altLang="en-US" dirty="0"/>
              <a:t>抬起时调用。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IPointerClickHandler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OnPointerClick</a:t>
            </a:r>
            <a:r>
              <a:rPr kumimoji="1" lang="zh-CN" altLang="en" dirty="0"/>
              <a:t>：</a:t>
            </a:r>
            <a:r>
              <a:rPr kumimoji="1" lang="zh-CN" altLang="en-US" dirty="0"/>
              <a:t>按下并抬起时调用，比如按钮的点击。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InitializePotentialDragHandler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OnInitializePotentialDrag</a:t>
            </a:r>
            <a:r>
              <a:rPr kumimoji="1" lang="zh-CN" altLang="en" dirty="0"/>
              <a:t>：</a:t>
            </a:r>
            <a:r>
              <a:rPr kumimoji="1" lang="zh-CN" altLang="en-US" dirty="0"/>
              <a:t>拖动初始化。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IBeginDragHandler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OnBeginDrag</a:t>
            </a:r>
            <a:r>
              <a:rPr kumimoji="1" lang="zh-CN" altLang="en" dirty="0"/>
              <a:t>：</a:t>
            </a:r>
            <a:r>
              <a:rPr kumimoji="1" lang="zh-CN" altLang="en-US" dirty="0"/>
              <a:t>拖动开始时调用，并且可以取到拖动的方向，而</a:t>
            </a:r>
            <a:r>
              <a:rPr kumimoji="1" lang="en" altLang="zh-CN" dirty="0" err="1"/>
              <a:t>OnInitializePotentialDrag</a:t>
            </a:r>
            <a:r>
              <a:rPr kumimoji="1" lang="zh-CN" altLang="en-US" dirty="0"/>
              <a:t>只表示拖动初始化，无法取到方向。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IDragHandler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OnDrag</a:t>
            </a:r>
            <a:r>
              <a:rPr kumimoji="1" lang="zh-CN" altLang="en" dirty="0"/>
              <a:t>：</a:t>
            </a:r>
            <a:r>
              <a:rPr kumimoji="1" lang="zh-CN" altLang="en-US" dirty="0"/>
              <a:t>持续拖动时调用。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IEndDragHandler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OnEndDrag</a:t>
            </a:r>
            <a:r>
              <a:rPr kumimoji="1" lang="zh-CN" altLang="en" dirty="0"/>
              <a:t>：</a:t>
            </a:r>
            <a:r>
              <a:rPr kumimoji="1" lang="zh-CN" altLang="en-US" dirty="0"/>
              <a:t>拖动结束时调用。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IDropHandler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OnDrop</a:t>
            </a:r>
            <a:r>
              <a:rPr kumimoji="1" lang="zh-CN" altLang="en" dirty="0"/>
              <a:t>：</a:t>
            </a:r>
            <a:r>
              <a:rPr kumimoji="1" lang="zh-CN" altLang="en-US" dirty="0"/>
              <a:t>落下时调用。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IScrollHandler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OnScroll</a:t>
            </a:r>
            <a:r>
              <a:rPr kumimoji="1" lang="zh-CN" altLang="en" dirty="0"/>
              <a:t>：</a:t>
            </a:r>
            <a:r>
              <a:rPr kumimoji="1" lang="zh-CN" altLang="en-US" dirty="0"/>
              <a:t>鼠标持续滚轮时调用。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IUpdateSelectedHandler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OnUpdateSelected</a:t>
            </a:r>
            <a:r>
              <a:rPr kumimoji="1" lang="zh-CN" altLang="en" dirty="0"/>
              <a:t>：</a:t>
            </a:r>
            <a:r>
              <a:rPr kumimoji="1" lang="zh-CN" altLang="en-US" dirty="0"/>
              <a:t>选择时续调用，只针对</a:t>
            </a:r>
            <a:r>
              <a:rPr kumimoji="1" lang="en" altLang="zh-CN" dirty="0"/>
              <a:t>Selectable</a:t>
            </a:r>
            <a:r>
              <a:rPr kumimoji="1" lang="zh-CN" altLang="en-US" dirty="0"/>
              <a:t>起作用。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ISelectHandler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OnSelect</a:t>
            </a:r>
            <a:r>
              <a:rPr kumimoji="1" lang="zh-CN" altLang="en" dirty="0"/>
              <a:t>：</a:t>
            </a:r>
            <a:r>
              <a:rPr kumimoji="1" lang="zh-CN" altLang="en-US" dirty="0"/>
              <a:t>选择后调用，只针对</a:t>
            </a:r>
            <a:r>
              <a:rPr kumimoji="1" lang="en" altLang="zh-CN" dirty="0"/>
              <a:t>Selectable</a:t>
            </a:r>
            <a:r>
              <a:rPr kumimoji="1" lang="zh-CN" altLang="en-US" dirty="0"/>
              <a:t>起作用。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IDeselectHandler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OnDeselect</a:t>
            </a:r>
            <a:r>
              <a:rPr kumimoji="1" lang="zh-CN" altLang="en" dirty="0"/>
              <a:t>：</a:t>
            </a:r>
            <a:r>
              <a:rPr kumimoji="1" lang="zh-CN" altLang="en-US" dirty="0"/>
              <a:t>取消选择，由于只能选择一个</a:t>
            </a:r>
            <a:r>
              <a:rPr kumimoji="1" lang="en" altLang="zh-CN" dirty="0"/>
              <a:t>Selectable</a:t>
            </a:r>
            <a:r>
              <a:rPr kumimoji="1" lang="zh-CN" altLang="en" dirty="0"/>
              <a:t>，</a:t>
            </a:r>
            <a:r>
              <a:rPr kumimoji="1" lang="zh-CN" altLang="en-US" dirty="0"/>
              <a:t>当选择新的之后，之前选择的就会回调取消选择事件。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IMoveHandler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OnMove</a:t>
            </a:r>
            <a:r>
              <a:rPr kumimoji="1" lang="zh-CN" altLang="en" dirty="0"/>
              <a:t>：</a:t>
            </a:r>
            <a:r>
              <a:rPr kumimoji="1" lang="zh-CN" altLang="en-US" dirty="0"/>
              <a:t>选择后，可监听上下左右和</a:t>
            </a:r>
            <a:r>
              <a:rPr kumimoji="1" lang="en" altLang="zh-CN" dirty="0"/>
              <a:t>WSAD</a:t>
            </a:r>
            <a:r>
              <a:rPr kumimoji="1" lang="zh-CN" altLang="en-US" dirty="0"/>
              <a:t>等方向键。如果访问</a:t>
            </a:r>
            <a:r>
              <a:rPr kumimoji="1" lang="en" altLang="zh-CN" dirty="0" err="1"/>
              <a:t>eventData.moveDir</a:t>
            </a:r>
            <a:r>
              <a:rPr kumimoji="1" lang="zh-CN" altLang="en" dirty="0"/>
              <a:t>，</a:t>
            </a:r>
            <a:r>
              <a:rPr kumimoji="1" lang="zh-CN" altLang="en-US" dirty="0"/>
              <a:t>可以取到具体的移动方向。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ISubmitHandler</a:t>
            </a:r>
            <a:r>
              <a:rPr kumimoji="1" lang="en" altLang="zh-CN" dirty="0"/>
              <a:t> – </a:t>
            </a:r>
            <a:r>
              <a:rPr kumimoji="1" lang="en" altLang="zh-CN" dirty="0" err="1"/>
              <a:t>OnSubmit</a:t>
            </a:r>
            <a:r>
              <a:rPr kumimoji="1" lang="zh-CN" altLang="en" dirty="0"/>
              <a:t>：</a:t>
            </a:r>
            <a:r>
              <a:rPr kumimoji="1" lang="zh-CN" altLang="en-US" dirty="0"/>
              <a:t>按钮按下事件。</a:t>
            </a:r>
          </a:p>
          <a:p>
            <a:r>
              <a:rPr kumimoji="1" lang="zh-CN" altLang="en-US" dirty="0"/>
              <a:t>	</a:t>
            </a:r>
            <a:r>
              <a:rPr kumimoji="1" lang="en" altLang="zh-CN" dirty="0" err="1"/>
              <a:t>ICancelHandler</a:t>
            </a:r>
            <a:r>
              <a:rPr kumimoji="1" lang="en" altLang="zh-CN" dirty="0"/>
              <a:t> - </a:t>
            </a:r>
            <a:r>
              <a:rPr kumimoji="1" lang="en" altLang="zh-CN" dirty="0" err="1"/>
              <a:t>OnCancel</a:t>
            </a:r>
            <a:r>
              <a:rPr kumimoji="1" lang="zh-CN" altLang="en" dirty="0"/>
              <a:t>：</a:t>
            </a:r>
            <a:r>
              <a:rPr kumimoji="1" lang="zh-CN" altLang="en-US" dirty="0"/>
              <a:t>按钮取消事件，按下时按</a:t>
            </a:r>
            <a:r>
              <a:rPr kumimoji="1" lang="en" altLang="zh-CN" dirty="0"/>
              <a:t>Esc</a:t>
            </a:r>
            <a:r>
              <a:rPr kumimoji="1" lang="zh-CN" altLang="en-US" dirty="0"/>
              <a:t>键可取消。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18476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355D3-CA4D-77C7-AB6B-E2BBE340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4.5.3</a:t>
            </a:r>
            <a:r>
              <a:rPr kumimoji="1" lang="zh-CN" altLang="en-US" dirty="0"/>
              <a:t> </a:t>
            </a:r>
            <a:r>
              <a:rPr kumimoji="1" lang="en-US" altLang="zh-CN" dirty="0"/>
              <a:t>UI</a:t>
            </a:r>
            <a:r>
              <a:rPr kumimoji="1" lang="zh-CN" altLang="en-US" dirty="0"/>
              <a:t>事件管理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D06A14-49F7-C45F-8F58-F27D92F52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21465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UGUIEventListener.Get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Text.gameObject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).</a:t>
            </a:r>
            <a:r>
              <a:rPr lang="en-US" altLang="zh-CN" sz="20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onClick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0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OnClick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UGUIEventListener.Get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Image.gameObject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).</a:t>
            </a:r>
            <a:r>
              <a:rPr lang="en-US" altLang="zh-CN" sz="20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onClick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0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OnClick</a:t>
            </a:r>
            <a:r>
              <a:rPr lang="en-US" altLang="zh-CN" sz="20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/>
            <a:endParaRPr kumimoji="1" lang="en-US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kumimoji="1" lang="zh-CN" altLang="en-US" sz="20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对图片或者文本添加点击事件</a:t>
            </a:r>
            <a:endParaRPr kumimoji="1"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72284E-319E-BB58-7D11-4C67B46CD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86" y="3938324"/>
            <a:ext cx="5274310" cy="186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564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E10F7-5438-E710-CE0D-660CBD1D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4.5.4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UnityAction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UnityEvent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25A350-A724-E8F2-7782-1A2A799B6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kumimoji="1" lang="en" altLang="zh-CN" dirty="0"/>
              <a:t>public </a:t>
            </a:r>
            <a:r>
              <a:rPr kumimoji="1" lang="en" altLang="zh-CN" dirty="0" err="1"/>
              <a:t>UnityAction</a:t>
            </a:r>
            <a:r>
              <a:rPr kumimoji="1" lang="en" altLang="zh-CN" dirty="0"/>
              <a:t>&lt;int, string&gt; action1;</a:t>
            </a:r>
          </a:p>
          <a:p>
            <a:pPr algn="l"/>
            <a:r>
              <a:rPr kumimoji="1" lang="en" altLang="zh-CN" dirty="0"/>
              <a:t>public </a:t>
            </a:r>
            <a:r>
              <a:rPr kumimoji="1" lang="en" altLang="zh-CN" dirty="0" err="1"/>
              <a:t>UnityAction</a:t>
            </a:r>
            <a:r>
              <a:rPr kumimoji="1" lang="en" altLang="zh-CN" dirty="0"/>
              <a:t>&lt;int, string&gt; action2;</a:t>
            </a:r>
          </a:p>
          <a:p>
            <a:pPr algn="l"/>
            <a:r>
              <a:rPr kumimoji="1" lang="en" altLang="zh-CN" dirty="0"/>
              <a:t>public </a:t>
            </a:r>
            <a:r>
              <a:rPr kumimoji="1" lang="en" altLang="zh-CN" dirty="0" err="1"/>
              <a:t>MyEvent</a:t>
            </a:r>
            <a:r>
              <a:rPr kumimoji="1" lang="en" altLang="zh-CN" dirty="0"/>
              <a:t> </a:t>
            </a:r>
            <a:r>
              <a:rPr kumimoji="1" lang="en" altLang="zh-CN" dirty="0" err="1"/>
              <a:t>myEvent</a:t>
            </a:r>
            <a:r>
              <a:rPr kumimoji="1" lang="en" altLang="zh-CN" dirty="0"/>
              <a:t> = new </a:t>
            </a:r>
            <a:r>
              <a:rPr kumimoji="1" lang="en" altLang="zh-CN" dirty="0" err="1"/>
              <a:t>MyEvent</a:t>
            </a:r>
            <a:r>
              <a:rPr kumimoji="1" lang="en" altLang="zh-CN" dirty="0"/>
              <a:t>();</a:t>
            </a:r>
          </a:p>
          <a:p>
            <a:pPr algn="l"/>
            <a:endParaRPr kumimoji="1" lang="en" altLang="zh-CN" dirty="0"/>
          </a:p>
          <a:p>
            <a:pPr algn="l"/>
            <a:r>
              <a:rPr kumimoji="1" lang="zh-CN" altLang="en-US" dirty="0"/>
              <a:t>声明函数事件</a:t>
            </a:r>
          </a:p>
          <a:p>
            <a:pPr algn="l"/>
            <a:r>
              <a:rPr kumimoji="1" lang="en" altLang="zh-CN" dirty="0"/>
              <a:t>action1 = RunMyEvent1;</a:t>
            </a:r>
          </a:p>
          <a:p>
            <a:pPr algn="l"/>
            <a:r>
              <a:rPr kumimoji="1" lang="en" altLang="zh-CN" dirty="0"/>
              <a:t>action2 = RunMyEvent2;</a:t>
            </a:r>
          </a:p>
          <a:p>
            <a:pPr algn="l"/>
            <a:endParaRPr kumimoji="1" lang="en" altLang="zh-CN" dirty="0"/>
          </a:p>
          <a:p>
            <a:pPr algn="l"/>
            <a:r>
              <a:rPr kumimoji="1" lang="en" altLang="zh-CN" dirty="0" err="1"/>
              <a:t>myEvent.AddListener</a:t>
            </a:r>
            <a:r>
              <a:rPr kumimoji="1" lang="en" altLang="zh-CN" dirty="0"/>
              <a:t>(action1);</a:t>
            </a:r>
          </a:p>
          <a:p>
            <a:pPr algn="l"/>
            <a:r>
              <a:rPr kumimoji="1" lang="en" altLang="zh-CN" dirty="0" err="1"/>
              <a:t>myEvent.AddListener</a:t>
            </a:r>
            <a:r>
              <a:rPr kumimoji="1" lang="en" altLang="zh-CN" dirty="0"/>
              <a:t>(action2);</a:t>
            </a:r>
          </a:p>
          <a:p>
            <a:pPr algn="l"/>
            <a:endParaRPr kumimoji="1" lang="en" altLang="zh-CN" dirty="0"/>
          </a:p>
          <a:p>
            <a:pPr algn="l"/>
            <a:r>
              <a:rPr kumimoji="1" lang="en" altLang="zh-CN" dirty="0"/>
              <a:t>//</a:t>
            </a:r>
            <a:r>
              <a:rPr kumimoji="1" lang="zh-CN" altLang="en-US" dirty="0"/>
              <a:t>如果需要删除，就执行</a:t>
            </a:r>
            <a:r>
              <a:rPr kumimoji="1" lang="en" altLang="zh-CN" dirty="0"/>
              <a:t>Remove</a:t>
            </a:r>
          </a:p>
          <a:p>
            <a:pPr algn="l"/>
            <a:r>
              <a:rPr kumimoji="1" lang="en" altLang="zh-CN" dirty="0"/>
              <a:t>//</a:t>
            </a:r>
            <a:r>
              <a:rPr kumimoji="1" lang="en" altLang="zh-CN" dirty="0" err="1"/>
              <a:t>myEvent.RemoveListener</a:t>
            </a:r>
            <a:r>
              <a:rPr kumimoji="1" lang="en" altLang="zh-CN" dirty="0"/>
              <a:t>(action1);</a:t>
            </a:r>
          </a:p>
          <a:p>
            <a:pPr algn="l"/>
            <a:r>
              <a:rPr kumimoji="1" lang="en" altLang="zh-CN" dirty="0"/>
              <a:t>//</a:t>
            </a:r>
            <a:r>
              <a:rPr kumimoji="1" lang="en" altLang="zh-CN" dirty="0" err="1"/>
              <a:t>myEvent.RemoveListener</a:t>
            </a:r>
            <a:r>
              <a:rPr kumimoji="1" lang="en" altLang="zh-CN" dirty="0"/>
              <a:t>(action2);</a:t>
            </a:r>
          </a:p>
          <a:p>
            <a:pPr algn="l"/>
            <a:r>
              <a:rPr kumimoji="1" lang="en" altLang="zh-CN" dirty="0"/>
              <a:t>//</a:t>
            </a:r>
            <a:r>
              <a:rPr kumimoji="1" lang="en" altLang="zh-CN" dirty="0" err="1"/>
              <a:t>myEvent.RemoveAllListeners</a:t>
            </a:r>
            <a:r>
              <a:rPr kumimoji="1" lang="en" altLang="zh-CN" dirty="0"/>
              <a:t>();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36930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00E28D-9079-E08C-89B7-2E5D28AC9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4.5.5</a:t>
            </a:r>
            <a:r>
              <a:rPr kumimoji="1" lang="zh-CN" altLang="en-US" dirty="0"/>
              <a:t> </a:t>
            </a:r>
            <a:r>
              <a:rPr kumimoji="1" lang="en-US" altLang="zh-CN" dirty="0"/>
              <a:t>C#</a:t>
            </a:r>
            <a:r>
              <a:rPr kumimoji="1" lang="zh-CN" altLang="en-US" dirty="0"/>
              <a:t>事件系统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A4AA16-186F-7B63-0828-16A7DF6FC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public delegate void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MyDelegate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(int x, int y);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public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MyDelegate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Delegate;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public Action&lt;int, int&gt; Action;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有返回值</a:t>
            </a: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public delegate int MyDelegate2(int x, int y);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public MyDelegate2 Delegate2;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public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Func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&lt;int, int, int&gt;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Func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2736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9D673-199D-F995-71EF-49A7CAAA8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4.5.6</a:t>
            </a:r>
            <a:r>
              <a:rPr kumimoji="1" lang="zh-CN" altLang="en-US" dirty="0"/>
              <a:t> </a:t>
            </a:r>
            <a:r>
              <a:rPr kumimoji="1" lang="en-US" altLang="zh-CN" dirty="0"/>
              <a:t>3D</a:t>
            </a:r>
            <a:r>
              <a:rPr kumimoji="1" lang="zh-CN" altLang="en-US" dirty="0"/>
              <a:t>事件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61028F-1B70-511C-842B-FFAC300B0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16058"/>
          </a:xfrm>
        </p:spPr>
        <p:txBody>
          <a:bodyPr/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UGUIEventListener.Get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(Cube).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onClick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+= (go) =&gt;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模型点击事件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};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0A4E49-6686-85B6-5F0F-9B966D743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257160"/>
            <a:ext cx="5749135" cy="191605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85455BC-8B2E-3084-9E77-CD8A2C9DB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801" y="4288691"/>
            <a:ext cx="3604260" cy="142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638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9A5269-6B54-E78F-60AA-32EFA8311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4.5.7</a:t>
            </a:r>
            <a:r>
              <a:rPr kumimoji="1" lang="zh-CN" altLang="en-US" dirty="0"/>
              <a:t> </a:t>
            </a:r>
            <a:r>
              <a:rPr kumimoji="1" lang="en-US" altLang="zh-CN" dirty="0"/>
              <a:t>K</a:t>
            </a:r>
            <a:r>
              <a:rPr kumimoji="1" lang="zh-CN" altLang="en-US" dirty="0"/>
              <a:t>帧动画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CB69A5F-08F2-9339-53A4-AE9D63FC7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8957" y="1794094"/>
            <a:ext cx="77746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672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F9EA95-86BD-1826-E9D8-5B990B33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4.5.8</a:t>
            </a:r>
            <a:r>
              <a:rPr kumimoji="1" lang="zh-CN" altLang="en-US" dirty="0"/>
              <a:t> 摇杆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46A525D-E822-4494-A661-E565ABB44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577" y="2262708"/>
            <a:ext cx="6388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31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B91A6-1915-2D8A-C426-35BE9024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4.5.9</a:t>
            </a:r>
            <a:r>
              <a:rPr kumimoji="1" lang="zh-CN" altLang="en-US" dirty="0"/>
              <a:t> 点击区域优化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25B14D-2526-65EC-055A-808F25154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public class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EmptyImage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: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MaskableGraphic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protected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EmptyImage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useLegacyMeshGeneration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true;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protected override void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OnPopulateMesh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VertexHelper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vh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vh.Clear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algn="just"/>
            <a:r>
              <a:rPr lang="zh-CN" altLang="en-US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不参与渲染，只响应点击事件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93651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C4839-3387-FAC5-A932-FD1CAD61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4.5.10</a:t>
            </a:r>
            <a:r>
              <a:rPr kumimoji="1" lang="zh-CN" altLang="en-US" dirty="0"/>
              <a:t> 显示帧率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2F97F-DC1B-BD0C-9D5F-65EA740CE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5782"/>
          </a:xfrm>
        </p:spPr>
        <p:txBody>
          <a:bodyPr>
            <a:normAutofit lnSpcReduction="10000"/>
          </a:bodyPr>
          <a:lstStyle/>
          <a:p>
            <a:r>
              <a:rPr lang="zh-CN" alt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帧率的含义是</a:t>
            </a:r>
            <a:r>
              <a:rPr lang="en-US" alt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秒渲染的刷新次数，帧率越高直观的体验是更流畅</a:t>
            </a:r>
            <a:r>
              <a:rPr lang="zh-CN" altLang="zh-CN" dirty="0">
                <a:effectLst/>
              </a:rPr>
              <a:t> </a:t>
            </a:r>
            <a:endParaRPr lang="en-US" altLang="zh-CN" dirty="0">
              <a:effectLst/>
            </a:endParaRPr>
          </a:p>
          <a:p>
            <a:r>
              <a:rPr lang="zh-CN" alt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最简单的方法</a:t>
            </a:r>
            <a:endParaRPr lang="en-US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m_TextMeshProUGUI.text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(1f /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Time.smoothDeltaTime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).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ToString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();</a:t>
            </a:r>
          </a:p>
          <a:p>
            <a:r>
              <a:rPr lang="zh-CN" altLang="en-US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也可以平滑计算一段时间内的平均帧率</a:t>
            </a:r>
            <a:endParaRPr lang="en-US" altLang="zh-CN" sz="18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计算间隔时间内的平均帧率</a:t>
            </a:r>
          </a:p>
          <a:p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if (</a:t>
            </a:r>
            <a:r>
              <a:rPr lang="en-US" altLang="zh-CN" sz="18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m_DeltaTimes</a:t>
            </a:r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&gt;= </a:t>
            </a:r>
            <a:r>
              <a:rPr lang="en-US" altLang="zh-CN" sz="18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m_UpdateInterval</a:t>
            </a:r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m_FpsStr</a:t>
            </a:r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(</a:t>
            </a:r>
            <a:r>
              <a:rPr lang="en-US" altLang="zh-CN" sz="18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m_FrameCount</a:t>
            </a:r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/ </a:t>
            </a:r>
            <a:r>
              <a:rPr lang="en-US" altLang="zh-CN" sz="18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m_DeltaTimes</a:t>
            </a:r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).</a:t>
            </a:r>
            <a:r>
              <a:rPr lang="en-US" altLang="zh-CN" sz="18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ToString</a:t>
            </a:r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("F2");</a:t>
            </a:r>
          </a:p>
          <a:p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m_DeltaTimes</a:t>
            </a:r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0.0f;</a:t>
            </a:r>
          </a:p>
          <a:p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m_FrameCount</a:t>
            </a:r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r>
              <a:rPr lang="en-US" altLang="zh-CN" sz="18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endParaRPr lang="en-US" altLang="zh-CN" sz="18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63843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876D6-A3BF-0435-8312-FBFA88ECD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4.5.10</a:t>
            </a:r>
            <a:r>
              <a:rPr kumimoji="1" lang="zh-CN" altLang="en-US" dirty="0"/>
              <a:t> 查看</a:t>
            </a:r>
            <a:r>
              <a:rPr kumimoji="1" lang="en-US" altLang="zh-CN" dirty="0"/>
              <a:t>UGUI</a:t>
            </a:r>
            <a:r>
              <a:rPr kumimoji="1" lang="zh-CN" altLang="en-US" dirty="0"/>
              <a:t>源码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76AEFE-CD4C-DEC2-5557-8D8CBA37D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85083" cy="2136775"/>
          </a:xfrm>
        </p:spPr>
        <p:txBody>
          <a:bodyPr/>
          <a:lstStyle/>
          <a:p>
            <a:r>
              <a:rPr kumimoji="1" lang="zh-CN" altLang="en-US" dirty="0"/>
              <a:t>生成</a:t>
            </a:r>
            <a:r>
              <a:rPr kumimoji="1" lang="en-US" altLang="zh-CN" dirty="0"/>
              <a:t>Built-in packages</a:t>
            </a:r>
          </a:p>
          <a:p>
            <a:r>
              <a:rPr kumimoji="1" lang="zh-CN" altLang="en-US" dirty="0"/>
              <a:t>打开该工程后</a:t>
            </a:r>
            <a:r>
              <a:rPr kumimoji="1" lang="zh-CN" altLang="en-US"/>
              <a:t>即可断点调试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A214C1-F352-049F-E492-AA02DFF74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97337"/>
            <a:ext cx="52578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8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1711</Words>
  <Application>Microsoft Macintosh PowerPoint</Application>
  <PresentationFormat>宽屏</PresentationFormat>
  <Paragraphs>286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59" baseType="lpstr">
      <vt:lpstr>DengXian</vt:lpstr>
      <vt:lpstr>DengXian</vt:lpstr>
      <vt:lpstr>等线 Light</vt:lpstr>
      <vt:lpstr>Arial</vt:lpstr>
      <vt:lpstr>Consolas</vt:lpstr>
      <vt:lpstr>Office 主题​​</vt:lpstr>
      <vt:lpstr>Unity3D游戏开发第三版</vt:lpstr>
      <vt:lpstr>第4章 UGUI</vt:lpstr>
      <vt:lpstr>4.1 游戏界面</vt:lpstr>
      <vt:lpstr>4.1.1 Text组件</vt:lpstr>
      <vt:lpstr>4.1.2 富文本</vt:lpstr>
      <vt:lpstr>4.1.3描边和阴影</vt:lpstr>
      <vt:lpstr>4.1.4 动态字体</vt:lpstr>
      <vt:lpstr>4.1.5 字体花屏</vt:lpstr>
      <vt:lpstr>4.1.6 Text Mesh Pro</vt:lpstr>
      <vt:lpstr>4.1.7 SDF字体</vt:lpstr>
      <vt:lpstr>4.1.8 图文混排</vt:lpstr>
      <vt:lpstr>4.19 样式</vt:lpstr>
      <vt:lpstr>4.1.10 文字fallback</vt:lpstr>
      <vt:lpstr>4.1.11 点击事件</vt:lpstr>
      <vt:lpstr>4.1.12 Image组件</vt:lpstr>
      <vt:lpstr>4.1.13 RawImage</vt:lpstr>
      <vt:lpstr>4.1.14 Button组件</vt:lpstr>
      <vt:lpstr>4.1.15 Toggle组件</vt:lpstr>
      <vt:lpstr>4.1.16 Scroll View</vt:lpstr>
      <vt:lpstr>4.1.17 其他组件</vt:lpstr>
      <vt:lpstr>4.2 界面布局</vt:lpstr>
      <vt:lpstr>4.2.1 Rect Transform组件</vt:lpstr>
      <vt:lpstr>4.2.2 拉伸</vt:lpstr>
      <vt:lpstr>4.2.3 自动布局</vt:lpstr>
      <vt:lpstr>4.2.4 文本自适应</vt:lpstr>
      <vt:lpstr>4.2.5 Layout Element</vt:lpstr>
      <vt:lpstr>4.2.6 Layout Group组件</vt:lpstr>
      <vt:lpstr>4.2.7 Content Size Fitter组件</vt:lpstr>
      <vt:lpstr>4.3 Canvas组件</vt:lpstr>
      <vt:lpstr>4.3.1 UI摄像机</vt:lpstr>
      <vt:lpstr>4.3.2 3D界面</vt:lpstr>
      <vt:lpstr>4.3.2 3D界面</vt:lpstr>
      <vt:lpstr>4.3.3 自适应UI</vt:lpstr>
      <vt:lpstr>4.3.4 排序</vt:lpstr>
      <vt:lpstr>4.3.5 裁剪</vt:lpstr>
      <vt:lpstr>4.3.6 裁剪粒子</vt:lpstr>
      <vt:lpstr>4.4 Atlas</vt:lpstr>
      <vt:lpstr>4.4.1 创建</vt:lpstr>
      <vt:lpstr>4.4.2 读取</vt:lpstr>
      <vt:lpstr>4.4.3 Variant</vt:lpstr>
      <vt:lpstr>4.4.4 监听加载事件</vt:lpstr>
      <vt:lpstr>4.5 事件系统</vt:lpstr>
      <vt:lpstr>4.5.1 Graphic Raycaster组件</vt:lpstr>
      <vt:lpstr>4.5.2 UI事件</vt:lpstr>
      <vt:lpstr>4.5.3 UI事件管理</vt:lpstr>
      <vt:lpstr>4.5.4 UnityAction和UnityEvent</vt:lpstr>
      <vt:lpstr>4.5.5 C#事件系统</vt:lpstr>
      <vt:lpstr>4.5.6 3D事件</vt:lpstr>
      <vt:lpstr>4.5.7 K帧动画</vt:lpstr>
      <vt:lpstr>4.5.8 摇杆</vt:lpstr>
      <vt:lpstr>4.5.9 点击区域优化</vt:lpstr>
      <vt:lpstr>4.5.10 显示帧率</vt:lpstr>
      <vt:lpstr>4.5.10 查看UGUI源码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Unity3D游戏开发第三版</dc:title>
  <dc:creator>雨松momo</dc:creator>
  <cp:lastModifiedBy>雨松momo</cp:lastModifiedBy>
  <cp:revision>5</cp:revision>
  <dcterms:created xsi:type="dcterms:W3CDTF">2023-10-18T15:28:38Z</dcterms:created>
  <dcterms:modified xsi:type="dcterms:W3CDTF">2023-10-18T16:39:20Z</dcterms:modified>
</cp:coreProperties>
</file>